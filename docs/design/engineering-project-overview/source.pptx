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09362c36f24b98" /><Relationship Type="http://schemas.openxmlformats.org/officeDocument/2006/relationships/extended-properties" Target="/docProps/app.xml" Id="Rcf6da6d6bab040a1" /><Relationship Type="http://schemas.openxmlformats.org/officeDocument/2006/relationships/officeDocument" Target="/ppt/presentation.xml" Id="R4099cc269eb4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b4241c7c6346f7"/>
  </p:sldMasterIdLst>
  <p:notesMasterIdLst>
    <p:notesMasterId xmlns:r="http://schemas.openxmlformats.org/officeDocument/2006/relationships" r:id="Rb82a098a732a49a0"/>
  </p:notesMasterIdLst>
  <p:sldIdLst>
    <p:sldId xmlns:r="http://schemas.openxmlformats.org/officeDocument/2006/relationships" id="256" r:id="Re1ad30742a3146cf"/>
  </p:sldIdLst>
  <p:sldSz cx="10691813" cy="755967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288681771d4193" /><Relationship Type="http://schemas.openxmlformats.org/officeDocument/2006/relationships/slideMaster" Target="/ppt/slideMasters/slideMaster1.xml" Id="R22b4241c7c6346f7" /><Relationship Type="http://schemas.openxmlformats.org/officeDocument/2006/relationships/notesMaster" Target="/ppt/notesMasters/notesMaster1.xml" Id="Rb82a098a732a49a0" /><Relationship Type="http://schemas.openxmlformats.org/officeDocument/2006/relationships/presProps" Target="/ppt/presProps.xml" Id="R0d3552ae351346e5" /><Relationship Type="http://schemas.openxmlformats.org/officeDocument/2006/relationships/viewProps" Target="/ppt/viewProps.xml" Id="Re3dafc5cc4844d35" /><Relationship Type="http://schemas.openxmlformats.org/officeDocument/2006/relationships/tableStyles" Target="/ppt/tableStyles.xml" Id="R5eca4d357ebe44ca" /><Relationship Type="http://schemas.openxmlformats.org/officeDocument/2006/relationships/slide" Target="/ppt/slides/slide1.xml" Id="Re1ad30742a3146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3164e55ebb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06bfeed4624ab9" /><Relationship Type="http://schemas.openxmlformats.org/officeDocument/2006/relationships/notesMaster" Target="/ppt/notesMasters/notesMaster1.xml" Id="Reab1293b1b7a49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70d4f5a5a40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c703b746941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07cad683243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13e0f4e6f44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c3bacf0214a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b917e129c43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2B6D99-53B8-43AF-9C52-C540C0CA02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174067"/>
            <a:ext cx="13716000" cy="1595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9D78DF-0A53-4531-BA4A-034E6CFFFF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71750" y="6076950"/>
            <a:ext cx="12001500" cy="122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F66290-E10F-4070-9EF7-43D052209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4500" y="4603750"/>
            <a:ext cx="1371600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49324B-CD2A-4E6F-90B7-7B347D3E7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59367"/>
            <a:ext cx="15216188" cy="13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C22238-7E36-405A-9DAC-3050E8960C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069167"/>
            <a:ext cx="15216188" cy="687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2E2882-C7F7-43E0-B091-4BEDA3785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59367"/>
            <a:ext cx="15216188" cy="13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5260AA-7596-4C5E-A263-58E8CF1AE3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069167"/>
            <a:ext cx="7072313" cy="687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1A9BFB-73C7-4C86-A5FB-5DD18A46E4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08281" y="3069167"/>
            <a:ext cx="7072313" cy="687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3C1241-42BB-49A3-9009-4DFD88992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4406" y="859367"/>
            <a:ext cx="15216188" cy="1350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B782B3-C781-4345-A610-9B65C25777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4406" y="3069167"/>
            <a:ext cx="7072313" cy="6874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39d8eaf1a5408d" /><Relationship Type="http://schemas.openxmlformats.org/officeDocument/2006/relationships/slideLayout" Target="/ppt/slideLayouts/slideLayout1.xml" Id="Re999e56cd8bc46dc" /><Relationship Type="http://schemas.openxmlformats.org/officeDocument/2006/relationships/slideLayout" Target="/ppt/slideLayouts/slideLayout2.xml" Id="Rb84d859849b2491e" /><Relationship Type="http://schemas.openxmlformats.org/officeDocument/2006/relationships/slideLayout" Target="/ppt/slideLayouts/slideLayout3.xml" Id="R290cfa81fbf146f3" /><Relationship Type="http://schemas.openxmlformats.org/officeDocument/2006/relationships/slideLayout" Target="/ppt/slideLayouts/slideLayout4.xml" Id="Rcaa6bf2ede57450a" /><Relationship Type="http://schemas.openxmlformats.org/officeDocument/2006/relationships/slideLayout" Target="/ppt/slideLayouts/slideLayout5.xml" Id="R80ec77abb74c48bc" /><Relationship Type="http://schemas.openxmlformats.org/officeDocument/2006/relationships/slideLayout" Target="/ppt/slideLayouts/slideLayout6.xml" Id="R20991cbf84fd42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9e56cd8bc46dc"/>
    <p:sldLayoutId xmlns:r="http://schemas.openxmlformats.org/officeDocument/2006/relationships" id="2147483650" r:id="Rb84d859849b2491e"/>
    <p:sldLayoutId xmlns:r="http://schemas.openxmlformats.org/officeDocument/2006/relationships" id="2147483651" r:id="R290cfa81fbf146f3"/>
    <p:sldLayoutId xmlns:r="http://schemas.openxmlformats.org/officeDocument/2006/relationships" id="2147483652" r:id="Rcaa6bf2ede57450a"/>
    <p:sldLayoutId xmlns:r="http://schemas.openxmlformats.org/officeDocument/2006/relationships" id="2147483653" r:id="R80ec77abb74c48bc"/>
    <p:sldLayoutId xmlns:r="http://schemas.openxmlformats.org/officeDocument/2006/relationships" id="2147483654" r:id="R20991cbf84fd42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71702e2344b9b" /><Relationship Type="http://schemas.openxmlformats.org/officeDocument/2006/relationships/image" Target="/ppt/media/image.png" Id="R07d74ab429184ed1" /><Relationship Type="http://schemas.openxmlformats.org/officeDocument/2006/relationships/notesSlide" Target="/ppt/notesSlides/notesSlide1.xml" Id="Rdccd9371dddf43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1" name="rect 2001">
            <a:extLst xmlns:a="http://schemas.openxmlformats.org/drawingml/2006/main">
              <a:ext uri="{FF2B5EF4-FFF2-40B4-BE49-F238E27FC236}">
                <a16:creationId xmlns:a16="http://schemas.microsoft.com/office/drawing/2014/main" id="{085FD9DA-2C31-4CA5-B555-C26FB288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3" y="152727"/>
            <a:ext cx="10386514" cy="7254545"/>
          </a:xfrm>
          <a:custGeom xmlns:a="http://schemas.openxmlformats.org/drawingml/2006/main">
            <a:rect l="0" t="0" r="r" b="b"/>
            <a:pathLst>
              <a:path w="163200" h="114000">
                <a:moveTo>
                  <a:pt x="38000" y="2400"/>
                </a:moveTo>
                <a:quadBezTo>
                  <a:pt x="38000" y="0"/>
                  <a:pt x="40400" y="0"/>
                </a:quadBezTo>
                <a:lnTo>
                  <a:pt x="160800" y="0"/>
                </a:lnTo>
                <a:quadBezTo>
                  <a:pt x="163200" y="0"/>
                  <a:pt x="163200" y="2400"/>
                </a:quadBezTo>
                <a:lnTo>
                  <a:pt x="163200" y="35200"/>
                </a:lnTo>
                <a:quadBezTo>
                  <a:pt x="163200" y="37600"/>
                  <a:pt x="160800" y="37600"/>
                </a:quadBezTo>
                <a:lnTo>
                  <a:pt x="125600" y="37600"/>
                </a:lnTo>
                <a:quadBezTo>
                  <a:pt x="123200" y="37600"/>
                  <a:pt x="123200" y="40000"/>
                </a:quadBezTo>
                <a:lnTo>
                  <a:pt x="123200" y="111600"/>
                </a:lnTo>
                <a:quadBezTo>
                  <a:pt x="123200" y="114000"/>
                  <a:pt x="120800" y="114000"/>
                </a:quadBezTo>
                <a:lnTo>
                  <a:pt x="2400" y="114000"/>
                </a:lnTo>
                <a:quadBezTo>
                  <a:pt x="0" y="114000"/>
                  <a:pt x="0" y="111600"/>
                </a:quadBezTo>
                <a:lnTo>
                  <a:pt x="0" y="83200"/>
                </a:lnTo>
                <a:quadBezTo>
                  <a:pt x="0" y="80800"/>
                  <a:pt x="2400" y="80800"/>
                </a:quadBezTo>
                <a:lnTo>
                  <a:pt x="35600" y="80800"/>
                </a:lnTo>
                <a:quadBezTo>
                  <a:pt x="38000" y="80800"/>
                  <a:pt x="38000" y="78400"/>
                </a:quadBezTo>
                <a:close/>
              </a:path>
            </a:pathLst>
          </a:custGeom>
          <a:solidFill xmlns:a="http://schemas.openxmlformats.org/drawingml/2006/main">
            <a:srgbClr val="F8FAFC"/>
          </a:solidFill>
          <a:ln xmlns:a="http://schemas.openxmlformats.org/drawingml/2006/main" w="11456">
            <a:solidFill>
              <a:srgbClr val="ABBBC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02" name="roundRect 2002">
            <a:extLst xmlns:a="http://schemas.openxmlformats.org/drawingml/2006/main">
              <a:ext uri="{FF2B5EF4-FFF2-40B4-BE49-F238E27FC236}">
                <a16:creationId xmlns:a16="http://schemas.microsoft.com/office/drawing/2014/main" id="{C97A9151-82E3-4575-B1C8-E405E74A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3" y="152727"/>
            <a:ext cx="2189314" cy="5015073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5274">
            <a:solidFill>
              <a:srgbClr val="3D5D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03" name="roundRect 2003">
            <a:extLst xmlns:a="http://schemas.openxmlformats.org/drawingml/2006/main">
              <a:ext uri="{FF2B5EF4-FFF2-40B4-BE49-F238E27FC236}">
                <a16:creationId xmlns:a16="http://schemas.microsoft.com/office/drawing/2014/main" id="{45C35DD3-32DB-4C14-A85F-33D0E621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114" y="2673000"/>
            <a:ext cx="2291143" cy="4607743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0F4"/>
          </a:solidFill>
          <a:ln xmlns:a="http://schemas.openxmlformats.org/drawingml/2006/main" w="15274">
            <a:solidFill>
              <a:srgbClr val="A4486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04" name="roundRect 2004">
            <a:extLst xmlns:a="http://schemas.openxmlformats.org/drawingml/2006/main">
              <a:ext uri="{FF2B5EF4-FFF2-40B4-BE49-F238E27FC236}">
                <a16:creationId xmlns:a16="http://schemas.microsoft.com/office/drawing/2014/main" id="{F2201BD0-AAD6-489E-88DB-6F59A9D5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280000"/>
            <a:ext cx="1934743" cy="458182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3D5D7C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05" name="FUNDAMENTAL 2005">
            <a:extLst xmlns:a="http://schemas.openxmlformats.org/drawingml/2006/main">
              <a:ext uri="{FF2B5EF4-FFF2-40B4-BE49-F238E27FC236}">
                <a16:creationId xmlns:a16="http://schemas.microsoft.com/office/drawing/2014/main" id="{1823A002-E81B-4A83-8425-F3A24A20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311818"/>
            <a:ext cx="1934743" cy="19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FUNDAMENTAL</a:t>
            </a:r>
          </a:p>
        </p:txBody>
      </p:sp>
      <p:sp>
        <p:nvSpPr>
          <p:cNvPr id="2006" name="RESEARCH 2006">
            <a:extLst xmlns:a="http://schemas.openxmlformats.org/drawingml/2006/main">
              <a:ext uri="{FF2B5EF4-FFF2-40B4-BE49-F238E27FC236}">
                <a16:creationId xmlns:a16="http://schemas.microsoft.com/office/drawing/2014/main" id="{94366EE6-4EE7-4FB0-AFD4-F6487B9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515455"/>
            <a:ext cx="1934743" cy="19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RESEARCH</a:t>
            </a:r>
          </a:p>
        </p:txBody>
      </p:sp>
      <p:sp>
        <p:nvSpPr>
          <p:cNvPr id="2007" name="PLATFORM DEVELOPMENT 2007">
            <a:extLst xmlns:a="http://schemas.openxmlformats.org/drawingml/2006/main">
              <a:ext uri="{FF2B5EF4-FFF2-40B4-BE49-F238E27FC236}">
                <a16:creationId xmlns:a16="http://schemas.microsoft.com/office/drawing/2014/main" id="{C3BB4794-CE2B-4928-80D1-EFBAE044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457" y="280000"/>
            <a:ext cx="7713514" cy="44545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5D7C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PLATFORM DEVELOPMENT</a:t>
            </a:r>
          </a:p>
        </p:txBody>
      </p:sp>
      <p:sp>
        <p:nvSpPr>
          <p:cNvPr id="2008" name="roundRect 2008">
            <a:extLst xmlns:a="http://schemas.openxmlformats.org/drawingml/2006/main">
              <a:ext uri="{FF2B5EF4-FFF2-40B4-BE49-F238E27FC236}">
                <a16:creationId xmlns:a16="http://schemas.microsoft.com/office/drawing/2014/main" id="{F445E185-967C-44EB-B2FE-AB3B4EDB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2800000"/>
            <a:ext cx="2036571" cy="458182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A44869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09" name="FUNCTIONAL 2009">
            <a:extLst xmlns:a="http://schemas.openxmlformats.org/drawingml/2006/main">
              <a:ext uri="{FF2B5EF4-FFF2-40B4-BE49-F238E27FC236}">
                <a16:creationId xmlns:a16="http://schemas.microsoft.com/office/drawing/2014/main" id="{F5AE2AB1-997D-49DE-BF47-494666A9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2831818"/>
            <a:ext cx="2036571" cy="19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FUNCTIONAL</a:t>
            </a:r>
          </a:p>
        </p:txBody>
      </p:sp>
      <p:sp>
        <p:nvSpPr>
          <p:cNvPr id="2010" name="VALIDATION 2010">
            <a:extLst xmlns:a="http://schemas.openxmlformats.org/drawingml/2006/main">
              <a:ext uri="{FF2B5EF4-FFF2-40B4-BE49-F238E27FC236}">
                <a16:creationId xmlns:a16="http://schemas.microsoft.com/office/drawing/2014/main" id="{EADFBA06-B673-4C65-948C-295BB05E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3035455"/>
            <a:ext cx="2036571" cy="197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VALIDATION</a:t>
            </a:r>
          </a:p>
        </p:txBody>
      </p:sp>
      <p:sp>
        <p:nvSpPr>
          <p:cNvPr id="2013" name="Cycle 1 2013">
            <a:extLst xmlns:a="http://schemas.openxmlformats.org/drawingml/2006/main">
              <a:ext uri="{FF2B5EF4-FFF2-40B4-BE49-F238E27FC236}">
                <a16:creationId xmlns:a16="http://schemas.microsoft.com/office/drawing/2014/main" id="{951AEF30-D907-491F-8004-FA9EBD17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903636"/>
            <a:ext cx="903729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CE6EF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3" b="1">
                <a:solidFill>
                  <a:srgbClr val="3D5D7C"/>
                </a:solidFill>
                <a:latin typeface="Georgia"/>
                <a:ea typeface="Georgia"/>
                <a:cs typeface="Georgia"/>
              </a:rPr>
              <a:t>Cycle 1</a:t>
            </a:r>
          </a:p>
        </p:txBody>
      </p:sp>
      <p:sp>
        <p:nvSpPr>
          <p:cNvPr id="2014" name="Build 10R 2014">
            <a:extLst xmlns:a="http://schemas.openxmlformats.org/drawingml/2006/main">
              <a:ext uri="{FF2B5EF4-FFF2-40B4-BE49-F238E27FC236}">
                <a16:creationId xmlns:a16="http://schemas.microsoft.com/office/drawing/2014/main" id="{B8CA10AF-85F1-4574-A52C-7E33414E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1260000"/>
            <a:ext cx="1934743" cy="21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3" b="1">
                <a:solidFill>
                  <a:srgbClr val="3D5D7C"/>
                </a:solidFill>
                <a:latin typeface="Georgia"/>
                <a:ea typeface="Georgia"/>
                <a:cs typeface="Georgia"/>
              </a:rPr>
              <a:t>Build 10R</a:t>
            </a:r>
          </a:p>
        </p:txBody>
      </p:sp>
      <p:sp>
        <p:nvSpPr>
          <p:cNvPr id="606" name="PUF10R 606">
            <a:extLst xmlns:a="http://schemas.openxmlformats.org/drawingml/2006/main">
              <a:ext uri="{FF2B5EF4-FFF2-40B4-BE49-F238E27FC236}">
                <a16:creationId xmlns:a16="http://schemas.microsoft.com/office/drawing/2014/main" id="{A2CEE738-EAF2-4B3A-9768-A6D7AAB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54" y="1654545"/>
            <a:ext cx="1081143" cy="168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50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1">
                <a:solidFill>
                  <a:srgbClr val="0984AC"/>
                </a:solidFill>
                <a:latin typeface="Futura"/>
                <a:ea typeface="Futura"/>
                <a:cs typeface="Futura"/>
              </a:rPr>
              <a:t>PUF10R</a:t>
            </a:r>
          </a:p>
        </p:txBody>
      </p:sp>
      <p:sp>
        <p:nvSpPr>
          <p:cNvPr id="607" name="roundRect 607">
            <a:extLst xmlns:a="http://schemas.openxmlformats.org/drawingml/2006/main">
              <a:ext uri="{FF2B5EF4-FFF2-40B4-BE49-F238E27FC236}">
                <a16:creationId xmlns:a16="http://schemas.microsoft.com/office/drawing/2014/main" id="{FD264D8A-E183-4771-823E-65E49939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61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8" name="roundRect 608">
            <a:extLst xmlns:a="http://schemas.openxmlformats.org/drawingml/2006/main">
              <a:ext uri="{FF2B5EF4-FFF2-40B4-BE49-F238E27FC236}">
                <a16:creationId xmlns:a16="http://schemas.microsoft.com/office/drawing/2014/main" id="{84F9B938-A3FA-40D3-9279-11CC5669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75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9" name="roundRect 609">
            <a:extLst xmlns:a="http://schemas.openxmlformats.org/drawingml/2006/main">
              <a:ext uri="{FF2B5EF4-FFF2-40B4-BE49-F238E27FC236}">
                <a16:creationId xmlns:a16="http://schemas.microsoft.com/office/drawing/2014/main" id="{A921EADA-12E5-415E-9666-7C38D594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89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0" name="roundRect 610">
            <a:extLst xmlns:a="http://schemas.openxmlformats.org/drawingml/2006/main">
              <a:ext uri="{FF2B5EF4-FFF2-40B4-BE49-F238E27FC236}">
                <a16:creationId xmlns:a16="http://schemas.microsoft.com/office/drawing/2014/main" id="{B22CAB05-90AD-4003-9606-5216D60F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04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1" name="roundRect 611">
            <a:extLst xmlns:a="http://schemas.openxmlformats.org/drawingml/2006/main">
              <a:ext uri="{FF2B5EF4-FFF2-40B4-BE49-F238E27FC236}">
                <a16:creationId xmlns:a16="http://schemas.microsoft.com/office/drawing/2014/main" id="{AA2757F3-BE4A-4626-B48C-5A550481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17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2" name="roundRect 612">
            <a:extLst xmlns:a="http://schemas.openxmlformats.org/drawingml/2006/main">
              <a:ext uri="{FF2B5EF4-FFF2-40B4-BE49-F238E27FC236}">
                <a16:creationId xmlns:a16="http://schemas.microsoft.com/office/drawing/2014/main" id="{88A4BF74-166D-4A0C-9ACB-123819C6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32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3" name="roundRect 613">
            <a:extLst xmlns:a="http://schemas.openxmlformats.org/drawingml/2006/main">
              <a:ext uri="{FF2B5EF4-FFF2-40B4-BE49-F238E27FC236}">
                <a16:creationId xmlns:a16="http://schemas.microsoft.com/office/drawing/2014/main" id="{0AE1DB0F-1A87-4780-A3D0-136B85D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47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4" name="roundRect 614">
            <a:extLst xmlns:a="http://schemas.openxmlformats.org/drawingml/2006/main">
              <a:ext uri="{FF2B5EF4-FFF2-40B4-BE49-F238E27FC236}">
                <a16:creationId xmlns:a16="http://schemas.microsoft.com/office/drawing/2014/main" id="{0444248E-A93A-483B-B7EA-0B3764F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61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5" name="roundRect 615">
            <a:extLst xmlns:a="http://schemas.openxmlformats.org/drawingml/2006/main">
              <a:ext uri="{FF2B5EF4-FFF2-40B4-BE49-F238E27FC236}">
                <a16:creationId xmlns:a16="http://schemas.microsoft.com/office/drawing/2014/main" id="{4DF34F09-C040-4D09-ABBB-96223414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75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6" name="roundRect 616">
            <a:extLst xmlns:a="http://schemas.openxmlformats.org/drawingml/2006/main">
              <a:ext uri="{FF2B5EF4-FFF2-40B4-BE49-F238E27FC236}">
                <a16:creationId xmlns:a16="http://schemas.microsoft.com/office/drawing/2014/main" id="{B0B9D789-343E-4F33-8B23-B264B2D3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89" y="1882740"/>
            <a:ext cx="84089" cy="210178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8306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7" name="line 617">
            <a:extLst xmlns:a="http://schemas.openxmlformats.org/drawingml/2006/main">
              <a:ext uri="{FF2B5EF4-FFF2-40B4-BE49-F238E27FC236}">
                <a16:creationId xmlns:a16="http://schemas.microsoft.com/office/drawing/2014/main" id="{3451C182-6F18-4D33-BE37-9A72B304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91" y="1984827"/>
            <a:ext cx="13814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80">
            <a:solidFill>
              <a:srgbClr val="3D5D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8" name="APOBEC 618">
            <a:extLst xmlns:a="http://schemas.openxmlformats.org/drawingml/2006/main">
              <a:ext uri="{FF2B5EF4-FFF2-40B4-BE49-F238E27FC236}">
                <a16:creationId xmlns:a16="http://schemas.microsoft.com/office/drawing/2014/main" id="{8F87E2A1-2200-4491-92FB-6000FFA2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737" y="1840704"/>
            <a:ext cx="564597" cy="2882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B78"/>
          </a:solidFill>
          <a:ln xmlns:a="http://schemas.openxmlformats.org/drawingml/2006/main" w="11502">
            <a:solidFill>
              <a:srgbClr val="DF8A2F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1">
                <a:solidFill>
                  <a:srgbClr val="8D4D1B"/>
                </a:solidFill>
                <a:latin typeface="Futura"/>
                <a:ea typeface="Futura"/>
                <a:cs typeface="Futura"/>
              </a:rPr>
              <a:t>APOBEC</a:t>
            </a:r>
          </a:p>
        </p:txBody>
      </p:sp>
      <p:sp>
        <p:nvSpPr>
          <p:cNvPr id="619" name="line 619">
            <a:extLst xmlns:a="http://schemas.openxmlformats.org/drawingml/2006/main">
              <a:ext uri="{FF2B5EF4-FFF2-40B4-BE49-F238E27FC236}">
                <a16:creationId xmlns:a16="http://schemas.microsoft.com/office/drawing/2014/main" id="{98AA9C4A-4F44-440F-AA3D-B1BCD345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84" y="2225033"/>
            <a:ext cx="1922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80">
            <a:solidFill>
              <a:srgbClr val="3D5D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0" name="line 620">
            <a:extLst xmlns:a="http://schemas.openxmlformats.org/drawingml/2006/main">
              <a:ext uri="{FF2B5EF4-FFF2-40B4-BE49-F238E27FC236}">
                <a16:creationId xmlns:a16="http://schemas.microsoft.com/office/drawing/2014/main" id="{F3F6C410-D47A-4B23-85E2-9547CFFC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6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1" name="line 621">
            <a:extLst xmlns:a="http://schemas.openxmlformats.org/drawingml/2006/main">
              <a:ext uri="{FF2B5EF4-FFF2-40B4-BE49-F238E27FC236}">
                <a16:creationId xmlns:a16="http://schemas.microsoft.com/office/drawing/2014/main" id="{832EEA65-2DC8-43E8-B690-234530D2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20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2" name="line 622">
            <a:extLst xmlns:a="http://schemas.openxmlformats.org/drawingml/2006/main">
              <a:ext uri="{FF2B5EF4-FFF2-40B4-BE49-F238E27FC236}">
                <a16:creationId xmlns:a16="http://schemas.microsoft.com/office/drawing/2014/main" id="{359BCF84-315D-4D47-BB2B-3B209755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34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3" name="line 623">
            <a:extLst xmlns:a="http://schemas.openxmlformats.org/drawingml/2006/main">
              <a:ext uri="{FF2B5EF4-FFF2-40B4-BE49-F238E27FC236}">
                <a16:creationId xmlns:a16="http://schemas.microsoft.com/office/drawing/2014/main" id="{DE8A27B8-B9E8-48BB-99B0-0114B554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48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4" name="line 624">
            <a:extLst xmlns:a="http://schemas.openxmlformats.org/drawingml/2006/main">
              <a:ext uri="{FF2B5EF4-FFF2-40B4-BE49-F238E27FC236}">
                <a16:creationId xmlns:a16="http://schemas.microsoft.com/office/drawing/2014/main" id="{D5880B3C-B75F-4D22-8A25-46F6D6B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63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5" name="line 625">
            <a:extLst xmlns:a="http://schemas.openxmlformats.org/drawingml/2006/main">
              <a:ext uri="{FF2B5EF4-FFF2-40B4-BE49-F238E27FC236}">
                <a16:creationId xmlns:a16="http://schemas.microsoft.com/office/drawing/2014/main" id="{C0D86315-7421-442D-B0F6-70B9494D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6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6" name="line 626">
            <a:extLst xmlns:a="http://schemas.openxmlformats.org/drawingml/2006/main">
              <a:ext uri="{FF2B5EF4-FFF2-40B4-BE49-F238E27FC236}">
                <a16:creationId xmlns:a16="http://schemas.microsoft.com/office/drawing/2014/main" id="{D28EFBB7-EAB9-4A52-9A47-FFC5D168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91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7" name="line 627">
            <a:extLst xmlns:a="http://schemas.openxmlformats.org/drawingml/2006/main">
              <a:ext uri="{FF2B5EF4-FFF2-40B4-BE49-F238E27FC236}">
                <a16:creationId xmlns:a16="http://schemas.microsoft.com/office/drawing/2014/main" id="{B95EAC40-34C6-4931-8E0A-CAD5811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06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8" name="line 628">
            <a:extLst xmlns:a="http://schemas.openxmlformats.org/drawingml/2006/main">
              <a:ext uri="{FF2B5EF4-FFF2-40B4-BE49-F238E27FC236}">
                <a16:creationId xmlns:a16="http://schemas.microsoft.com/office/drawing/2014/main" id="{63B032F1-9C88-4995-A56C-FEF37734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20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9" name="line 629">
            <a:extLst xmlns:a="http://schemas.openxmlformats.org/drawingml/2006/main">
              <a:ext uri="{FF2B5EF4-FFF2-40B4-BE49-F238E27FC236}">
                <a16:creationId xmlns:a16="http://schemas.microsoft.com/office/drawing/2014/main" id="{D0875578-D618-4ABF-BA56-78CC470A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34" y="2110935"/>
            <a:ext cx="0" cy="1080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306">
            <a:solidFill>
              <a:srgbClr val="6BA8B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0" name="APOE4 RNA 630">
            <a:extLst xmlns:a="http://schemas.openxmlformats.org/drawingml/2006/main">
              <a:ext uri="{FF2B5EF4-FFF2-40B4-BE49-F238E27FC236}">
                <a16:creationId xmlns:a16="http://schemas.microsoft.com/office/drawing/2014/main" id="{742A3C1F-7C4B-47CB-89FC-64649CB7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66" y="2339129"/>
            <a:ext cx="1201270" cy="168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50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0">
                <a:solidFill>
                  <a:srgbClr val="3D5D7C"/>
                </a:solidFill>
                <a:latin typeface="Futura"/>
                <a:ea typeface="Futura"/>
                <a:cs typeface="Futura"/>
              </a:rPr>
              <a:t>APOE4 RNA</a:t>
            </a:r>
          </a:p>
        </p:txBody>
      </p:sp>
      <p:sp>
        <p:nvSpPr>
          <p:cNvPr id="2016" name="Cycle 2 2016">
            <a:extLst xmlns:a="http://schemas.openxmlformats.org/drawingml/2006/main">
              <a:ext uri="{FF2B5EF4-FFF2-40B4-BE49-F238E27FC236}">
                <a16:creationId xmlns:a16="http://schemas.microsoft.com/office/drawing/2014/main" id="{8239E679-CB7B-4F11-B6DF-620A3103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3041818"/>
            <a:ext cx="903729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CE6EF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3" b="1">
                <a:solidFill>
                  <a:srgbClr val="3D5D7C"/>
                </a:solidFill>
                <a:latin typeface="Georgia"/>
                <a:ea typeface="Georgia"/>
                <a:cs typeface="Georgia"/>
              </a:rPr>
              <a:t>Cycle 2</a:t>
            </a:r>
          </a:p>
        </p:txBody>
      </p:sp>
      <p:sp>
        <p:nvSpPr>
          <p:cNvPr id="2017" name="PUF 2017">
            <a:extLst xmlns:a="http://schemas.openxmlformats.org/drawingml/2006/main">
              <a:ext uri="{FF2B5EF4-FFF2-40B4-BE49-F238E27FC236}">
                <a16:creationId xmlns:a16="http://schemas.microsoft.com/office/drawing/2014/main" id="{7F5D3BA9-71FD-4904-89C8-5ED9DCFE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71" y="3436364"/>
            <a:ext cx="636429" cy="165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1">
                <a:solidFill>
                  <a:srgbClr val="0788B5"/>
                </a:solidFill>
                <a:latin typeface="Futura"/>
                <a:ea typeface="Futura"/>
                <a:cs typeface="Futura"/>
              </a:rPr>
              <a:t>PUF</a:t>
            </a:r>
          </a:p>
        </p:txBody>
      </p:sp>
      <p:sp>
        <p:nvSpPr>
          <p:cNvPr id="2018" name="APOBEC 2018">
            <a:extLst xmlns:a="http://schemas.openxmlformats.org/drawingml/2006/main">
              <a:ext uri="{FF2B5EF4-FFF2-40B4-BE49-F238E27FC236}">
                <a16:creationId xmlns:a16="http://schemas.microsoft.com/office/drawing/2014/main" id="{CA2AEBFD-CC24-4A5F-9414-F7D03BD4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29" y="3436364"/>
            <a:ext cx="598243" cy="165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1">
                <a:solidFill>
                  <a:srgbClr val="8D4D1B"/>
                </a:solidFill>
                <a:latin typeface="Futura"/>
                <a:ea typeface="Futura"/>
                <a:cs typeface="Futura"/>
              </a:rPr>
              <a:t>APOBEC</a:t>
            </a:r>
          </a:p>
        </p:txBody>
      </p:sp>
      <p:sp>
        <p:nvSpPr>
          <p:cNvPr id="634" name="10R 634">
            <a:extLst xmlns:a="http://schemas.openxmlformats.org/drawingml/2006/main">
              <a:ext uri="{FF2B5EF4-FFF2-40B4-BE49-F238E27FC236}">
                <a16:creationId xmlns:a16="http://schemas.microsoft.com/office/drawing/2014/main" id="{8A073C09-63B3-492E-8CDE-AA7A3EF6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3661902"/>
            <a:ext cx="363798" cy="159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537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1">
                <a:solidFill>
                  <a:srgbClr val="3D5D7C"/>
                </a:solidFill>
                <a:latin typeface="Futura"/>
                <a:ea typeface="Futura"/>
                <a:cs typeface="Futura"/>
              </a:rPr>
              <a:t>10R</a:t>
            </a:r>
          </a:p>
        </p:txBody>
      </p:sp>
      <p:sp>
        <p:nvSpPr>
          <p:cNvPr id="635" name="roundRect 635">
            <a:extLst xmlns:a="http://schemas.openxmlformats.org/drawingml/2006/main">
              <a:ext uri="{FF2B5EF4-FFF2-40B4-BE49-F238E27FC236}">
                <a16:creationId xmlns:a16="http://schemas.microsoft.com/office/drawing/2014/main" id="{93E7C42F-D33E-4902-9474-EB73302C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18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6" name="roundRect 636">
            <a:extLst xmlns:a="http://schemas.openxmlformats.org/drawingml/2006/main">
              <a:ext uri="{FF2B5EF4-FFF2-40B4-BE49-F238E27FC236}">
                <a16:creationId xmlns:a16="http://schemas.microsoft.com/office/drawing/2014/main" id="{5E26F894-175A-4B1D-8D93-C6C5895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51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7" name="roundRect 637">
            <a:extLst xmlns:a="http://schemas.openxmlformats.org/drawingml/2006/main">
              <a:ext uri="{FF2B5EF4-FFF2-40B4-BE49-F238E27FC236}">
                <a16:creationId xmlns:a16="http://schemas.microsoft.com/office/drawing/2014/main" id="{965DD928-05B1-45EF-8DE5-C3F4C6C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083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8" name="roundRect 638">
            <a:extLst xmlns:a="http://schemas.openxmlformats.org/drawingml/2006/main">
              <a:ext uri="{FF2B5EF4-FFF2-40B4-BE49-F238E27FC236}">
                <a16:creationId xmlns:a16="http://schemas.microsoft.com/office/drawing/2014/main" id="{094DDF67-AB38-45A7-A27C-154DB1E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17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9" name="roundRect 639">
            <a:extLst xmlns:a="http://schemas.openxmlformats.org/drawingml/2006/main">
              <a:ext uri="{FF2B5EF4-FFF2-40B4-BE49-F238E27FC236}">
                <a16:creationId xmlns:a16="http://schemas.microsoft.com/office/drawing/2014/main" id="{1232348D-A0EE-4E9B-A199-45368B8E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49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0" name="roundRect 640">
            <a:extLst xmlns:a="http://schemas.openxmlformats.org/drawingml/2006/main">
              <a:ext uri="{FF2B5EF4-FFF2-40B4-BE49-F238E27FC236}">
                <a16:creationId xmlns:a16="http://schemas.microsoft.com/office/drawing/2014/main" id="{ADEA1913-C45B-48DD-B8AE-F3CA6277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82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1" name="roundRect 641">
            <a:extLst xmlns:a="http://schemas.openxmlformats.org/drawingml/2006/main">
              <a:ext uri="{FF2B5EF4-FFF2-40B4-BE49-F238E27FC236}">
                <a16:creationId xmlns:a16="http://schemas.microsoft.com/office/drawing/2014/main" id="{C0152D61-3E10-4CBB-8C73-ED63778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616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2" name="roundRect 642">
            <a:extLst xmlns:a="http://schemas.openxmlformats.org/drawingml/2006/main">
              <a:ext uri="{FF2B5EF4-FFF2-40B4-BE49-F238E27FC236}">
                <a16:creationId xmlns:a16="http://schemas.microsoft.com/office/drawing/2014/main" id="{183CB73C-E26C-4082-B915-9D24154F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248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3" name="roundRect 643">
            <a:extLst xmlns:a="http://schemas.openxmlformats.org/drawingml/2006/main">
              <a:ext uri="{FF2B5EF4-FFF2-40B4-BE49-F238E27FC236}">
                <a16:creationId xmlns:a16="http://schemas.microsoft.com/office/drawing/2014/main" id="{2BF34B7B-4DBE-4E03-86F5-85E5550A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882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4" name="roundRect 644">
            <a:extLst xmlns:a="http://schemas.openxmlformats.org/drawingml/2006/main">
              <a:ext uri="{FF2B5EF4-FFF2-40B4-BE49-F238E27FC236}">
                <a16:creationId xmlns:a16="http://schemas.microsoft.com/office/drawing/2014/main" id="{F408CB00-5941-4448-9D94-45D9679B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515" y="3678436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5" name="line 645">
            <a:extLst xmlns:a="http://schemas.openxmlformats.org/drawingml/2006/main">
              <a:ext uri="{FF2B5EF4-FFF2-40B4-BE49-F238E27FC236}">
                <a16:creationId xmlns:a16="http://schemas.microsoft.com/office/drawing/2014/main" id="{8C782B0B-51A6-40B6-A217-527F95F4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124" y="3744567"/>
            <a:ext cx="132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7">
            <a:solidFill>
              <a:srgbClr val="3D5D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6" name="ellipse 646">
            <a:extLst xmlns:a="http://schemas.openxmlformats.org/drawingml/2006/main">
              <a:ext uri="{FF2B5EF4-FFF2-40B4-BE49-F238E27FC236}">
                <a16:creationId xmlns:a16="http://schemas.microsoft.com/office/drawing/2014/main" id="{516DE961-07D3-488C-96A6-979539A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925" y="3672925"/>
            <a:ext cx="385846" cy="143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B78"/>
          </a:solidFill>
          <a:ln xmlns:a="http://schemas.openxmlformats.org/drawingml/2006/main" w="8973">
            <a:solidFill>
              <a:srgbClr val="DF8A2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7" name="12R 647">
            <a:extLst xmlns:a="http://schemas.openxmlformats.org/drawingml/2006/main">
              <a:ext uri="{FF2B5EF4-FFF2-40B4-BE49-F238E27FC236}">
                <a16:creationId xmlns:a16="http://schemas.microsoft.com/office/drawing/2014/main" id="{1985B83A-7831-4769-8D30-EFCB0D7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3980075"/>
            <a:ext cx="363798" cy="159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537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1">
                <a:solidFill>
                  <a:srgbClr val="3D5D7C"/>
                </a:solidFill>
                <a:latin typeface="Futura"/>
                <a:ea typeface="Futura"/>
                <a:cs typeface="Futura"/>
              </a:rPr>
              <a:t>12R</a:t>
            </a:r>
          </a:p>
        </p:txBody>
      </p:sp>
      <p:sp>
        <p:nvSpPr>
          <p:cNvPr id="648" name="roundRect 648">
            <a:extLst xmlns:a="http://schemas.openxmlformats.org/drawingml/2006/main">
              <a:ext uri="{FF2B5EF4-FFF2-40B4-BE49-F238E27FC236}">
                <a16:creationId xmlns:a16="http://schemas.microsoft.com/office/drawing/2014/main" id="{5DB93333-7876-4EFE-ABE2-D1EE3C67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52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9" name="roundRect 649">
            <a:extLst xmlns:a="http://schemas.openxmlformats.org/drawingml/2006/main">
              <a:ext uri="{FF2B5EF4-FFF2-40B4-BE49-F238E27FC236}">
                <a16:creationId xmlns:a16="http://schemas.microsoft.com/office/drawing/2014/main" id="{68EC6EDB-0B96-448B-B511-E1994735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84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0" name="roundRect 650">
            <a:extLst xmlns:a="http://schemas.openxmlformats.org/drawingml/2006/main">
              <a:ext uri="{FF2B5EF4-FFF2-40B4-BE49-F238E27FC236}">
                <a16:creationId xmlns:a16="http://schemas.microsoft.com/office/drawing/2014/main" id="{650D73F1-24F3-445C-A2F7-9BC9FDF1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18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1" name="roundRect 651">
            <a:extLst xmlns:a="http://schemas.openxmlformats.org/drawingml/2006/main">
              <a:ext uri="{FF2B5EF4-FFF2-40B4-BE49-F238E27FC236}">
                <a16:creationId xmlns:a16="http://schemas.microsoft.com/office/drawing/2014/main" id="{C96504EB-3AF4-46CE-B674-4AF59C7F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51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2" name="roundRect 652">
            <a:extLst xmlns:a="http://schemas.openxmlformats.org/drawingml/2006/main">
              <a:ext uri="{FF2B5EF4-FFF2-40B4-BE49-F238E27FC236}">
                <a16:creationId xmlns:a16="http://schemas.microsoft.com/office/drawing/2014/main" id="{30740E9C-50AA-4D66-A586-DEB1EE07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083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3" name="roundRect 653">
            <a:extLst xmlns:a="http://schemas.openxmlformats.org/drawingml/2006/main">
              <a:ext uri="{FF2B5EF4-FFF2-40B4-BE49-F238E27FC236}">
                <a16:creationId xmlns:a16="http://schemas.microsoft.com/office/drawing/2014/main" id="{CB3951F8-AFBD-48FF-AFB7-6EB3A1FF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17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4" name="roundRect 654">
            <a:extLst xmlns:a="http://schemas.openxmlformats.org/drawingml/2006/main">
              <a:ext uri="{FF2B5EF4-FFF2-40B4-BE49-F238E27FC236}">
                <a16:creationId xmlns:a16="http://schemas.microsoft.com/office/drawing/2014/main" id="{D5CC82B5-59C7-4515-A9A6-B4F5C8E0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49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5" name="roundRect 655">
            <a:extLst xmlns:a="http://schemas.openxmlformats.org/drawingml/2006/main">
              <a:ext uri="{FF2B5EF4-FFF2-40B4-BE49-F238E27FC236}">
                <a16:creationId xmlns:a16="http://schemas.microsoft.com/office/drawing/2014/main" id="{6FD1906F-8FF8-49F6-A386-0207ADBF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82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6" name="roundRect 656">
            <a:extLst xmlns:a="http://schemas.openxmlformats.org/drawingml/2006/main">
              <a:ext uri="{FF2B5EF4-FFF2-40B4-BE49-F238E27FC236}">
                <a16:creationId xmlns:a16="http://schemas.microsoft.com/office/drawing/2014/main" id="{41FC931F-83EB-44F4-82FB-FC137415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616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7" name="roundRect 657">
            <a:extLst xmlns:a="http://schemas.openxmlformats.org/drawingml/2006/main">
              <a:ext uri="{FF2B5EF4-FFF2-40B4-BE49-F238E27FC236}">
                <a16:creationId xmlns:a16="http://schemas.microsoft.com/office/drawing/2014/main" id="{90C7844F-BCA9-469B-A49F-90E5BAE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248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8" name="roundRect 658">
            <a:extLst xmlns:a="http://schemas.openxmlformats.org/drawingml/2006/main">
              <a:ext uri="{FF2B5EF4-FFF2-40B4-BE49-F238E27FC236}">
                <a16:creationId xmlns:a16="http://schemas.microsoft.com/office/drawing/2014/main" id="{111F9535-7844-4B76-8917-754FF21F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882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9" name="roundRect 659">
            <a:extLst xmlns:a="http://schemas.openxmlformats.org/drawingml/2006/main">
              <a:ext uri="{FF2B5EF4-FFF2-40B4-BE49-F238E27FC236}">
                <a16:creationId xmlns:a16="http://schemas.microsoft.com/office/drawing/2014/main" id="{171532A5-B8E8-4138-A614-15196FF6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515" y="3996609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0" name="line 660">
            <a:extLst xmlns:a="http://schemas.openxmlformats.org/drawingml/2006/main">
              <a:ext uri="{FF2B5EF4-FFF2-40B4-BE49-F238E27FC236}">
                <a16:creationId xmlns:a16="http://schemas.microsoft.com/office/drawing/2014/main" id="{88A0BF92-BE10-4C42-9DA2-BFB4F691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124" y="4062740"/>
            <a:ext cx="132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7">
            <a:solidFill>
              <a:srgbClr val="3D5D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1" name="ellipse 661">
            <a:extLst xmlns:a="http://schemas.openxmlformats.org/drawingml/2006/main">
              <a:ext uri="{FF2B5EF4-FFF2-40B4-BE49-F238E27FC236}">
                <a16:creationId xmlns:a16="http://schemas.microsoft.com/office/drawing/2014/main" id="{64AD6F45-3EC3-4617-939D-9BA7DB4D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925" y="3991096"/>
            <a:ext cx="385846" cy="143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B78"/>
          </a:solidFill>
          <a:ln xmlns:a="http://schemas.openxmlformats.org/drawingml/2006/main" w="8973">
            <a:solidFill>
              <a:srgbClr val="DF8A2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2" name="13R 662">
            <a:extLst xmlns:a="http://schemas.openxmlformats.org/drawingml/2006/main">
              <a:ext uri="{FF2B5EF4-FFF2-40B4-BE49-F238E27FC236}">
                <a16:creationId xmlns:a16="http://schemas.microsoft.com/office/drawing/2014/main" id="{D32DCCD0-5B22-4BC4-AD7D-8BD03F88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4298247"/>
            <a:ext cx="363798" cy="159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537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1">
                <a:solidFill>
                  <a:srgbClr val="3D5D7C"/>
                </a:solidFill>
                <a:latin typeface="Futura"/>
                <a:ea typeface="Futura"/>
                <a:cs typeface="Futura"/>
              </a:rPr>
              <a:t>13R</a:t>
            </a:r>
          </a:p>
        </p:txBody>
      </p:sp>
      <p:sp>
        <p:nvSpPr>
          <p:cNvPr id="663" name="roundRect 663">
            <a:extLst xmlns:a="http://schemas.openxmlformats.org/drawingml/2006/main">
              <a:ext uri="{FF2B5EF4-FFF2-40B4-BE49-F238E27FC236}">
                <a16:creationId xmlns:a16="http://schemas.microsoft.com/office/drawing/2014/main" id="{C79CBEA9-E9ED-4656-98B0-16F9F9F0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18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4" name="roundRect 664">
            <a:extLst xmlns:a="http://schemas.openxmlformats.org/drawingml/2006/main">
              <a:ext uri="{FF2B5EF4-FFF2-40B4-BE49-F238E27FC236}">
                <a16:creationId xmlns:a16="http://schemas.microsoft.com/office/drawing/2014/main" id="{823088D3-0763-4711-9237-899C7593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52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5" name="roundRect 665">
            <a:extLst xmlns:a="http://schemas.openxmlformats.org/drawingml/2006/main">
              <a:ext uri="{FF2B5EF4-FFF2-40B4-BE49-F238E27FC236}">
                <a16:creationId xmlns:a16="http://schemas.microsoft.com/office/drawing/2014/main" id="{E86A86CD-5A64-44CC-BEFC-ADC71FC4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84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6" name="roundRect 666">
            <a:extLst xmlns:a="http://schemas.openxmlformats.org/drawingml/2006/main">
              <a:ext uri="{FF2B5EF4-FFF2-40B4-BE49-F238E27FC236}">
                <a16:creationId xmlns:a16="http://schemas.microsoft.com/office/drawing/2014/main" id="{217BC22B-5869-4F87-9ECE-3CF6330F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18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7" name="roundRect 667">
            <a:extLst xmlns:a="http://schemas.openxmlformats.org/drawingml/2006/main">
              <a:ext uri="{FF2B5EF4-FFF2-40B4-BE49-F238E27FC236}">
                <a16:creationId xmlns:a16="http://schemas.microsoft.com/office/drawing/2014/main" id="{3B589FB5-4BAD-46DB-B20A-784EDAA1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51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8" name="roundRect 668">
            <a:extLst xmlns:a="http://schemas.openxmlformats.org/drawingml/2006/main">
              <a:ext uri="{FF2B5EF4-FFF2-40B4-BE49-F238E27FC236}">
                <a16:creationId xmlns:a16="http://schemas.microsoft.com/office/drawing/2014/main" id="{5CA9FD0B-D9BF-4B1F-A64F-B732E04C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083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9" name="roundRect 669">
            <a:extLst xmlns:a="http://schemas.openxmlformats.org/drawingml/2006/main">
              <a:ext uri="{FF2B5EF4-FFF2-40B4-BE49-F238E27FC236}">
                <a16:creationId xmlns:a16="http://schemas.microsoft.com/office/drawing/2014/main" id="{9163D21C-A91C-4FAD-9C38-F623C23A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17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0" name="roundRect 670">
            <a:extLst xmlns:a="http://schemas.openxmlformats.org/drawingml/2006/main">
              <a:ext uri="{FF2B5EF4-FFF2-40B4-BE49-F238E27FC236}">
                <a16:creationId xmlns:a16="http://schemas.microsoft.com/office/drawing/2014/main" id="{BEF1B5A0-0E14-45E2-819F-44548319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49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1" name="roundRect 671">
            <a:extLst xmlns:a="http://schemas.openxmlformats.org/drawingml/2006/main">
              <a:ext uri="{FF2B5EF4-FFF2-40B4-BE49-F238E27FC236}">
                <a16:creationId xmlns:a16="http://schemas.microsoft.com/office/drawing/2014/main" id="{2C723799-DF5D-4B9D-B8F9-F00EDA90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82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2" name="roundRect 672">
            <a:extLst xmlns:a="http://schemas.openxmlformats.org/drawingml/2006/main">
              <a:ext uri="{FF2B5EF4-FFF2-40B4-BE49-F238E27FC236}">
                <a16:creationId xmlns:a16="http://schemas.microsoft.com/office/drawing/2014/main" id="{10D567B0-3090-4D24-91BE-BEEAE6C7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616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3" name="roundRect 673">
            <a:extLst xmlns:a="http://schemas.openxmlformats.org/drawingml/2006/main">
              <a:ext uri="{FF2B5EF4-FFF2-40B4-BE49-F238E27FC236}">
                <a16:creationId xmlns:a16="http://schemas.microsoft.com/office/drawing/2014/main" id="{A97A0050-DCA6-4A41-BD82-4417A891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248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4" name="roundRect 674">
            <a:extLst xmlns:a="http://schemas.openxmlformats.org/drawingml/2006/main">
              <a:ext uri="{FF2B5EF4-FFF2-40B4-BE49-F238E27FC236}">
                <a16:creationId xmlns:a16="http://schemas.microsoft.com/office/drawing/2014/main" id="{5AE21403-AA48-439C-A85B-CB610C16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882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5" name="roundRect 675">
            <a:extLst xmlns:a="http://schemas.openxmlformats.org/drawingml/2006/main">
              <a:ext uri="{FF2B5EF4-FFF2-40B4-BE49-F238E27FC236}">
                <a16:creationId xmlns:a16="http://schemas.microsoft.com/office/drawing/2014/main" id="{FA90F499-F6F3-48FF-829E-F15882B3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515" y="4314780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6" name="line 676">
            <a:extLst xmlns:a="http://schemas.openxmlformats.org/drawingml/2006/main">
              <a:ext uri="{FF2B5EF4-FFF2-40B4-BE49-F238E27FC236}">
                <a16:creationId xmlns:a16="http://schemas.microsoft.com/office/drawing/2014/main" id="{CF1B7915-5286-481B-B57A-18ABAD60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124" y="4380912"/>
            <a:ext cx="132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7">
            <a:solidFill>
              <a:srgbClr val="3D5D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7" name="ellipse 677">
            <a:extLst xmlns:a="http://schemas.openxmlformats.org/drawingml/2006/main">
              <a:ext uri="{FF2B5EF4-FFF2-40B4-BE49-F238E27FC236}">
                <a16:creationId xmlns:a16="http://schemas.microsoft.com/office/drawing/2014/main" id="{AB78CA55-0D0F-4563-8800-FF35AFE3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925" y="4309269"/>
            <a:ext cx="385846" cy="143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B78"/>
          </a:solidFill>
          <a:ln xmlns:a="http://schemas.openxmlformats.org/drawingml/2006/main" w="8973">
            <a:solidFill>
              <a:srgbClr val="DF8A2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8" name="15R 678">
            <a:extLst xmlns:a="http://schemas.openxmlformats.org/drawingml/2006/main">
              <a:ext uri="{FF2B5EF4-FFF2-40B4-BE49-F238E27FC236}">
                <a16:creationId xmlns:a16="http://schemas.microsoft.com/office/drawing/2014/main" id="{93DE04AA-3B7B-4D40-9747-E50C4A71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4616418"/>
            <a:ext cx="363798" cy="159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537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1">
                <a:solidFill>
                  <a:srgbClr val="3D5D7C"/>
                </a:solidFill>
                <a:latin typeface="Futura"/>
                <a:ea typeface="Futura"/>
                <a:cs typeface="Futura"/>
              </a:rPr>
              <a:t>15R</a:t>
            </a:r>
          </a:p>
        </p:txBody>
      </p:sp>
      <p:sp>
        <p:nvSpPr>
          <p:cNvPr id="679" name="roundRect 679">
            <a:extLst xmlns:a="http://schemas.openxmlformats.org/drawingml/2006/main">
              <a:ext uri="{FF2B5EF4-FFF2-40B4-BE49-F238E27FC236}">
                <a16:creationId xmlns:a16="http://schemas.microsoft.com/office/drawing/2014/main" id="{4991CFD1-54F0-4A2D-A667-2B0F34DD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53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0" name="roundRect 680">
            <a:extLst xmlns:a="http://schemas.openxmlformats.org/drawingml/2006/main">
              <a:ext uri="{FF2B5EF4-FFF2-40B4-BE49-F238E27FC236}">
                <a16:creationId xmlns:a16="http://schemas.microsoft.com/office/drawing/2014/main" id="{557BEB9C-9FBF-4BCB-ACF4-EE54E77E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85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1" name="roundRect 681">
            <a:extLst xmlns:a="http://schemas.openxmlformats.org/drawingml/2006/main">
              <a:ext uri="{FF2B5EF4-FFF2-40B4-BE49-F238E27FC236}">
                <a16:creationId xmlns:a16="http://schemas.microsoft.com/office/drawing/2014/main" id="{0E94DC5F-A0EC-4D2A-A177-0B2D37D4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18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2" name="roundRect 682">
            <a:extLst xmlns:a="http://schemas.openxmlformats.org/drawingml/2006/main">
              <a:ext uri="{FF2B5EF4-FFF2-40B4-BE49-F238E27FC236}">
                <a16:creationId xmlns:a16="http://schemas.microsoft.com/office/drawing/2014/main" id="{BB4C0339-BE00-40BB-B35D-1A2526C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52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3" name="roundRect 683">
            <a:extLst xmlns:a="http://schemas.openxmlformats.org/drawingml/2006/main">
              <a:ext uri="{FF2B5EF4-FFF2-40B4-BE49-F238E27FC236}">
                <a16:creationId xmlns:a16="http://schemas.microsoft.com/office/drawing/2014/main" id="{1954D569-C171-458E-B6A0-6012C402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84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4" name="roundRect 684">
            <a:extLst xmlns:a="http://schemas.openxmlformats.org/drawingml/2006/main">
              <a:ext uri="{FF2B5EF4-FFF2-40B4-BE49-F238E27FC236}">
                <a16:creationId xmlns:a16="http://schemas.microsoft.com/office/drawing/2014/main" id="{71CFF802-738F-47E4-80D3-A368F982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18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5" name="roundRect 685">
            <a:extLst xmlns:a="http://schemas.openxmlformats.org/drawingml/2006/main">
              <a:ext uri="{FF2B5EF4-FFF2-40B4-BE49-F238E27FC236}">
                <a16:creationId xmlns:a16="http://schemas.microsoft.com/office/drawing/2014/main" id="{AF0727D7-5348-40B6-A2A3-7919FC36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51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6" name="roundRect 686">
            <a:extLst xmlns:a="http://schemas.openxmlformats.org/drawingml/2006/main">
              <a:ext uri="{FF2B5EF4-FFF2-40B4-BE49-F238E27FC236}">
                <a16:creationId xmlns:a16="http://schemas.microsoft.com/office/drawing/2014/main" id="{C449FF2F-5EDD-4655-ACAD-1B9C8491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083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7" name="roundRect 687">
            <a:extLst xmlns:a="http://schemas.openxmlformats.org/drawingml/2006/main">
              <a:ext uri="{FF2B5EF4-FFF2-40B4-BE49-F238E27FC236}">
                <a16:creationId xmlns:a16="http://schemas.microsoft.com/office/drawing/2014/main" id="{AB5FD14C-5179-49D4-A62F-1B8FFA4D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717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8" name="roundRect 688">
            <a:extLst xmlns:a="http://schemas.openxmlformats.org/drawingml/2006/main">
              <a:ext uri="{FF2B5EF4-FFF2-40B4-BE49-F238E27FC236}">
                <a16:creationId xmlns:a16="http://schemas.microsoft.com/office/drawing/2014/main" id="{E52E8D60-A4B2-486E-8E1B-DF56973A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349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9" name="roundRect 689">
            <a:extLst xmlns:a="http://schemas.openxmlformats.org/drawingml/2006/main">
              <a:ext uri="{FF2B5EF4-FFF2-40B4-BE49-F238E27FC236}">
                <a16:creationId xmlns:a16="http://schemas.microsoft.com/office/drawing/2014/main" id="{173FF9DE-25C0-42DD-8A2E-C2D818A0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982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0" name="roundRect 690">
            <a:extLst xmlns:a="http://schemas.openxmlformats.org/drawingml/2006/main">
              <a:ext uri="{FF2B5EF4-FFF2-40B4-BE49-F238E27FC236}">
                <a16:creationId xmlns:a16="http://schemas.microsoft.com/office/drawing/2014/main" id="{8E755528-90DC-446D-B17B-12A05D5D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616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1" name="roundRect 691">
            <a:extLst xmlns:a="http://schemas.openxmlformats.org/drawingml/2006/main">
              <a:ext uri="{FF2B5EF4-FFF2-40B4-BE49-F238E27FC236}">
                <a16:creationId xmlns:a16="http://schemas.microsoft.com/office/drawing/2014/main" id="{4C941FE2-086E-4AE0-9246-0B36EAF2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248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2" name="roundRect 692">
            <a:extLst xmlns:a="http://schemas.openxmlformats.org/drawingml/2006/main">
              <a:ext uri="{FF2B5EF4-FFF2-40B4-BE49-F238E27FC236}">
                <a16:creationId xmlns:a16="http://schemas.microsoft.com/office/drawing/2014/main" id="{4CB2E5FE-BFF4-4A90-901B-5D32FF0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882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3BADA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3" name="roundRect 693">
            <a:extLst xmlns:a="http://schemas.openxmlformats.org/drawingml/2006/main">
              <a:ext uri="{FF2B5EF4-FFF2-40B4-BE49-F238E27FC236}">
                <a16:creationId xmlns:a16="http://schemas.microsoft.com/office/drawing/2014/main" id="{E821BFA4-696B-4427-8169-1D42F973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515" y="4632951"/>
            <a:ext cx="49609" cy="13226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5A5C8"/>
          </a:solidFill>
          <a:ln xmlns:a="http://schemas.openxmlformats.org/drawingml/2006/main" w="6409">
            <a:solidFill>
              <a:srgbClr val="0984A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4" name="line 694">
            <a:extLst xmlns:a="http://schemas.openxmlformats.org/drawingml/2006/main">
              <a:ext uri="{FF2B5EF4-FFF2-40B4-BE49-F238E27FC236}">
                <a16:creationId xmlns:a16="http://schemas.microsoft.com/office/drawing/2014/main" id="{AD63A6E9-9541-474D-838D-818CD5C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124" y="4699084"/>
            <a:ext cx="1322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537">
            <a:solidFill>
              <a:srgbClr val="3D5D7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5" name="ellipse 695">
            <a:extLst xmlns:a="http://schemas.openxmlformats.org/drawingml/2006/main">
              <a:ext uri="{FF2B5EF4-FFF2-40B4-BE49-F238E27FC236}">
                <a16:creationId xmlns:a16="http://schemas.microsoft.com/office/drawing/2014/main" id="{71A94817-860A-4C7E-9F64-A7C4EFE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925" y="4627440"/>
            <a:ext cx="385846" cy="143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B78"/>
          </a:solidFill>
          <a:ln xmlns:a="http://schemas.openxmlformats.org/drawingml/2006/main" w="8973">
            <a:solidFill>
              <a:srgbClr val="DF8A2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19" name="roundRect 2019">
            <a:extLst xmlns:a="http://schemas.openxmlformats.org/drawingml/2006/main">
              <a:ext uri="{FF2B5EF4-FFF2-40B4-BE49-F238E27FC236}">
                <a16:creationId xmlns:a16="http://schemas.microsoft.com/office/drawing/2014/main" id="{4563C712-6D2C-41E6-9FB3-8D3F89EF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457" y="852727"/>
            <a:ext cx="2520257" cy="1565455"/>
          </a:xfrm>
          <a:prstGeom xmlns:a="http://schemas.openxmlformats.org/drawingml/2006/main" prst="roundRect">
            <a:avLst>
              <a:gd name="adj" fmla="val 8943"/>
            </a:avLst>
          </a:prstGeom>
          <a:solidFill xmlns:a="http://schemas.openxmlformats.org/drawingml/2006/main">
            <a:srgbClr val="F0F4FE"/>
          </a:solidFill>
          <a:ln xmlns:a="http://schemas.openxmlformats.org/drawingml/2006/main" w="13365">
            <a:solidFill>
              <a:srgbClr val="2C66A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0" name="roundRect 2020">
            <a:extLst xmlns:a="http://schemas.openxmlformats.org/drawingml/2006/main">
              <a:ext uri="{FF2B5EF4-FFF2-40B4-BE49-F238E27FC236}">
                <a16:creationId xmlns:a16="http://schemas.microsoft.com/office/drawing/2014/main" id="{FC83BD96-5D7D-44B9-ACDE-B1A00758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000" y="852727"/>
            <a:ext cx="5065971" cy="1565455"/>
          </a:xfrm>
          <a:prstGeom xmlns:a="http://schemas.openxmlformats.org/drawingml/2006/main" prst="roundRect">
            <a:avLst>
              <a:gd name="adj" fmla="val 8943"/>
            </a:avLst>
          </a:prstGeom>
          <a:solidFill xmlns:a="http://schemas.openxmlformats.org/drawingml/2006/main">
            <a:srgbClr val="EDF8F3"/>
          </a:solidFill>
          <a:ln xmlns:a="http://schemas.openxmlformats.org/drawingml/2006/main" w="13365">
            <a:solidFill>
              <a:srgbClr val="007E6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1" name="roundRect 2021">
            <a:extLst xmlns:a="http://schemas.openxmlformats.org/drawingml/2006/main">
              <a:ext uri="{FF2B5EF4-FFF2-40B4-BE49-F238E27FC236}">
                <a16:creationId xmlns:a16="http://schemas.microsoft.com/office/drawing/2014/main" id="{2F22710E-8697-4D8A-92BE-59A29714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457" y="2672727"/>
            <a:ext cx="2520257" cy="2495073"/>
          </a:xfrm>
          <a:prstGeom xmlns:a="http://schemas.openxmlformats.org/drawingml/2006/main" prst="roundRect">
            <a:avLst>
              <a:gd name="adj" fmla="val 5612"/>
            </a:avLst>
          </a:prstGeom>
          <a:solidFill xmlns:a="http://schemas.openxmlformats.org/drawingml/2006/main">
            <a:srgbClr val="F0F9FD"/>
          </a:solidFill>
          <a:ln xmlns:a="http://schemas.openxmlformats.org/drawingml/2006/main" w="13365">
            <a:solidFill>
              <a:srgbClr val="0788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2" name="roundRect 2022">
            <a:extLst xmlns:a="http://schemas.openxmlformats.org/drawingml/2006/main">
              <a:ext uri="{FF2B5EF4-FFF2-40B4-BE49-F238E27FC236}">
                <a16:creationId xmlns:a16="http://schemas.microsoft.com/office/drawing/2014/main" id="{AC5A0BC8-284C-4D5B-823B-41E95B97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000" y="2672727"/>
            <a:ext cx="2520257" cy="2495073"/>
          </a:xfrm>
          <a:prstGeom xmlns:a="http://schemas.openxmlformats.org/drawingml/2006/main" prst="roundRect">
            <a:avLst>
              <a:gd name="adj" fmla="val 5612"/>
            </a:avLst>
          </a:prstGeom>
          <a:solidFill xmlns:a="http://schemas.openxmlformats.org/drawingml/2006/main">
            <a:srgbClr val="FFF5EB"/>
          </a:solidFill>
          <a:ln xmlns:a="http://schemas.openxmlformats.org/drawingml/2006/main" w="13365">
            <a:solidFill>
              <a:srgbClr val="BC5B0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3" name="roundRect 2023">
            <a:extLst xmlns:a="http://schemas.openxmlformats.org/drawingml/2006/main">
              <a:ext uri="{FF2B5EF4-FFF2-40B4-BE49-F238E27FC236}">
                <a16:creationId xmlns:a16="http://schemas.microsoft.com/office/drawing/2014/main" id="{95F352E4-6C88-4742-A745-E4F27F9D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29" y="5422371"/>
            <a:ext cx="7586229" cy="1858371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F5EFFB"/>
          </a:solidFill>
          <a:ln xmlns:a="http://schemas.openxmlformats.org/drawingml/2006/main" w="13365">
            <a:solidFill>
              <a:srgbClr val="7943B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4" name="DELIVER 2024">
            <a:extLst xmlns:a="http://schemas.openxmlformats.org/drawingml/2006/main">
              <a:ext uri="{FF2B5EF4-FFF2-40B4-BE49-F238E27FC236}">
                <a16:creationId xmlns:a16="http://schemas.microsoft.com/office/drawing/2014/main" id="{3749B8D4-6B5E-4B8E-97DA-3720E02C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43" y="980000"/>
            <a:ext cx="865543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C66AF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DELIVER</a:t>
            </a:r>
          </a:p>
        </p:txBody>
      </p:sp>
      <p:sp>
        <p:nvSpPr>
          <p:cNvPr id="2025" name="AAV9 2025">
            <a:extLst xmlns:a="http://schemas.openxmlformats.org/drawingml/2006/main">
              <a:ext uri="{FF2B5EF4-FFF2-40B4-BE49-F238E27FC236}">
                <a16:creationId xmlns:a16="http://schemas.microsoft.com/office/drawing/2014/main" id="{612B87ED-27C0-49CB-BFC8-387B801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657" y="980000"/>
            <a:ext cx="700071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CE8F8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3" b="1">
                <a:solidFill>
                  <a:srgbClr val="2C66AF"/>
                </a:solidFill>
                <a:latin typeface="Georgia"/>
                <a:ea typeface="Georgia"/>
                <a:cs typeface="Georgia"/>
              </a:rPr>
              <a:t>AAV9</a:t>
            </a:r>
          </a:p>
        </p:txBody>
      </p:sp>
      <p:sp>
        <p:nvSpPr>
          <p:cNvPr id="2026" name="MODEL 2026">
            <a:extLst xmlns:a="http://schemas.openxmlformats.org/drawingml/2006/main">
              <a:ext uri="{FF2B5EF4-FFF2-40B4-BE49-F238E27FC236}">
                <a16:creationId xmlns:a16="http://schemas.microsoft.com/office/drawing/2014/main" id="{5C93FBF1-AF42-40DD-8472-FE992ACC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6" y="980000"/>
            <a:ext cx="865543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7E63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MODEL</a:t>
            </a:r>
          </a:p>
        </p:txBody>
      </p:sp>
      <p:sp>
        <p:nvSpPr>
          <p:cNvPr id="2027" name="PUFFER 2027">
            <a:extLst xmlns:a="http://schemas.openxmlformats.org/drawingml/2006/main">
              <a:ext uri="{FF2B5EF4-FFF2-40B4-BE49-F238E27FC236}">
                <a16:creationId xmlns:a16="http://schemas.microsoft.com/office/drawing/2014/main" id="{1A14E77B-BD19-4DDF-822A-24F00222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200" y="980000"/>
            <a:ext cx="916457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7EDE3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3" b="1">
                <a:solidFill>
                  <a:srgbClr val="007E63"/>
                </a:solidFill>
                <a:latin typeface="Georgia"/>
                <a:ea typeface="Georgia"/>
                <a:cs typeface="Georgia"/>
              </a:rPr>
              <a:t>PUFFER</a:t>
            </a:r>
          </a:p>
        </p:txBody>
      </p:sp>
      <p:cxnSp>
        <p:nvCxnSpPr>
          <p:cNvPr id="10" name="line-5">
            <a:extLst xmlns:a="http://schemas.openxmlformats.org/drawingml/2006/main">
              <a:ext uri="{FF2B5EF4-FFF2-40B4-BE49-F238E27FC236}">
                <a16:creationId xmlns:a16="http://schemas.microsoft.com/office/drawing/2014/main" id="{6A2F3E7D-8DF2-48AA-9085-F5BF225848F5}"/>
              </a:ext>
            </a:extLst>
          </p:cNvPr>
          <p:cNvCxnSpPr/>
          <p:nvPr/>
        </p:nvCxnSpPr>
        <p:spPr>
          <a:xfrm xmlns:a="http://schemas.openxmlformats.org/drawingml/2006/main">
            <a:off x="5616482" y="1500903"/>
            <a:ext cx="826803" cy="0"/>
          </a:xfrm>
          <a:prstGeom xmlns:a="http://schemas.openxmlformats.org/drawingml/2006/main" prst="straightConnector1">
            <a:avLst/>
          </a:prstGeom>
          <a:ln xmlns:a="http://schemas.openxmlformats.org/drawingml/2006/main" w="31877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1" name="object-6">
            <a:extLst xmlns:a="http://schemas.openxmlformats.org/drawingml/2006/main">
              <a:ext uri="{FF2B5EF4-FFF2-40B4-BE49-F238E27FC236}">
                <a16:creationId xmlns:a16="http://schemas.microsoft.com/office/drawing/2014/main" id="{5E970618-C18A-4C2E-8FA1-BFA10B1E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672" y="1451105"/>
            <a:ext cx="79692" cy="99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52"/>
          </a:solidFill>
          <a:ln xmlns:a="http://schemas.openxmlformats.org/drawingml/2006/main" w="17931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2" name="line-7">
            <a:extLst xmlns:a="http://schemas.openxmlformats.org/drawingml/2006/main">
              <a:ext uri="{FF2B5EF4-FFF2-40B4-BE49-F238E27FC236}">
                <a16:creationId xmlns:a16="http://schemas.microsoft.com/office/drawing/2014/main" id="{3F7171F1-336C-4905-A798-B5507D989419}"/>
              </a:ext>
            </a:extLst>
          </p:cNvPr>
          <p:cNvCxnSpPr/>
          <p:nvPr/>
        </p:nvCxnSpPr>
        <p:spPr>
          <a:xfrm xmlns:a="http://schemas.openxmlformats.org/drawingml/2006/main">
            <a:off x="5706136" y="1620415"/>
            <a:ext cx="826803" cy="0"/>
          </a:xfrm>
          <a:prstGeom xmlns:a="http://schemas.openxmlformats.org/drawingml/2006/main" prst="straightConnector1">
            <a:avLst/>
          </a:prstGeom>
          <a:ln xmlns:a="http://schemas.openxmlformats.org/drawingml/2006/main" w="31877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3" name="object-8">
            <a:extLst xmlns:a="http://schemas.openxmlformats.org/drawingml/2006/main">
              <a:ext uri="{FF2B5EF4-FFF2-40B4-BE49-F238E27FC236}">
                <a16:creationId xmlns:a16="http://schemas.microsoft.com/office/drawing/2014/main" id="{76FBCC55-6FDB-4221-871D-F867F1DB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672" y="1570619"/>
            <a:ext cx="79692" cy="99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52"/>
          </a:solidFill>
          <a:ln xmlns:a="http://schemas.openxmlformats.org/drawingml/2006/main" w="17931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4" name="line-9">
            <a:extLst xmlns:a="http://schemas.openxmlformats.org/drawingml/2006/main">
              <a:ext uri="{FF2B5EF4-FFF2-40B4-BE49-F238E27FC236}">
                <a16:creationId xmlns:a16="http://schemas.microsoft.com/office/drawing/2014/main" id="{F3425205-4DF0-4997-AE7E-7D1F01BAFA0E}"/>
              </a:ext>
            </a:extLst>
          </p:cNvPr>
          <p:cNvCxnSpPr/>
          <p:nvPr/>
        </p:nvCxnSpPr>
        <p:spPr>
          <a:xfrm xmlns:a="http://schemas.openxmlformats.org/drawingml/2006/main">
            <a:off x="5616482" y="1739929"/>
            <a:ext cx="826803" cy="0"/>
          </a:xfrm>
          <a:prstGeom xmlns:a="http://schemas.openxmlformats.org/drawingml/2006/main" prst="straightConnector1">
            <a:avLst/>
          </a:prstGeom>
          <a:ln xmlns:a="http://schemas.openxmlformats.org/drawingml/2006/main" w="31877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5" name="object-10">
            <a:extLst xmlns:a="http://schemas.openxmlformats.org/drawingml/2006/main">
              <a:ext uri="{FF2B5EF4-FFF2-40B4-BE49-F238E27FC236}">
                <a16:creationId xmlns:a16="http://schemas.microsoft.com/office/drawing/2014/main" id="{16EA96BE-E0C7-4B45-B64C-F5A4D184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672" y="1690132"/>
            <a:ext cx="79692" cy="99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52"/>
          </a:solidFill>
          <a:ln xmlns:a="http://schemas.openxmlformats.org/drawingml/2006/main" w="17931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6" name="line-11">
            <a:extLst xmlns:a="http://schemas.openxmlformats.org/drawingml/2006/main">
              <a:ext uri="{FF2B5EF4-FFF2-40B4-BE49-F238E27FC236}">
                <a16:creationId xmlns:a16="http://schemas.microsoft.com/office/drawing/2014/main" id="{0062C87F-0F7B-493D-9F12-E3274BE0DFFB}"/>
              </a:ext>
            </a:extLst>
          </p:cNvPr>
          <p:cNvCxnSpPr/>
          <p:nvPr/>
        </p:nvCxnSpPr>
        <p:spPr>
          <a:xfrm xmlns:a="http://schemas.openxmlformats.org/drawingml/2006/main">
            <a:off x="5706136" y="1859441"/>
            <a:ext cx="826803" cy="0"/>
          </a:xfrm>
          <a:prstGeom xmlns:a="http://schemas.openxmlformats.org/drawingml/2006/main" prst="straightConnector1">
            <a:avLst/>
          </a:prstGeom>
          <a:ln xmlns:a="http://schemas.openxmlformats.org/drawingml/2006/main" w="31877">
            <a:solidFill>
              <a:srgbClr val="087B61"/>
            </a:solidFill>
            <a:prstDash val="solid"/>
            <a:tailEnd type="none" w="med" len="med"/>
          </a:ln>
        </p:spPr>
      </p:cxnSp>
      <p:sp>
        <p:nvSpPr>
          <p:cNvPr id="17" name="object-12">
            <a:extLst xmlns:a="http://schemas.openxmlformats.org/drawingml/2006/main">
              <a:ext uri="{FF2B5EF4-FFF2-40B4-BE49-F238E27FC236}">
                <a16:creationId xmlns:a16="http://schemas.microsoft.com/office/drawing/2014/main" id="{D8B69A33-4958-49A8-9189-671D4A70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672" y="1809644"/>
            <a:ext cx="79692" cy="99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52"/>
          </a:solidFill>
          <a:ln xmlns:a="http://schemas.openxmlformats.org/drawingml/2006/main" w="17931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8" name="RNA-seq 2028">
            <a:extLst xmlns:a="http://schemas.openxmlformats.org/drawingml/2006/main">
              <a:ext uri="{FF2B5EF4-FFF2-40B4-BE49-F238E27FC236}">
                <a16:creationId xmlns:a16="http://schemas.microsoft.com/office/drawing/2014/main" id="{F59CD553-17C7-40FF-805D-0399FA24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6" y="2074757"/>
            <a:ext cx="1202850" cy="1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Landscape</a:t>
            </a:r>
          </a:p>
        </p:txBody>
      </p:sp>
      <p:sp>
        <p:nvSpPr>
          <p:cNvPr id="19" name="object-14">
            <a:extLst xmlns:a="http://schemas.openxmlformats.org/drawingml/2006/main">
              <a:ext uri="{FF2B5EF4-FFF2-40B4-BE49-F238E27FC236}">
                <a16:creationId xmlns:a16="http://schemas.microsoft.com/office/drawing/2014/main" id="{46C7C3C2-7E94-4B31-BDC9-AEC49792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332" y="1587704"/>
            <a:ext cx="109302" cy="2689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9AB"/>
          </a:solidFill>
          <a:ln xmlns:a="http://schemas.openxmlformats.org/drawingml/2006/main" w="15135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bject-15">
            <a:extLst xmlns:a="http://schemas.openxmlformats.org/drawingml/2006/main">
              <a:ext uri="{FF2B5EF4-FFF2-40B4-BE49-F238E27FC236}">
                <a16:creationId xmlns:a16="http://schemas.microsoft.com/office/drawing/2014/main" id="{CF53BE03-F36E-4AAA-AA33-7596290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858" y="1529464"/>
            <a:ext cx="109302" cy="2689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9AB"/>
          </a:solidFill>
          <a:ln xmlns:a="http://schemas.openxmlformats.org/drawingml/2006/main" w="15135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bject-16">
            <a:extLst xmlns:a="http://schemas.openxmlformats.org/drawingml/2006/main">
              <a:ext uri="{FF2B5EF4-FFF2-40B4-BE49-F238E27FC236}">
                <a16:creationId xmlns:a16="http://schemas.microsoft.com/office/drawing/2014/main" id="{E0F2D066-DE4F-403D-8856-894893C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383" y="1529464"/>
            <a:ext cx="109302" cy="2689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9AB"/>
          </a:solidFill>
          <a:ln xmlns:a="http://schemas.openxmlformats.org/drawingml/2006/main" w="15135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object-17">
            <a:extLst xmlns:a="http://schemas.openxmlformats.org/drawingml/2006/main">
              <a:ext uri="{FF2B5EF4-FFF2-40B4-BE49-F238E27FC236}">
                <a16:creationId xmlns:a16="http://schemas.microsoft.com/office/drawing/2014/main" id="{E0ED99BF-9954-4751-8F5B-DE70F06D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910" y="1587704"/>
            <a:ext cx="109302" cy="2689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9AB"/>
          </a:solidFill>
          <a:ln xmlns:a="http://schemas.openxmlformats.org/drawingml/2006/main" w="15135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ath-18">
            <a:extLst xmlns:a="http://schemas.openxmlformats.org/drawingml/2006/main">
              <a:ext uri="{FF2B5EF4-FFF2-40B4-BE49-F238E27FC236}">
                <a16:creationId xmlns:a16="http://schemas.microsoft.com/office/drawing/2014/main" id="{E6E7375F-E12F-4D34-B241-DF89C357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029" y="1612922"/>
            <a:ext cx="126117" cy="100874"/>
          </a:xfrm>
          <a:custGeom xmlns:a="http://schemas.openxmlformats.org/drawingml/2006/main">
            <a:rect l="0" t="0" r="0" b="0"/>
            <a:pathLst>
              <a:path w="142875" h="114300">
                <a:moveTo>
                  <a:pt x="0" y="114300"/>
                </a:moveTo>
                <a:cubicBezTo>
                  <a:pt x="57150" y="76200"/>
                  <a:pt x="76200" y="0"/>
                  <a:pt x="142875" y="476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020">
            <a:solidFill>
              <a:srgbClr val="087B6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object-19">
            <a:extLst xmlns:a="http://schemas.openxmlformats.org/drawingml/2006/main">
              <a:ext uri="{FF2B5EF4-FFF2-40B4-BE49-F238E27FC236}">
                <a16:creationId xmlns:a16="http://schemas.microsoft.com/office/drawing/2014/main" id="{E80E5347-F100-48E0-A048-A3EAF4F8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922" y="1503643"/>
            <a:ext cx="285868" cy="2942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571"/>
          </a:solidFill>
          <a:ln xmlns:a="http://schemas.openxmlformats.org/drawingml/2006/main" w="15135">
            <a:solidFill>
              <a:srgbClr val="AE772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9" name="PUF / APOBEC 2029">
            <a:extLst xmlns:a="http://schemas.openxmlformats.org/drawingml/2006/main">
              <a:ext uri="{FF2B5EF4-FFF2-40B4-BE49-F238E27FC236}">
                <a16:creationId xmlns:a16="http://schemas.microsoft.com/office/drawing/2014/main" id="{7E7FD04F-DCB1-4856-B098-828A48DD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68" y="2017586"/>
            <a:ext cx="120281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Recognition /</a:t>
            </a:r>
          </a:p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Catalysis</a:t>
            </a:r>
          </a:p>
        </p:txBody>
      </p:sp>
      <p:cxnSp>
        <p:nvCxnSpPr>
          <p:cNvPr id="26" name="line-21">
            <a:extLst xmlns:a="http://schemas.openxmlformats.org/drawingml/2006/main">
              <a:ext uri="{FF2B5EF4-FFF2-40B4-BE49-F238E27FC236}">
                <a16:creationId xmlns:a16="http://schemas.microsoft.com/office/drawing/2014/main" id="{B93D7134-6AF2-4356-9B80-EF8ADC26F9D6}"/>
              </a:ext>
            </a:extLst>
          </p:cNvPr>
          <p:cNvCxnSpPr/>
          <p:nvPr/>
        </p:nvCxnSpPr>
        <p:spPr>
          <a:xfrm xmlns:a="http://schemas.openxmlformats.org/drawingml/2006/main" flipV="1">
            <a:off x="8055508" y="1471927"/>
            <a:ext cx="216617" cy="74967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7" name="line-22">
            <a:extLst xmlns:a="http://schemas.openxmlformats.org/drawingml/2006/main">
              <a:ext uri="{FF2B5EF4-FFF2-40B4-BE49-F238E27FC236}">
                <a16:creationId xmlns:a16="http://schemas.microsoft.com/office/drawing/2014/main" id="{134A8835-0F95-4EA3-B1C1-39BE434A86C2}"/>
              </a:ext>
            </a:extLst>
          </p:cNvPr>
          <p:cNvCxnSpPr/>
          <p:nvPr/>
        </p:nvCxnSpPr>
        <p:spPr>
          <a:xfrm xmlns:a="http://schemas.openxmlformats.org/drawingml/2006/main">
            <a:off x="8055508" y="1546895"/>
            <a:ext cx="216617" cy="124946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8" name="line-23">
            <a:extLst xmlns:a="http://schemas.openxmlformats.org/drawingml/2006/main">
              <a:ext uri="{FF2B5EF4-FFF2-40B4-BE49-F238E27FC236}">
                <a16:creationId xmlns:a16="http://schemas.microsoft.com/office/drawing/2014/main" id="{DBC26C53-7213-4A57-B1E9-3663AEA198C2}"/>
              </a:ext>
            </a:extLst>
          </p:cNvPr>
          <p:cNvCxnSpPr/>
          <p:nvPr/>
        </p:nvCxnSpPr>
        <p:spPr>
          <a:xfrm xmlns:a="http://schemas.openxmlformats.org/drawingml/2006/main">
            <a:off x="8055508" y="1546895"/>
            <a:ext cx="216617" cy="341518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29" name="line-24">
            <a:extLst xmlns:a="http://schemas.openxmlformats.org/drawingml/2006/main">
              <a:ext uri="{FF2B5EF4-FFF2-40B4-BE49-F238E27FC236}">
                <a16:creationId xmlns:a16="http://schemas.microsoft.com/office/drawing/2014/main" id="{89DAC7A8-6A44-4F4C-AD43-25A50373C874}"/>
              </a:ext>
            </a:extLst>
          </p:cNvPr>
          <p:cNvCxnSpPr/>
          <p:nvPr/>
        </p:nvCxnSpPr>
        <p:spPr>
          <a:xfrm xmlns:a="http://schemas.openxmlformats.org/drawingml/2006/main" flipV="1">
            <a:off x="8055508" y="1471927"/>
            <a:ext cx="216617" cy="324860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0" name="line-25">
            <a:extLst xmlns:a="http://schemas.openxmlformats.org/drawingml/2006/main">
              <a:ext uri="{FF2B5EF4-FFF2-40B4-BE49-F238E27FC236}">
                <a16:creationId xmlns:a16="http://schemas.microsoft.com/office/drawing/2014/main" id="{8F5BBAF0-7EBA-4CE7-BBE9-61F5AD6D8210}"/>
              </a:ext>
            </a:extLst>
          </p:cNvPr>
          <p:cNvCxnSpPr/>
          <p:nvPr/>
        </p:nvCxnSpPr>
        <p:spPr>
          <a:xfrm xmlns:a="http://schemas.openxmlformats.org/drawingml/2006/main" flipV="1">
            <a:off x="8055508" y="1671841"/>
            <a:ext cx="216617" cy="124946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1" name="line-26">
            <a:extLst xmlns:a="http://schemas.openxmlformats.org/drawingml/2006/main">
              <a:ext uri="{FF2B5EF4-FFF2-40B4-BE49-F238E27FC236}">
                <a16:creationId xmlns:a16="http://schemas.microsoft.com/office/drawing/2014/main" id="{31701088-58EE-4467-A0EF-89DE57E26FA3}"/>
              </a:ext>
            </a:extLst>
          </p:cNvPr>
          <p:cNvCxnSpPr/>
          <p:nvPr/>
        </p:nvCxnSpPr>
        <p:spPr>
          <a:xfrm xmlns:a="http://schemas.openxmlformats.org/drawingml/2006/main">
            <a:off x="8055508" y="1796788"/>
            <a:ext cx="216617" cy="91628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2" name="line-27">
            <a:extLst xmlns:a="http://schemas.openxmlformats.org/drawingml/2006/main">
              <a:ext uri="{FF2B5EF4-FFF2-40B4-BE49-F238E27FC236}">
                <a16:creationId xmlns:a16="http://schemas.microsoft.com/office/drawing/2014/main" id="{C8FF84DC-392B-4DEB-B3EC-2B9B10851DBD}"/>
              </a:ext>
            </a:extLst>
          </p:cNvPr>
          <p:cNvCxnSpPr/>
          <p:nvPr/>
        </p:nvCxnSpPr>
        <p:spPr>
          <a:xfrm xmlns:a="http://schemas.openxmlformats.org/drawingml/2006/main">
            <a:off x="8272124" y="1471927"/>
            <a:ext cx="216617" cy="74967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3" name="line-28">
            <a:extLst xmlns:a="http://schemas.openxmlformats.org/drawingml/2006/main">
              <a:ext uri="{FF2B5EF4-FFF2-40B4-BE49-F238E27FC236}">
                <a16:creationId xmlns:a16="http://schemas.microsoft.com/office/drawing/2014/main" id="{8408BC6D-9693-4204-95A5-D1A3011063DD}"/>
              </a:ext>
            </a:extLst>
          </p:cNvPr>
          <p:cNvCxnSpPr/>
          <p:nvPr/>
        </p:nvCxnSpPr>
        <p:spPr>
          <a:xfrm xmlns:a="http://schemas.openxmlformats.org/drawingml/2006/main">
            <a:off x="8272124" y="1471927"/>
            <a:ext cx="216617" cy="324860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4" name="line-29">
            <a:extLst xmlns:a="http://schemas.openxmlformats.org/drawingml/2006/main">
              <a:ext uri="{FF2B5EF4-FFF2-40B4-BE49-F238E27FC236}">
                <a16:creationId xmlns:a16="http://schemas.microsoft.com/office/drawing/2014/main" id="{5674450E-3E93-40E1-98DB-0278800E3759}"/>
              </a:ext>
            </a:extLst>
          </p:cNvPr>
          <p:cNvCxnSpPr/>
          <p:nvPr/>
        </p:nvCxnSpPr>
        <p:spPr>
          <a:xfrm xmlns:a="http://schemas.openxmlformats.org/drawingml/2006/main" flipV="1">
            <a:off x="8272124" y="1546895"/>
            <a:ext cx="216617" cy="124946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5" name="line-30">
            <a:extLst xmlns:a="http://schemas.openxmlformats.org/drawingml/2006/main">
              <a:ext uri="{FF2B5EF4-FFF2-40B4-BE49-F238E27FC236}">
                <a16:creationId xmlns:a16="http://schemas.microsoft.com/office/drawing/2014/main" id="{95CEC698-1E59-4FE8-8D8B-87916635E0D4}"/>
              </a:ext>
            </a:extLst>
          </p:cNvPr>
          <p:cNvCxnSpPr/>
          <p:nvPr/>
        </p:nvCxnSpPr>
        <p:spPr>
          <a:xfrm xmlns:a="http://schemas.openxmlformats.org/drawingml/2006/main">
            <a:off x="8272124" y="1671841"/>
            <a:ext cx="216617" cy="124946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6" name="line-31">
            <a:extLst xmlns:a="http://schemas.openxmlformats.org/drawingml/2006/main">
              <a:ext uri="{FF2B5EF4-FFF2-40B4-BE49-F238E27FC236}">
                <a16:creationId xmlns:a16="http://schemas.microsoft.com/office/drawing/2014/main" id="{9F227D50-3D4D-4F2F-BE59-39654A62040C}"/>
              </a:ext>
            </a:extLst>
          </p:cNvPr>
          <p:cNvCxnSpPr/>
          <p:nvPr/>
        </p:nvCxnSpPr>
        <p:spPr>
          <a:xfrm xmlns:a="http://schemas.openxmlformats.org/drawingml/2006/main" flipV="1">
            <a:off x="8272124" y="1546895"/>
            <a:ext cx="216617" cy="341518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cxnSp>
        <p:nvCxnSpPr>
          <p:cNvPr id="37" name="line-32">
            <a:extLst xmlns:a="http://schemas.openxmlformats.org/drawingml/2006/main">
              <a:ext uri="{FF2B5EF4-FFF2-40B4-BE49-F238E27FC236}">
                <a16:creationId xmlns:a16="http://schemas.microsoft.com/office/drawing/2014/main" id="{98C541B8-72E9-4295-B8C1-2E08A3B87F0E}"/>
              </a:ext>
            </a:extLst>
          </p:cNvPr>
          <p:cNvCxnSpPr/>
          <p:nvPr/>
        </p:nvCxnSpPr>
        <p:spPr>
          <a:xfrm xmlns:a="http://schemas.openxmlformats.org/drawingml/2006/main" flipV="1">
            <a:off x="8272124" y="1796788"/>
            <a:ext cx="216617" cy="91628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84B7A0"/>
            </a:solidFill>
            <a:prstDash val="solid"/>
            <a:tailEnd type="none" w="med" len="med"/>
          </a:ln>
        </p:spPr>
      </p:cxnSp>
      <p:sp>
        <p:nvSpPr>
          <p:cNvPr id="38" name="object-33">
            <a:extLst xmlns:a="http://schemas.openxmlformats.org/drawingml/2006/main">
              <a:ext uri="{FF2B5EF4-FFF2-40B4-BE49-F238E27FC236}">
                <a16:creationId xmlns:a16="http://schemas.microsoft.com/office/drawing/2014/main" id="{0FFCDD24-4DF8-473D-A56B-406B4E4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182" y="1513576"/>
            <a:ext cx="66651" cy="666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14997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object-34">
            <a:extLst xmlns:a="http://schemas.openxmlformats.org/drawingml/2006/main">
              <a:ext uri="{FF2B5EF4-FFF2-40B4-BE49-F238E27FC236}">
                <a16:creationId xmlns:a16="http://schemas.microsoft.com/office/drawing/2014/main" id="{B0E75108-05DB-4044-9330-D26677A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182" y="1763468"/>
            <a:ext cx="66651" cy="666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14997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object-35">
            <a:extLst xmlns:a="http://schemas.openxmlformats.org/drawingml/2006/main">
              <a:ext uri="{FF2B5EF4-FFF2-40B4-BE49-F238E27FC236}">
                <a16:creationId xmlns:a16="http://schemas.microsoft.com/office/drawing/2014/main" id="{3FDADA36-1C20-4D05-9717-A027C9D9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98" y="1438610"/>
            <a:ext cx="66651" cy="666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14997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object-36">
            <a:extLst xmlns:a="http://schemas.openxmlformats.org/drawingml/2006/main">
              <a:ext uri="{FF2B5EF4-FFF2-40B4-BE49-F238E27FC236}">
                <a16:creationId xmlns:a16="http://schemas.microsoft.com/office/drawing/2014/main" id="{C316ACF0-926B-4707-A186-F34A0284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98" y="1638523"/>
            <a:ext cx="66651" cy="666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14997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bject-37">
            <a:extLst xmlns:a="http://schemas.openxmlformats.org/drawingml/2006/main">
              <a:ext uri="{FF2B5EF4-FFF2-40B4-BE49-F238E27FC236}">
                <a16:creationId xmlns:a16="http://schemas.microsoft.com/office/drawing/2014/main" id="{8AF7014C-FD8B-455A-83DA-9CF3453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98" y="1855096"/>
            <a:ext cx="66651" cy="666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14997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object-38">
            <a:extLst xmlns:a="http://schemas.openxmlformats.org/drawingml/2006/main">
              <a:ext uri="{FF2B5EF4-FFF2-40B4-BE49-F238E27FC236}">
                <a16:creationId xmlns:a16="http://schemas.microsoft.com/office/drawing/2014/main" id="{14789442-42C9-40DE-9CDF-5DD9FD0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417" y="1513576"/>
            <a:ext cx="66651" cy="666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14997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object-39">
            <a:extLst xmlns:a="http://schemas.openxmlformats.org/drawingml/2006/main">
              <a:ext uri="{FF2B5EF4-FFF2-40B4-BE49-F238E27FC236}">
                <a16:creationId xmlns:a16="http://schemas.microsoft.com/office/drawing/2014/main" id="{FBDACF6E-508F-4284-94A6-D03A1DF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417" y="1763468"/>
            <a:ext cx="66651" cy="666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61"/>
          </a:solidFill>
          <a:ln xmlns:a="http://schemas.openxmlformats.org/drawingml/2006/main" w="14997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5" name="line-40">
            <a:extLst xmlns:a="http://schemas.openxmlformats.org/drawingml/2006/main">
              <a:ext uri="{FF2B5EF4-FFF2-40B4-BE49-F238E27FC236}">
                <a16:creationId xmlns:a16="http://schemas.microsoft.com/office/drawing/2014/main" id="{81AB87EE-6B96-4A0A-BD33-1570C29D0B04}"/>
              </a:ext>
            </a:extLst>
          </p:cNvPr>
          <p:cNvCxnSpPr/>
          <p:nvPr/>
        </p:nvCxnSpPr>
        <p:spPr>
          <a:xfrm xmlns:a="http://schemas.openxmlformats.org/drawingml/2006/main">
            <a:off x="8572056" y="1671841"/>
            <a:ext cx="124971" cy="0"/>
          </a:xfrm>
          <a:prstGeom xmlns:a="http://schemas.openxmlformats.org/drawingml/2006/main" prst="straightConnector1">
            <a:avLst/>
          </a:prstGeom>
          <a:ln xmlns:a="http://schemas.openxmlformats.org/drawingml/2006/main" w="18329">
            <a:solidFill>
              <a:srgbClr val="087B61"/>
            </a:solidFill>
            <a:prstDash val="solid"/>
            <a:tailEnd type="triangle" w="med" len="med"/>
          </a:ln>
        </p:spPr>
      </p:cxnSp>
      <p:sp>
        <p:nvSpPr>
          <p:cNvPr id="46" name="object-41">
            <a:extLst xmlns:a="http://schemas.openxmlformats.org/drawingml/2006/main">
              <a:ext uri="{FF2B5EF4-FFF2-40B4-BE49-F238E27FC236}">
                <a16:creationId xmlns:a16="http://schemas.microsoft.com/office/drawing/2014/main" id="{41C32578-EBBD-4753-B97E-B82FE1CB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685" y="1546895"/>
            <a:ext cx="199955" cy="241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997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defPPr>
            <a:lvl1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1pPr>
            <a:lvl2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2pPr>
            <a:lvl3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3pPr>
            <a:lvl4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4pPr>
            <a:lvl5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5pPr>
            <a:lvl6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6pPr>
            <a:lvl7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7pPr>
            <a:lvl8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8pPr>
            <a:lvl9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l">
              <a:buNone/>
              <a:defRPr sz="902" b="0">
                <a:solidFill>
                  <a:srgbClr val="087B61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087B61"/>
                </a:solidFill>
                <a:latin typeface="Futura"/>
                <a:ea typeface="Futura"/>
                <a:cs typeface="Futura"/>
              </a:rPr>
              <a:t>C</a:t>
            </a:r>
          </a:p>
        </p:txBody>
      </p:sp>
      <p:sp>
        <p:nvSpPr>
          <p:cNvPr id="2030" name="LAMAR 2030">
            <a:extLst xmlns:a="http://schemas.openxmlformats.org/drawingml/2006/main">
              <a:ext uri="{FF2B5EF4-FFF2-40B4-BE49-F238E27FC236}">
                <a16:creationId xmlns:a16="http://schemas.microsoft.com/office/drawing/2014/main" id="{E071CA85-16C5-46A6-B555-86A0E8D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986" y="2074757"/>
            <a:ext cx="1202850" cy="1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LAMAR</a:t>
            </a:r>
          </a:p>
        </p:txBody>
      </p:sp>
      <p:cxnSp>
        <p:nvCxnSpPr>
          <p:cNvPr id="48" name="line-43">
            <a:extLst xmlns:a="http://schemas.openxmlformats.org/drawingml/2006/main">
              <a:ext uri="{FF2B5EF4-FFF2-40B4-BE49-F238E27FC236}">
                <a16:creationId xmlns:a16="http://schemas.microsoft.com/office/drawing/2014/main" id="{9D7AA91E-1740-43AA-806F-EB8F86400F48}"/>
              </a:ext>
            </a:extLst>
          </p:cNvPr>
          <p:cNvCxnSpPr/>
          <p:nvPr/>
        </p:nvCxnSpPr>
        <p:spPr>
          <a:xfrm xmlns:a="http://schemas.openxmlformats.org/drawingml/2006/main">
            <a:off x="9543217" y="1540156"/>
            <a:ext cx="280086" cy="0"/>
          </a:xfrm>
          <a:prstGeom xmlns:a="http://schemas.openxmlformats.org/drawingml/2006/main" prst="straightConnector1">
            <a:avLst/>
          </a:prstGeom>
          <a:ln xmlns:a="http://schemas.openxmlformats.org/drawingml/2006/main" w="18672">
            <a:solidFill>
              <a:srgbClr val="087B61"/>
            </a:solidFill>
            <a:prstDash val="solid"/>
            <a:tailEnd type="triangle" w="med" len="med"/>
          </a:ln>
        </p:spPr>
      </p:cxnSp>
      <p:cxnSp>
        <p:nvCxnSpPr>
          <p:cNvPr id="49" name="line-44">
            <a:extLst xmlns:a="http://schemas.openxmlformats.org/drawingml/2006/main">
              <a:ext uri="{FF2B5EF4-FFF2-40B4-BE49-F238E27FC236}">
                <a16:creationId xmlns:a16="http://schemas.microsoft.com/office/drawing/2014/main" id="{1A3C00AF-9BF7-4D77-A2B4-04FCFD2537F1}"/>
              </a:ext>
            </a:extLst>
          </p:cNvPr>
          <p:cNvCxnSpPr/>
          <p:nvPr/>
        </p:nvCxnSpPr>
        <p:spPr>
          <a:xfrm xmlns:a="http://schemas.openxmlformats.org/drawingml/2006/main">
            <a:off x="9390442" y="1650470"/>
            <a:ext cx="212187" cy="84857"/>
          </a:xfrm>
          <a:prstGeom xmlns:a="http://schemas.openxmlformats.org/drawingml/2006/main" prst="straightConnector1">
            <a:avLst/>
          </a:prstGeom>
          <a:ln xmlns:a="http://schemas.openxmlformats.org/drawingml/2006/main" w="18672">
            <a:solidFill>
              <a:srgbClr val="087B61"/>
            </a:solidFill>
            <a:prstDash val="solid"/>
            <a:tailEnd type="triangle" w="med" len="med"/>
          </a:ln>
        </p:spPr>
      </p:cxnSp>
      <p:cxnSp>
        <p:nvCxnSpPr>
          <p:cNvPr id="50" name="line-45">
            <a:extLst xmlns:a="http://schemas.openxmlformats.org/drawingml/2006/main">
              <a:ext uri="{FF2B5EF4-FFF2-40B4-BE49-F238E27FC236}">
                <a16:creationId xmlns:a16="http://schemas.microsoft.com/office/drawing/2014/main" id="{8C9B7A8B-97D0-4761-B92E-CFCFD8F59965}"/>
              </a:ext>
            </a:extLst>
          </p:cNvPr>
          <p:cNvCxnSpPr/>
          <p:nvPr/>
        </p:nvCxnSpPr>
        <p:spPr>
          <a:xfrm xmlns:a="http://schemas.openxmlformats.org/drawingml/2006/main" flipH="1">
            <a:off x="9780866" y="1650470"/>
            <a:ext cx="178237" cy="84857"/>
          </a:xfrm>
          <a:prstGeom xmlns:a="http://schemas.openxmlformats.org/drawingml/2006/main" prst="straightConnector1">
            <a:avLst/>
          </a:prstGeom>
          <a:ln xmlns:a="http://schemas.openxmlformats.org/drawingml/2006/main" w="18672">
            <a:solidFill>
              <a:srgbClr val="087B61"/>
            </a:solidFill>
            <a:prstDash val="solid"/>
            <a:tailEnd type="triangle" w="med" len="med"/>
          </a:ln>
        </p:spPr>
      </p:cxnSp>
      <p:sp>
        <p:nvSpPr>
          <p:cNvPr id="51" name="object-46">
            <a:extLst xmlns:a="http://schemas.openxmlformats.org/drawingml/2006/main">
              <a:ext uri="{FF2B5EF4-FFF2-40B4-BE49-F238E27FC236}">
                <a16:creationId xmlns:a16="http://schemas.microsoft.com/office/drawing/2014/main" id="{8A4DF76C-2397-44FF-9D68-49255FFC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155" y="1438329"/>
            <a:ext cx="297062" cy="20365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EBDD"/>
          </a:solidFill>
          <a:ln xmlns:a="http://schemas.openxmlformats.org/drawingml/2006/main" w="16976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object-47">
            <a:extLst xmlns:a="http://schemas.openxmlformats.org/drawingml/2006/main">
              <a:ext uri="{FF2B5EF4-FFF2-40B4-BE49-F238E27FC236}">
                <a16:creationId xmlns:a16="http://schemas.microsoft.com/office/drawing/2014/main" id="{59221DE5-E8A7-44B8-9675-A1031AEB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305" y="1438329"/>
            <a:ext cx="297062" cy="20365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EBDD"/>
          </a:solidFill>
          <a:ln xmlns:a="http://schemas.openxmlformats.org/drawingml/2006/main" w="16976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object-48">
            <a:extLst xmlns:a="http://schemas.openxmlformats.org/drawingml/2006/main">
              <a:ext uri="{FF2B5EF4-FFF2-40B4-BE49-F238E27FC236}">
                <a16:creationId xmlns:a16="http://schemas.microsoft.com/office/drawing/2014/main" id="{453F52A9-1901-44FA-A53B-F1AA9C3B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730" y="1718356"/>
            <a:ext cx="297062" cy="20365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0EBDD"/>
          </a:solidFill>
          <a:ln xmlns:a="http://schemas.openxmlformats.org/drawingml/2006/main" w="16976">
            <a:solidFill>
              <a:srgbClr val="087B6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31" name="Whole-body 2031">
            <a:extLst xmlns:a="http://schemas.openxmlformats.org/drawingml/2006/main">
              <a:ext uri="{FF2B5EF4-FFF2-40B4-BE49-F238E27FC236}">
                <a16:creationId xmlns:a16="http://schemas.microsoft.com/office/drawing/2014/main" id="{4E4A6893-2550-4FCB-B46B-5B5331B2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836" y="2074757"/>
            <a:ext cx="1202850" cy="184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007E63"/>
                </a:solidFill>
                <a:latin typeface="Futura"/>
                <a:ea typeface="Futura"/>
                <a:cs typeface="Futura"/>
              </a:rPr>
              <a:t>Delivery</a:t>
            </a:r>
          </a:p>
        </p:txBody>
      </p:sp>
      <p:sp>
        <p:nvSpPr>
          <p:cNvPr id="2032" name="EDIT 2032">
            <a:extLst xmlns:a="http://schemas.openxmlformats.org/drawingml/2006/main">
              <a:ext uri="{FF2B5EF4-FFF2-40B4-BE49-F238E27FC236}">
                <a16:creationId xmlns:a16="http://schemas.microsoft.com/office/drawing/2014/main" id="{6DCA6E56-D583-441F-BCF1-E8C1C04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743" y="2800000"/>
            <a:ext cx="661886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88B5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EDIT</a:t>
            </a:r>
          </a:p>
        </p:txBody>
      </p:sp>
      <p:sp>
        <p:nvSpPr>
          <p:cNvPr id="2033" name="Integrated ORCA 2033">
            <a:extLst xmlns:a="http://schemas.openxmlformats.org/drawingml/2006/main">
              <a:ext uri="{FF2B5EF4-FFF2-40B4-BE49-F238E27FC236}">
                <a16:creationId xmlns:a16="http://schemas.microsoft.com/office/drawing/2014/main" id="{16D9A221-EF2F-478B-8495-B80FE97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000" y="2800000"/>
            <a:ext cx="1527429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7EEF6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2" b="1">
                <a:solidFill>
                  <a:srgbClr val="0788B5"/>
                </a:solidFill>
                <a:latin typeface="Georgia"/>
                <a:ea typeface="Georgia"/>
                <a:cs typeface="Georgia"/>
              </a:rPr>
              <a:t>Integrated ORCA</a:t>
            </a:r>
          </a:p>
        </p:txBody>
      </p:sp>
      <p:sp>
        <p:nvSpPr>
          <p:cNvPr id="2034" name="MEASURE 2034">
            <a:extLst xmlns:a="http://schemas.openxmlformats.org/drawingml/2006/main">
              <a:ext uri="{FF2B5EF4-FFF2-40B4-BE49-F238E27FC236}">
                <a16:creationId xmlns:a16="http://schemas.microsoft.com/office/drawing/2014/main" id="{E96C7E81-BF66-4F11-9DCA-2C1DFBFE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6" y="2800000"/>
            <a:ext cx="941914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BC5B0C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MEASURE</a:t>
            </a:r>
          </a:p>
        </p:txBody>
      </p:sp>
      <p:sp>
        <p:nvSpPr>
          <p:cNvPr id="2035" name="SONAR 2035">
            <a:extLst xmlns:a="http://schemas.openxmlformats.org/drawingml/2006/main">
              <a:ext uri="{FF2B5EF4-FFF2-40B4-BE49-F238E27FC236}">
                <a16:creationId xmlns:a16="http://schemas.microsoft.com/office/drawing/2014/main" id="{19D585E2-D266-4A9C-9BFD-08E8BAAC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571" y="2800000"/>
            <a:ext cx="852814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6DEC6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3" b="1">
                <a:solidFill>
                  <a:srgbClr val="BC5B0C"/>
                </a:solidFill>
                <a:latin typeface="Georgia"/>
                <a:ea typeface="Georgia"/>
                <a:cs typeface="Georgia"/>
              </a:rPr>
              <a:t>SONAR</a:t>
            </a:r>
          </a:p>
        </p:txBody>
      </p:sp>
      <p:sp>
        <p:nvSpPr>
          <p:cNvPr id="63" name="object-57">
            <a:extLst xmlns:a="http://schemas.openxmlformats.org/drawingml/2006/main">
              <a:ext uri="{FF2B5EF4-FFF2-40B4-BE49-F238E27FC236}">
                <a16:creationId xmlns:a16="http://schemas.microsoft.com/office/drawing/2014/main" id="{A6BE828E-F5BD-4590-98A3-AA058FBE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369" y="3501231"/>
            <a:ext cx="570889" cy="17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174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1052" b="1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1052" b="1">
                <a:solidFill>
                  <a:srgbClr val="087DAA"/>
                </a:solidFill>
                <a:latin typeface="Futura"/>
                <a:ea typeface="Futura"/>
                <a:cs typeface="Futura"/>
              </a:rPr>
              <a:t>POD</a:t>
            </a:r>
          </a:p>
        </p:txBody>
      </p:sp>
      <p:sp>
        <p:nvSpPr>
          <p:cNvPr id="64" name="POD repeat 1">
            <a:extLst xmlns:a="http://schemas.openxmlformats.org/drawingml/2006/main">
              <a:ext uri="{FF2B5EF4-FFF2-40B4-BE49-F238E27FC236}">
                <a16:creationId xmlns:a16="http://schemas.microsoft.com/office/drawing/2014/main" id="{3D2AD6E2-B958-4DED-8D07-F702E080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90000">
            <a:off x="3027407" y="3775773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0BDE0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POD repeat 2">
            <a:extLst xmlns:a="http://schemas.openxmlformats.org/drawingml/2006/main">
              <a:ext uri="{FF2B5EF4-FFF2-40B4-BE49-F238E27FC236}">
                <a16:creationId xmlns:a16="http://schemas.microsoft.com/office/drawing/2014/main" id="{599958D0-7F13-448A-9E2E-AC50BC3C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0000">
            <a:off x="3127312" y="3744253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45A4CE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POD repeat 3">
            <a:extLst xmlns:a="http://schemas.openxmlformats.org/drawingml/2006/main">
              <a:ext uri="{FF2B5EF4-FFF2-40B4-BE49-F238E27FC236}">
                <a16:creationId xmlns:a16="http://schemas.microsoft.com/office/drawing/2014/main" id="{1C322173-E404-4AE5-B374-CE4159B0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0000">
            <a:off x="3227217" y="3715289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0BDE0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POD repeat 4">
            <a:extLst xmlns:a="http://schemas.openxmlformats.org/drawingml/2006/main">
              <a:ext uri="{FF2B5EF4-FFF2-40B4-BE49-F238E27FC236}">
                <a16:creationId xmlns:a16="http://schemas.microsoft.com/office/drawing/2014/main" id="{8263C376-DFE0-4257-9A4D-ECBED96E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50000">
            <a:off x="3327124" y="3691226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45A4CE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POD repeat 5">
            <a:extLst xmlns:a="http://schemas.openxmlformats.org/drawingml/2006/main">
              <a:ext uri="{FF2B5EF4-FFF2-40B4-BE49-F238E27FC236}">
                <a16:creationId xmlns:a16="http://schemas.microsoft.com/office/drawing/2014/main" id="{FD7D2355-F261-4002-BB77-F8FAE3BB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">
            <a:off x="3427029" y="3674009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0BDE0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POD repeat 6">
            <a:extLst xmlns:a="http://schemas.openxmlformats.org/drawingml/2006/main">
              <a:ext uri="{FF2B5EF4-FFF2-40B4-BE49-F238E27FC236}">
                <a16:creationId xmlns:a16="http://schemas.microsoft.com/office/drawing/2014/main" id="{551C1E08-E47E-4672-9568-DC04E58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">
            <a:off x="3526935" y="3665040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45A4CE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POD repeat 7">
            <a:extLst xmlns:a="http://schemas.openxmlformats.org/drawingml/2006/main">
              <a:ext uri="{FF2B5EF4-FFF2-40B4-BE49-F238E27FC236}">
                <a16:creationId xmlns:a16="http://schemas.microsoft.com/office/drawing/2014/main" id="{89251BB0-EC30-480D-9DD7-8889A1BE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">
            <a:off x="3626839" y="3665040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0BDE0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POD repeat 8">
            <a:extLst xmlns:a="http://schemas.openxmlformats.org/drawingml/2006/main">
              <a:ext uri="{FF2B5EF4-FFF2-40B4-BE49-F238E27FC236}">
                <a16:creationId xmlns:a16="http://schemas.microsoft.com/office/drawing/2014/main" id="{BFE15F55-DA0C-4F66-AFED-70F7B979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">
            <a:off x="3726746" y="3674009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45A4CE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POD repeat 9">
            <a:extLst xmlns:a="http://schemas.openxmlformats.org/drawingml/2006/main">
              <a:ext uri="{FF2B5EF4-FFF2-40B4-BE49-F238E27FC236}">
                <a16:creationId xmlns:a16="http://schemas.microsoft.com/office/drawing/2014/main" id="{2D23D27F-6106-4A9A-909C-5FD804F2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">
            <a:off x="3826653" y="3691226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0BDE0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POD repeat 10">
            <a:extLst xmlns:a="http://schemas.openxmlformats.org/drawingml/2006/main">
              <a:ext uri="{FF2B5EF4-FFF2-40B4-BE49-F238E27FC236}">
                <a16:creationId xmlns:a16="http://schemas.microsoft.com/office/drawing/2014/main" id="{BCEAE232-E98B-4987-B3BA-11B0EB58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0000">
            <a:off x="3926559" y="3715289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45A4CE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POD repeat 11">
            <a:extLst xmlns:a="http://schemas.openxmlformats.org/drawingml/2006/main">
              <a:ext uri="{FF2B5EF4-FFF2-40B4-BE49-F238E27FC236}">
                <a16:creationId xmlns:a16="http://schemas.microsoft.com/office/drawing/2014/main" id="{2EC8A0D6-FAB8-4BC0-8671-DA24FBD4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">
            <a:off x="4026463" y="3744253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70BDE0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POD repeat 12">
            <a:extLst xmlns:a="http://schemas.openxmlformats.org/drawingml/2006/main">
              <a:ext uri="{FF2B5EF4-FFF2-40B4-BE49-F238E27FC236}">
                <a16:creationId xmlns:a16="http://schemas.microsoft.com/office/drawing/2014/main" id="{65AA9BA7-05F4-45C8-9D3C-E11E11B8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0000">
            <a:off x="4126369" y="3775773"/>
            <a:ext cx="91914" cy="19977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45A4CE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path-58">
            <a:extLst xmlns:a="http://schemas.openxmlformats.org/drawingml/2006/main">
              <a:ext uri="{FF2B5EF4-FFF2-40B4-BE49-F238E27FC236}">
                <a16:creationId xmlns:a16="http://schemas.microsoft.com/office/drawing/2014/main" id="{0E5102DE-B0C3-4A4C-A7B2-D4E66E5E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309" y="3703854"/>
            <a:ext cx="247766" cy="127854"/>
          </a:xfrm>
          <a:custGeom xmlns:a="http://schemas.openxmlformats.org/drawingml/2006/main">
            <a:rect l="0" t="0" r="0" b="0"/>
            <a:pathLst>
              <a:path w="590550" h="304800">
                <a:moveTo>
                  <a:pt x="0" y="266700"/>
                </a:moveTo>
                <a:cubicBezTo>
                  <a:pt x="161925" y="257175"/>
                  <a:pt x="219075" y="0"/>
                  <a:pt x="371475" y="66675"/>
                </a:cubicBezTo>
                <a:cubicBezTo>
                  <a:pt x="466725" y="142875"/>
                  <a:pt x="495300" y="228600"/>
                  <a:pt x="590550" y="2000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277">
            <a:solidFill>
              <a:srgbClr val="3F536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CETUS schematic">
            <a:extLst xmlns:a="http://schemas.openxmlformats.org/drawingml/2006/main">
              <a:ext uri="{FF2B5EF4-FFF2-40B4-BE49-F238E27FC236}">
                <a16:creationId xmlns:a16="http://schemas.microsoft.com/office/drawing/2014/main" id="{4C906830-D63E-4D9A-8713-58C9C26F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109" y="3635933"/>
            <a:ext cx="523505" cy="3715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F68"/>
          </a:solidFill>
          <a:ln xmlns:a="http://schemas.openxmlformats.org/drawingml/2006/main" w="14638">
            <a:solidFill>
              <a:srgbClr val="D8751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object-59">
            <a:extLst xmlns:a="http://schemas.openxmlformats.org/drawingml/2006/main">
              <a:ext uri="{FF2B5EF4-FFF2-40B4-BE49-F238E27FC236}">
                <a16:creationId xmlns:a16="http://schemas.microsoft.com/office/drawing/2014/main" id="{CD9184E4-CDCE-47FA-B730-712E480D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677" y="3751954"/>
            <a:ext cx="519509" cy="17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174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1052" b="1">
                <a:solidFill>
                  <a:srgbClr val="793A11"/>
                </a:solidFill>
                <a:latin typeface="Futura"/>
                <a:ea typeface="Futura"/>
                <a:cs typeface="Futura"/>
              </a:defRPr>
            </a:pPr>
            <a:r>
              <a:rPr sz="1052" b="1">
                <a:solidFill>
                  <a:srgbClr val="793A11"/>
                </a:solidFill>
                <a:latin typeface="Futura"/>
                <a:ea typeface="Futura"/>
                <a:cs typeface="Futura"/>
              </a:rPr>
              <a:t>CETUS</a:t>
            </a:r>
          </a:p>
        </p:txBody>
      </p:sp>
      <p:sp>
        <p:nvSpPr>
          <p:cNvPr id="79" name="path-60">
            <a:extLst xmlns:a="http://schemas.openxmlformats.org/drawingml/2006/main">
              <a:ext uri="{FF2B5EF4-FFF2-40B4-BE49-F238E27FC236}">
                <a16:creationId xmlns:a16="http://schemas.microsoft.com/office/drawing/2014/main" id="{02219EAB-6BA7-450C-AF06-028C83FF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556" y="4091410"/>
            <a:ext cx="2054659" cy="55936"/>
          </a:xfrm>
          <a:custGeom xmlns:a="http://schemas.openxmlformats.org/drawingml/2006/main">
            <a:rect l="0" t="0" r="0" b="0"/>
            <a:pathLst>
              <a:path w="5381625" h="133350">
                <a:moveTo>
                  <a:pt x="0" y="66675"/>
                </a:moveTo>
                <a:cubicBezTo>
                  <a:pt x="645795" y="-38100"/>
                  <a:pt x="914876" y="171450"/>
                  <a:pt x="1506855" y="66675"/>
                </a:cubicBezTo>
                <a:cubicBezTo>
                  <a:pt x="2098834" y="-38100"/>
                  <a:pt x="2367915" y="171450"/>
                  <a:pt x="3013710" y="66675"/>
                </a:cubicBezTo>
                <a:cubicBezTo>
                  <a:pt x="3767138" y="-38100"/>
                  <a:pt x="4520565" y="171450"/>
                  <a:pt x="5381625" y="66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1958">
            <a:solidFill>
              <a:srgbClr val="3556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object-61">
            <a:extLst xmlns:a="http://schemas.openxmlformats.org/drawingml/2006/main">
              <a:ext uri="{FF2B5EF4-FFF2-40B4-BE49-F238E27FC236}">
                <a16:creationId xmlns:a16="http://schemas.microsoft.com/office/drawing/2014/main" id="{5EB9B489-783F-448C-9947-16561066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004" y="4043465"/>
            <a:ext cx="145462" cy="135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174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defPPr>
            <a:lvl1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1pPr>
            <a:lvl2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2pPr>
            <a:lvl3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3pPr>
            <a:lvl4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4pPr>
            <a:lvl5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5pPr>
            <a:lvl6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6pPr>
            <a:lvl7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7pPr>
            <a:lvl8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8pPr>
            <a:lvl9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172C3B"/>
                </a:solidFill>
                <a:latin typeface="Futura"/>
                <a:ea typeface="Futura"/>
                <a:cs typeface="Futura"/>
              </a:rPr>
              <a:t>5′</a:t>
            </a:r>
          </a:p>
        </p:txBody>
      </p:sp>
      <p:sp>
        <p:nvSpPr>
          <p:cNvPr id="81" name="object-62">
            <a:extLst xmlns:a="http://schemas.openxmlformats.org/drawingml/2006/main">
              <a:ext uri="{FF2B5EF4-FFF2-40B4-BE49-F238E27FC236}">
                <a16:creationId xmlns:a16="http://schemas.microsoft.com/office/drawing/2014/main" id="{167FA562-B021-4B2A-8BA9-3C66A8E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81" y="4043465"/>
            <a:ext cx="145462" cy="135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174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defPPr>
            <a:lvl1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1pPr>
            <a:lvl2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2pPr>
            <a:lvl3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3pPr>
            <a:lvl4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4pPr>
            <a:lvl5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5pPr>
            <a:lvl6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6pPr>
            <a:lvl7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7pPr>
            <a:lvl8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8pPr>
            <a:lvl9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172C3B"/>
                </a:solidFill>
                <a:latin typeface="Futura"/>
                <a:ea typeface="Futura"/>
                <a:cs typeface="Futura"/>
              </a:rPr>
              <a:t>3′</a:t>
            </a:r>
          </a:p>
        </p:txBody>
      </p:sp>
      <p:sp>
        <p:nvSpPr>
          <p:cNvPr id="82" name="object-63">
            <a:extLst xmlns:a="http://schemas.openxmlformats.org/drawingml/2006/main">
              <a:ext uri="{FF2B5EF4-FFF2-40B4-BE49-F238E27FC236}">
                <a16:creationId xmlns:a16="http://schemas.microsoft.com/office/drawing/2014/main" id="{5DDF6516-AEA4-416E-AE33-4611801A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395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83" name="line-64">
            <a:extLst xmlns:a="http://schemas.openxmlformats.org/drawingml/2006/main">
              <a:ext uri="{FF2B5EF4-FFF2-40B4-BE49-F238E27FC236}">
                <a16:creationId xmlns:a16="http://schemas.microsoft.com/office/drawing/2014/main" id="{893DCEB1-94C4-40CC-89D7-C466367AE589}"/>
              </a:ext>
            </a:extLst>
          </p:cNvPr>
          <p:cNvCxnSpPr/>
          <p:nvPr/>
        </p:nvCxnSpPr>
        <p:spPr>
          <a:xfrm xmlns:a="http://schemas.openxmlformats.org/drawingml/2006/main">
            <a:off x="3071366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84" name="object-65">
            <a:extLst xmlns:a="http://schemas.openxmlformats.org/drawingml/2006/main">
              <a:ext uri="{FF2B5EF4-FFF2-40B4-BE49-F238E27FC236}">
                <a16:creationId xmlns:a16="http://schemas.microsoft.com/office/drawing/2014/main" id="{7AEF1F72-7EF9-43A7-81C0-C1BBBC67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305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85" name="line-66">
            <a:extLst xmlns:a="http://schemas.openxmlformats.org/drawingml/2006/main">
              <a:ext uri="{FF2B5EF4-FFF2-40B4-BE49-F238E27FC236}">
                <a16:creationId xmlns:a16="http://schemas.microsoft.com/office/drawing/2014/main" id="{34C04D6A-9FB1-4A5D-9267-466F6F7019D6}"/>
              </a:ext>
            </a:extLst>
          </p:cNvPr>
          <p:cNvCxnSpPr/>
          <p:nvPr/>
        </p:nvCxnSpPr>
        <p:spPr>
          <a:xfrm xmlns:a="http://schemas.openxmlformats.org/drawingml/2006/main">
            <a:off x="3167275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86" name="object-67">
            <a:extLst xmlns:a="http://schemas.openxmlformats.org/drawingml/2006/main">
              <a:ext uri="{FF2B5EF4-FFF2-40B4-BE49-F238E27FC236}">
                <a16:creationId xmlns:a16="http://schemas.microsoft.com/office/drawing/2014/main" id="{C75F5B47-88B5-4B7D-BCEA-863CC2BB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215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87" name="line-68">
            <a:extLst xmlns:a="http://schemas.openxmlformats.org/drawingml/2006/main">
              <a:ext uri="{FF2B5EF4-FFF2-40B4-BE49-F238E27FC236}">
                <a16:creationId xmlns:a16="http://schemas.microsoft.com/office/drawing/2014/main" id="{81CEDE01-4F01-4657-A2C8-6946B1FB5C19}"/>
              </a:ext>
            </a:extLst>
          </p:cNvPr>
          <p:cNvCxnSpPr/>
          <p:nvPr/>
        </p:nvCxnSpPr>
        <p:spPr>
          <a:xfrm xmlns:a="http://schemas.openxmlformats.org/drawingml/2006/main">
            <a:off x="3263185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88" name="object-69">
            <a:extLst xmlns:a="http://schemas.openxmlformats.org/drawingml/2006/main">
              <a:ext uri="{FF2B5EF4-FFF2-40B4-BE49-F238E27FC236}">
                <a16:creationId xmlns:a16="http://schemas.microsoft.com/office/drawing/2014/main" id="{519827ED-E264-46D0-BD31-4AC208FF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124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89" name="line-70">
            <a:extLst xmlns:a="http://schemas.openxmlformats.org/drawingml/2006/main">
              <a:ext uri="{FF2B5EF4-FFF2-40B4-BE49-F238E27FC236}">
                <a16:creationId xmlns:a16="http://schemas.microsoft.com/office/drawing/2014/main" id="{99C56DE7-9ED1-4B07-983A-C0A61BAB65DF}"/>
              </a:ext>
            </a:extLst>
          </p:cNvPr>
          <p:cNvCxnSpPr/>
          <p:nvPr/>
        </p:nvCxnSpPr>
        <p:spPr>
          <a:xfrm xmlns:a="http://schemas.openxmlformats.org/drawingml/2006/main">
            <a:off x="3359093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0" name="object-71">
            <a:extLst xmlns:a="http://schemas.openxmlformats.org/drawingml/2006/main">
              <a:ext uri="{FF2B5EF4-FFF2-40B4-BE49-F238E27FC236}">
                <a16:creationId xmlns:a16="http://schemas.microsoft.com/office/drawing/2014/main" id="{404F5124-BB93-4BBD-85AC-CDD2008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034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1" name="line-72">
            <a:extLst xmlns:a="http://schemas.openxmlformats.org/drawingml/2006/main">
              <a:ext uri="{FF2B5EF4-FFF2-40B4-BE49-F238E27FC236}">
                <a16:creationId xmlns:a16="http://schemas.microsoft.com/office/drawing/2014/main" id="{BDF09269-B9AF-41CC-A85C-5C99936E8155}"/>
              </a:ext>
            </a:extLst>
          </p:cNvPr>
          <p:cNvCxnSpPr/>
          <p:nvPr/>
        </p:nvCxnSpPr>
        <p:spPr>
          <a:xfrm xmlns:a="http://schemas.openxmlformats.org/drawingml/2006/main">
            <a:off x="3455003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2" name="object-73">
            <a:extLst xmlns:a="http://schemas.openxmlformats.org/drawingml/2006/main">
              <a:ext uri="{FF2B5EF4-FFF2-40B4-BE49-F238E27FC236}">
                <a16:creationId xmlns:a16="http://schemas.microsoft.com/office/drawing/2014/main" id="{CF54626D-7DDF-49C7-B18D-40A341E9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943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3" name="line-74">
            <a:extLst xmlns:a="http://schemas.openxmlformats.org/drawingml/2006/main">
              <a:ext uri="{FF2B5EF4-FFF2-40B4-BE49-F238E27FC236}">
                <a16:creationId xmlns:a16="http://schemas.microsoft.com/office/drawing/2014/main" id="{0B5A9E0A-006E-4B4B-A980-BDF87517E098}"/>
              </a:ext>
            </a:extLst>
          </p:cNvPr>
          <p:cNvCxnSpPr/>
          <p:nvPr/>
        </p:nvCxnSpPr>
        <p:spPr>
          <a:xfrm xmlns:a="http://schemas.openxmlformats.org/drawingml/2006/main">
            <a:off x="3550913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4" name="object-75">
            <a:extLst xmlns:a="http://schemas.openxmlformats.org/drawingml/2006/main">
              <a:ext uri="{FF2B5EF4-FFF2-40B4-BE49-F238E27FC236}">
                <a16:creationId xmlns:a16="http://schemas.microsoft.com/office/drawing/2014/main" id="{3F873CD2-C1F1-46A4-89B8-E90E42D8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851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5" name="line-76">
            <a:extLst xmlns:a="http://schemas.openxmlformats.org/drawingml/2006/main">
              <a:ext uri="{FF2B5EF4-FFF2-40B4-BE49-F238E27FC236}">
                <a16:creationId xmlns:a16="http://schemas.microsoft.com/office/drawing/2014/main" id="{BF2E94DC-CFD3-4907-9B22-283940AB7D49}"/>
              </a:ext>
            </a:extLst>
          </p:cNvPr>
          <p:cNvCxnSpPr/>
          <p:nvPr/>
        </p:nvCxnSpPr>
        <p:spPr>
          <a:xfrm xmlns:a="http://schemas.openxmlformats.org/drawingml/2006/main">
            <a:off x="3646821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6" name="object-77">
            <a:extLst xmlns:a="http://schemas.openxmlformats.org/drawingml/2006/main">
              <a:ext uri="{FF2B5EF4-FFF2-40B4-BE49-F238E27FC236}">
                <a16:creationId xmlns:a16="http://schemas.microsoft.com/office/drawing/2014/main" id="{B4B63C16-1B1D-4636-9F6F-4AF59E7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761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7" name="line-78">
            <a:extLst xmlns:a="http://schemas.openxmlformats.org/drawingml/2006/main">
              <a:ext uri="{FF2B5EF4-FFF2-40B4-BE49-F238E27FC236}">
                <a16:creationId xmlns:a16="http://schemas.microsoft.com/office/drawing/2014/main" id="{AC9E9C80-01C7-41F1-861D-D0E62BF2C263}"/>
              </a:ext>
            </a:extLst>
          </p:cNvPr>
          <p:cNvCxnSpPr/>
          <p:nvPr/>
        </p:nvCxnSpPr>
        <p:spPr>
          <a:xfrm xmlns:a="http://schemas.openxmlformats.org/drawingml/2006/main">
            <a:off x="3742731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98" name="object-79">
            <a:extLst xmlns:a="http://schemas.openxmlformats.org/drawingml/2006/main">
              <a:ext uri="{FF2B5EF4-FFF2-40B4-BE49-F238E27FC236}">
                <a16:creationId xmlns:a16="http://schemas.microsoft.com/office/drawing/2014/main" id="{6A0719B4-9149-4E17-86FE-C93A17D4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671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99" name="line-80">
            <a:extLst xmlns:a="http://schemas.openxmlformats.org/drawingml/2006/main">
              <a:ext uri="{FF2B5EF4-FFF2-40B4-BE49-F238E27FC236}">
                <a16:creationId xmlns:a16="http://schemas.microsoft.com/office/drawing/2014/main" id="{9024B0D6-B200-4AC7-8907-8BF94797E002}"/>
              </a:ext>
            </a:extLst>
          </p:cNvPr>
          <p:cNvCxnSpPr/>
          <p:nvPr/>
        </p:nvCxnSpPr>
        <p:spPr>
          <a:xfrm xmlns:a="http://schemas.openxmlformats.org/drawingml/2006/main">
            <a:off x="3838640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100" name="object-81">
            <a:extLst xmlns:a="http://schemas.openxmlformats.org/drawingml/2006/main">
              <a:ext uri="{FF2B5EF4-FFF2-40B4-BE49-F238E27FC236}">
                <a16:creationId xmlns:a16="http://schemas.microsoft.com/office/drawing/2014/main" id="{98D381FB-3B9A-41F9-9E01-28440369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580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01" name="line-82">
            <a:extLst xmlns:a="http://schemas.openxmlformats.org/drawingml/2006/main">
              <a:ext uri="{FF2B5EF4-FFF2-40B4-BE49-F238E27FC236}">
                <a16:creationId xmlns:a16="http://schemas.microsoft.com/office/drawing/2014/main" id="{7BB8B8A8-405A-46E4-A682-446BAECF6D33}"/>
              </a:ext>
            </a:extLst>
          </p:cNvPr>
          <p:cNvCxnSpPr/>
          <p:nvPr/>
        </p:nvCxnSpPr>
        <p:spPr>
          <a:xfrm xmlns:a="http://schemas.openxmlformats.org/drawingml/2006/main">
            <a:off x="3934549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102" name="object-83">
            <a:extLst xmlns:a="http://schemas.openxmlformats.org/drawingml/2006/main">
              <a:ext uri="{FF2B5EF4-FFF2-40B4-BE49-F238E27FC236}">
                <a16:creationId xmlns:a16="http://schemas.microsoft.com/office/drawing/2014/main" id="{298AA457-DAED-4DF9-B6BD-36201664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489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03" name="line-84">
            <a:extLst xmlns:a="http://schemas.openxmlformats.org/drawingml/2006/main">
              <a:ext uri="{FF2B5EF4-FFF2-40B4-BE49-F238E27FC236}">
                <a16:creationId xmlns:a16="http://schemas.microsoft.com/office/drawing/2014/main" id="{78C133D1-DA00-4015-93E2-EC7FA309890F}"/>
              </a:ext>
            </a:extLst>
          </p:cNvPr>
          <p:cNvCxnSpPr/>
          <p:nvPr/>
        </p:nvCxnSpPr>
        <p:spPr>
          <a:xfrm xmlns:a="http://schemas.openxmlformats.org/drawingml/2006/main">
            <a:off x="4030459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104" name="object-85">
            <a:extLst xmlns:a="http://schemas.openxmlformats.org/drawingml/2006/main">
              <a:ext uri="{FF2B5EF4-FFF2-40B4-BE49-F238E27FC236}">
                <a16:creationId xmlns:a16="http://schemas.microsoft.com/office/drawing/2014/main" id="{EF896B9C-4D74-4788-9D4A-183FFE1A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399" y="4075427"/>
            <a:ext cx="63939" cy="9988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D7EC"/>
          </a:solidFill>
          <a:ln xmlns:a="http://schemas.openxmlformats.org/drawingml/2006/main" w="1317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05" name="line-86">
            <a:extLst xmlns:a="http://schemas.openxmlformats.org/drawingml/2006/main">
              <a:ext uri="{FF2B5EF4-FFF2-40B4-BE49-F238E27FC236}">
                <a16:creationId xmlns:a16="http://schemas.microsoft.com/office/drawing/2014/main" id="{474A81A1-FE4B-4253-A147-52958B47C474}"/>
              </a:ext>
            </a:extLst>
          </p:cNvPr>
          <p:cNvCxnSpPr/>
          <p:nvPr/>
        </p:nvCxnSpPr>
        <p:spPr>
          <a:xfrm xmlns:a="http://schemas.openxmlformats.org/drawingml/2006/main">
            <a:off x="4126369" y="3995519"/>
            <a:ext cx="0" cy="79909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5C99B5"/>
            </a:solidFill>
            <a:prstDash val="solid"/>
            <a:tailEnd type="none" w="med" len="med"/>
          </a:ln>
        </p:spPr>
      </p:cxnSp>
      <p:sp>
        <p:nvSpPr>
          <p:cNvPr id="106" name="object-87">
            <a:extLst xmlns:a="http://schemas.openxmlformats.org/drawingml/2006/main">
              <a:ext uri="{FF2B5EF4-FFF2-40B4-BE49-F238E27FC236}">
                <a16:creationId xmlns:a16="http://schemas.microsoft.com/office/drawing/2014/main" id="{B59A097C-2515-4D25-9A19-EF698888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933" y="4035474"/>
            <a:ext cx="167841" cy="1678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28E"/>
          </a:solidFill>
          <a:ln xmlns:a="http://schemas.openxmlformats.org/drawingml/2006/main" w="13174">
            <a:solidFill>
              <a:srgbClr val="D8751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7" name="object-88">
            <a:extLst xmlns:a="http://schemas.openxmlformats.org/drawingml/2006/main">
              <a:ext uri="{FF2B5EF4-FFF2-40B4-BE49-F238E27FC236}">
                <a16:creationId xmlns:a16="http://schemas.microsoft.com/office/drawing/2014/main" id="{311347C7-93E1-4654-8F4E-03017A26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933" y="4035474"/>
            <a:ext cx="167841" cy="167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174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793A11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793A11"/>
                </a:solidFill>
                <a:latin typeface="Futura"/>
                <a:ea typeface="Futura"/>
                <a:cs typeface="Futura"/>
              </a:rPr>
              <a:t>C</a:t>
            </a:r>
          </a:p>
        </p:txBody>
      </p:sp>
      <p:cxnSp>
        <p:nvCxnSpPr>
          <p:cNvPr id="108" name="line-89">
            <a:extLst xmlns:a="http://schemas.openxmlformats.org/drawingml/2006/main">
              <a:ext uri="{FF2B5EF4-FFF2-40B4-BE49-F238E27FC236}">
                <a16:creationId xmlns:a16="http://schemas.microsoft.com/office/drawing/2014/main" id="{0B0C501C-3FB7-4EDB-B576-0E4D872720EE}"/>
              </a:ext>
            </a:extLst>
          </p:cNvPr>
          <p:cNvCxnSpPr/>
          <p:nvPr/>
        </p:nvCxnSpPr>
        <p:spPr>
          <a:xfrm xmlns:a="http://schemas.openxmlformats.org/drawingml/2006/main">
            <a:off x="4669856" y="4011502"/>
            <a:ext cx="0" cy="19978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D8751C"/>
            </a:solidFill>
            <a:prstDash val="solid"/>
            <a:tailEnd type="triangle" w="med" len="med"/>
          </a:ln>
        </p:spPr>
      </p:cxnSp>
      <p:sp>
        <p:nvSpPr>
          <p:cNvPr id="109" name="object-90">
            <a:extLst xmlns:a="http://schemas.openxmlformats.org/drawingml/2006/main">
              <a:ext uri="{FF2B5EF4-FFF2-40B4-BE49-F238E27FC236}">
                <a16:creationId xmlns:a16="http://schemas.microsoft.com/office/drawing/2014/main" id="{B5E608EE-0A77-4B92-BE36-E5F20F6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810" y="4262972"/>
            <a:ext cx="1255955" cy="18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174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defPPr>
            <a:lvl1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1pPr>
            <a:lvl2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2pPr>
            <a:lvl3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3pPr>
            <a:lvl4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4pPr>
            <a:lvl5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5pPr>
            <a:lvl6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6pPr>
            <a:lvl7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7pPr>
            <a:lvl8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8pPr>
            <a:lvl9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l">
              <a:buNone/>
              <a:defRPr sz="902" b="0">
                <a:solidFill>
                  <a:srgbClr val="172C3B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172C3B"/>
                </a:solidFill>
                <a:latin typeface="Futura"/>
                <a:ea typeface="Futura"/>
                <a:cs typeface="Futura"/>
              </a:rPr>
              <a:t>APOE4 RNA</a:t>
            </a:r>
          </a:p>
        </p:txBody>
      </p:sp>
      <p:cxnSp>
        <p:nvCxnSpPr>
          <p:cNvPr id="110" name="line-91">
            <a:extLst xmlns:a="http://schemas.openxmlformats.org/drawingml/2006/main">
              <a:ext uri="{FF2B5EF4-FFF2-40B4-BE49-F238E27FC236}">
                <a16:creationId xmlns:a16="http://schemas.microsoft.com/office/drawing/2014/main" id="{C02A5C77-9FC0-46C4-B20A-5A5434897193}"/>
              </a:ext>
            </a:extLst>
          </p:cNvPr>
          <p:cNvCxnSpPr/>
          <p:nvPr/>
        </p:nvCxnSpPr>
        <p:spPr>
          <a:xfrm xmlns:a="http://schemas.openxmlformats.org/drawingml/2006/main">
            <a:off x="4669856" y="4227253"/>
            <a:ext cx="0" cy="175798"/>
          </a:xfrm>
          <a:prstGeom xmlns:a="http://schemas.openxmlformats.org/drawingml/2006/main" prst="straightConnector1">
            <a:avLst/>
          </a:prstGeom>
          <a:ln xmlns:a="http://schemas.openxmlformats.org/drawingml/2006/main" w="16101">
            <a:solidFill>
              <a:srgbClr val="D8751C"/>
            </a:solidFill>
            <a:prstDash val="solid"/>
            <a:tailEnd type="triangle" w="med" len="med"/>
          </a:ln>
        </p:spPr>
      </p:cxnSp>
      <p:sp>
        <p:nvSpPr>
          <p:cNvPr id="111" name="object-92">
            <a:extLst xmlns:a="http://schemas.openxmlformats.org/drawingml/2006/main">
              <a:ext uri="{FF2B5EF4-FFF2-40B4-BE49-F238E27FC236}">
                <a16:creationId xmlns:a16="http://schemas.microsoft.com/office/drawing/2014/main" id="{C647B270-C926-444A-BE27-D1927793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933" y="4435013"/>
            <a:ext cx="167841" cy="16780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9B9"/>
          </a:solidFill>
          <a:ln xmlns:a="http://schemas.openxmlformats.org/drawingml/2006/main" w="13174">
            <a:solidFill>
              <a:srgbClr val="24824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2" name="object-93">
            <a:extLst xmlns:a="http://schemas.openxmlformats.org/drawingml/2006/main">
              <a:ext uri="{FF2B5EF4-FFF2-40B4-BE49-F238E27FC236}">
                <a16:creationId xmlns:a16="http://schemas.microsoft.com/office/drawing/2014/main" id="{BAB287D2-5F07-456F-983E-911684F6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933" y="4435013"/>
            <a:ext cx="167841" cy="167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174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1E633B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1E633B"/>
                </a:solidFill>
                <a:latin typeface="Futura"/>
                <a:ea typeface="Futura"/>
                <a:cs typeface="Futura"/>
              </a:rPr>
              <a:t>U</a:t>
            </a:r>
          </a:p>
        </p:txBody>
      </p:sp>
      <p:cxnSp>
        <p:nvCxnSpPr>
          <p:cNvPr id="113" name="line-94">
            <a:extLst xmlns:a="http://schemas.openxmlformats.org/drawingml/2006/main">
              <a:ext uri="{FF2B5EF4-FFF2-40B4-BE49-F238E27FC236}">
                <a16:creationId xmlns:a16="http://schemas.microsoft.com/office/drawing/2014/main" id="{60C1F3B5-DE2B-4E1D-A6B9-3571CB3043DE}"/>
              </a:ext>
            </a:extLst>
          </p:cNvPr>
          <p:cNvCxnSpPr/>
          <p:nvPr/>
        </p:nvCxnSpPr>
        <p:spPr>
          <a:xfrm xmlns:a="http://schemas.openxmlformats.org/drawingml/2006/main">
            <a:off x="4486029" y="4518916"/>
            <a:ext cx="95910" cy="0"/>
          </a:xfrm>
          <a:prstGeom xmlns:a="http://schemas.openxmlformats.org/drawingml/2006/main" prst="straightConnector1">
            <a:avLst/>
          </a:prstGeom>
          <a:ln xmlns:a="http://schemas.openxmlformats.org/drawingml/2006/main" w="21958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114" name="line-95">
            <a:extLst xmlns:a="http://schemas.openxmlformats.org/drawingml/2006/main">
              <a:ext uri="{FF2B5EF4-FFF2-40B4-BE49-F238E27FC236}">
                <a16:creationId xmlns:a16="http://schemas.microsoft.com/office/drawing/2014/main" id="{A02D5887-DC5E-4028-9F0F-F126399AF0BB}"/>
              </a:ext>
            </a:extLst>
          </p:cNvPr>
          <p:cNvCxnSpPr/>
          <p:nvPr/>
        </p:nvCxnSpPr>
        <p:spPr>
          <a:xfrm xmlns:a="http://schemas.openxmlformats.org/drawingml/2006/main">
            <a:off x="4757773" y="4518916"/>
            <a:ext cx="99906" cy="0"/>
          </a:xfrm>
          <a:prstGeom xmlns:a="http://schemas.openxmlformats.org/drawingml/2006/main" prst="straightConnector1">
            <a:avLst/>
          </a:prstGeom>
          <a:ln xmlns:a="http://schemas.openxmlformats.org/drawingml/2006/main" w="21958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18" name="object-99">
            <a:extLst xmlns:a="http://schemas.openxmlformats.org/drawingml/2006/main">
              <a:ext uri="{FF2B5EF4-FFF2-40B4-BE49-F238E27FC236}">
                <a16:creationId xmlns:a16="http://schemas.microsoft.com/office/drawing/2014/main" id="{0B96AF52-C5D4-40AA-8B52-FCC87E02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13" y="3092712"/>
            <a:ext cx="180037" cy="15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35566A"/>
                </a:solidFill>
                <a:latin typeface="Futura"/>
                <a:ea typeface="Futura"/>
                <a:cs typeface="Futura"/>
              </a:rPr>
              <a:t>5′</a:t>
            </a:r>
          </a:p>
        </p:txBody>
      </p:sp>
      <p:sp>
        <p:nvSpPr>
          <p:cNvPr id="119" name="object-100">
            <a:extLst xmlns:a="http://schemas.openxmlformats.org/drawingml/2006/main">
              <a:ext uri="{FF2B5EF4-FFF2-40B4-BE49-F238E27FC236}">
                <a16:creationId xmlns:a16="http://schemas.microsoft.com/office/drawing/2014/main" id="{1CEE0D7A-30A8-4070-9511-32AD90C1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81" y="3686711"/>
            <a:ext cx="180037" cy="150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l">
              <a:buNone/>
              <a:defRPr sz="902" b="0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35566A"/>
                </a:solidFill>
                <a:latin typeface="Futura"/>
                <a:ea typeface="Futura"/>
                <a:cs typeface="Futura"/>
              </a:rPr>
              <a:t>3′</a:t>
            </a:r>
          </a:p>
        </p:txBody>
      </p:sp>
      <p:cxnSp>
        <p:nvCxnSpPr>
          <p:cNvPr id="401" name="Portrait connector 401">
            <a:extLst xmlns:a="http://schemas.openxmlformats.org/drawingml/2006/main">
              <a:ext uri="{FF2B5EF4-FFF2-40B4-BE49-F238E27FC236}">
                <a16:creationId xmlns:a16="http://schemas.microsoft.com/office/drawing/2014/main" id="{34DCEB04-4471-4EAD-A9A7-58B9716C8E3D}"/>
              </a:ext>
            </a:extLst>
          </p:cNvPr>
          <p:cNvCxnSpPr/>
          <p:nvPr/>
        </p:nvCxnSpPr>
        <p:spPr>
          <a:xfrm xmlns:a="http://schemas.openxmlformats.org/drawingml/2006/main">
            <a:off x="5609925" y="3398712"/>
            <a:ext cx="171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153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2" name="Portrait connector 402">
            <a:extLst xmlns:a="http://schemas.openxmlformats.org/drawingml/2006/main">
              <a:ext uri="{FF2B5EF4-FFF2-40B4-BE49-F238E27FC236}">
                <a16:creationId xmlns:a16="http://schemas.microsoft.com/office/drawing/2014/main" id="{CB41B89A-6B45-46BF-931C-E65FC9C46DA0}"/>
              </a:ext>
            </a:extLst>
          </p:cNvPr>
          <p:cNvCxnSpPr/>
          <p:nvPr/>
        </p:nvCxnSpPr>
        <p:spPr>
          <a:xfrm xmlns:a="http://schemas.openxmlformats.org/drawingml/2006/main">
            <a:off x="7326275" y="3398712"/>
            <a:ext cx="12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153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3" name="Portrait connector 403">
            <a:extLst xmlns:a="http://schemas.openxmlformats.org/drawingml/2006/main">
              <a:ext uri="{FF2B5EF4-FFF2-40B4-BE49-F238E27FC236}">
                <a16:creationId xmlns:a16="http://schemas.microsoft.com/office/drawing/2014/main" id="{0A8E9247-1C6E-475F-9E87-450F3252754A}"/>
              </a:ext>
            </a:extLst>
          </p:cNvPr>
          <p:cNvCxnSpPr/>
          <p:nvPr/>
        </p:nvCxnSpPr>
        <p:spPr>
          <a:xfrm xmlns:a="http://schemas.openxmlformats.org/drawingml/2006/main">
            <a:off x="7446299" y="3398712"/>
            <a:ext cx="0" cy="186000"/>
          </a:xfrm>
          <a:prstGeom xmlns:a="http://schemas.openxmlformats.org/drawingml/2006/main" prst="straightConnector1">
            <a:avLst/>
          </a:prstGeom>
          <a:ln xmlns:a="http://schemas.openxmlformats.org/drawingml/2006/main" w="19153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4" name="Portrait connector 404">
            <a:extLst xmlns:a="http://schemas.openxmlformats.org/drawingml/2006/main">
              <a:ext uri="{FF2B5EF4-FFF2-40B4-BE49-F238E27FC236}">
                <a16:creationId xmlns:a16="http://schemas.microsoft.com/office/drawing/2014/main" id="{BF7CF8F8-B97D-4063-845B-2B0E3789E542}"/>
              </a:ext>
            </a:extLst>
          </p:cNvPr>
          <p:cNvCxnSpPr/>
          <p:nvPr/>
        </p:nvCxnSpPr>
        <p:spPr>
          <a:xfrm xmlns:a="http://schemas.openxmlformats.org/drawingml/2006/main" flipH="1">
            <a:off x="5609925" y="3584712"/>
            <a:ext cx="1836374" cy="0"/>
          </a:xfrm>
          <a:prstGeom xmlns:a="http://schemas.openxmlformats.org/drawingml/2006/main" prst="straightConnector1">
            <a:avLst/>
          </a:prstGeom>
          <a:ln xmlns:a="http://schemas.openxmlformats.org/drawingml/2006/main" w="19153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5" name="Portrait connector 405">
            <a:extLst xmlns:a="http://schemas.openxmlformats.org/drawingml/2006/main">
              <a:ext uri="{FF2B5EF4-FFF2-40B4-BE49-F238E27FC236}">
                <a16:creationId xmlns:a16="http://schemas.microsoft.com/office/drawing/2014/main" id="{1D891AD7-056C-420C-8AEE-A5E83A4528F5}"/>
              </a:ext>
            </a:extLst>
          </p:cNvPr>
          <p:cNvCxnSpPr/>
          <p:nvPr/>
        </p:nvCxnSpPr>
        <p:spPr>
          <a:xfrm xmlns:a="http://schemas.openxmlformats.org/drawingml/2006/main">
            <a:off x="5609925" y="3584712"/>
            <a:ext cx="0" cy="186000"/>
          </a:xfrm>
          <a:prstGeom xmlns:a="http://schemas.openxmlformats.org/drawingml/2006/main" prst="straightConnector1">
            <a:avLst/>
          </a:prstGeom>
          <a:ln xmlns:a="http://schemas.openxmlformats.org/drawingml/2006/main" w="19153">
            <a:solidFill>
              <a:srgbClr val="35566A"/>
            </a:solidFill>
            <a:prstDash val="solid"/>
            <a:tailEnd type="none" w="med" len="med"/>
          </a:ln>
        </p:spPr>
      </p:cxnSp>
      <p:cxnSp>
        <p:nvCxnSpPr>
          <p:cNvPr id="406" name="Portrait connector 406">
            <a:extLst xmlns:a="http://schemas.openxmlformats.org/drawingml/2006/main">
              <a:ext uri="{FF2B5EF4-FFF2-40B4-BE49-F238E27FC236}">
                <a16:creationId xmlns:a16="http://schemas.microsoft.com/office/drawing/2014/main" id="{71F6CB11-8B1A-49EE-A4CE-856C45F9486C}"/>
              </a:ext>
            </a:extLst>
          </p:cNvPr>
          <p:cNvCxnSpPr/>
          <p:nvPr/>
        </p:nvCxnSpPr>
        <p:spPr>
          <a:xfrm xmlns:a="http://schemas.openxmlformats.org/drawingml/2006/main">
            <a:off x="5609925" y="3770385"/>
            <a:ext cx="1716350" cy="0"/>
          </a:xfrm>
          <a:prstGeom xmlns:a="http://schemas.openxmlformats.org/drawingml/2006/main" prst="straightConnector1">
            <a:avLst/>
          </a:prstGeom>
          <a:ln xmlns:a="http://schemas.openxmlformats.org/drawingml/2006/main" w="19153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20" name="object-101">
            <a:extLst xmlns:a="http://schemas.openxmlformats.org/drawingml/2006/main">
              <a:ext uri="{FF2B5EF4-FFF2-40B4-BE49-F238E27FC236}">
                <a16:creationId xmlns:a16="http://schemas.microsoft.com/office/drawing/2014/main" id="{69A0EA10-3C32-4B7A-BC48-E48AFEEB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937" y="3290711"/>
            <a:ext cx="564115" cy="2160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C7CF"/>
          </a:solidFill>
          <a:ln xmlns:a="http://schemas.openxmlformats.org/drawingml/2006/main" w="14684">
            <a:solidFill>
              <a:srgbClr val="CB3D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1" name="object-102">
            <a:extLst xmlns:a="http://schemas.openxmlformats.org/drawingml/2006/main">
              <a:ext uri="{FF2B5EF4-FFF2-40B4-BE49-F238E27FC236}">
                <a16:creationId xmlns:a16="http://schemas.microsoft.com/office/drawing/2014/main" id="{2CC0D623-2A14-459E-8601-E5759165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937" y="3290711"/>
            <a:ext cx="564115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CB3D58"/>
                </a:solidFill>
                <a:latin typeface="Futura"/>
                <a:ea typeface="Futura"/>
                <a:cs typeface="Futura"/>
              </a:rPr>
              <a:t>mCherry</a:t>
            </a:r>
          </a:p>
        </p:txBody>
      </p:sp>
      <p:sp>
        <p:nvSpPr>
          <p:cNvPr id="122" name="object-103">
            <a:extLst xmlns:a="http://schemas.openxmlformats.org/drawingml/2006/main">
              <a:ext uri="{FF2B5EF4-FFF2-40B4-BE49-F238E27FC236}">
                <a16:creationId xmlns:a16="http://schemas.microsoft.com/office/drawing/2014/main" id="{D94EA09B-C9AD-468C-A40F-037FC51A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067" y="3290711"/>
            <a:ext cx="288059" cy="2160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2E9EE"/>
          </a:solidFill>
          <a:ln xmlns:a="http://schemas.openxmlformats.org/drawingml/2006/main" w="14684">
            <a:solidFill>
              <a:srgbClr val="536C8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3" name="object-104">
            <a:extLst xmlns:a="http://schemas.openxmlformats.org/drawingml/2006/main">
              <a:ext uri="{FF2B5EF4-FFF2-40B4-BE49-F238E27FC236}">
                <a16:creationId xmlns:a16="http://schemas.microsoft.com/office/drawing/2014/main" id="{65BB5679-9CFD-449B-B228-21E06A31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067" y="3290711"/>
            <a:ext cx="288059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536C80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536C80"/>
                </a:solidFill>
                <a:latin typeface="Futura"/>
                <a:ea typeface="Futura"/>
                <a:cs typeface="Futura"/>
              </a:rPr>
              <a:t>P2A</a:t>
            </a:r>
          </a:p>
        </p:txBody>
      </p:sp>
      <p:sp>
        <p:nvSpPr>
          <p:cNvPr id="124" name="object-105">
            <a:extLst xmlns:a="http://schemas.openxmlformats.org/drawingml/2006/main">
              <a:ext uri="{FF2B5EF4-FFF2-40B4-BE49-F238E27FC236}">
                <a16:creationId xmlns:a16="http://schemas.microsoft.com/office/drawing/2014/main" id="{EC8C40A9-744C-4C1E-BD75-BBE45862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141" y="3290711"/>
            <a:ext cx="510104" cy="2160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DE5CA"/>
          </a:solidFill>
          <a:ln xmlns:a="http://schemas.openxmlformats.org/drawingml/2006/main" w="14684">
            <a:solidFill>
              <a:srgbClr val="23855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5" name="object-106">
            <a:extLst xmlns:a="http://schemas.openxmlformats.org/drawingml/2006/main">
              <a:ext uri="{FF2B5EF4-FFF2-40B4-BE49-F238E27FC236}">
                <a16:creationId xmlns:a16="http://schemas.microsoft.com/office/drawing/2014/main" id="{D6F36DDA-D14B-4E36-B4E8-443D85F5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141" y="3290711"/>
            <a:ext cx="510104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238552"/>
                </a:solidFill>
                <a:latin typeface="Futura"/>
                <a:ea typeface="Futura"/>
                <a:cs typeface="Futura"/>
              </a:rPr>
              <a:t>EGFP</a:t>
            </a:r>
          </a:p>
        </p:txBody>
      </p:sp>
      <p:sp>
        <p:nvSpPr>
          <p:cNvPr id="126" name="object-107">
            <a:extLst xmlns:a="http://schemas.openxmlformats.org/drawingml/2006/main">
              <a:ext uri="{FF2B5EF4-FFF2-40B4-BE49-F238E27FC236}">
                <a16:creationId xmlns:a16="http://schemas.microsoft.com/office/drawing/2014/main" id="{BCBA8277-E27A-4ED5-A8BF-FC319E5D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937" y="3662385"/>
            <a:ext cx="676290" cy="2160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D3A9"/>
          </a:solidFill>
          <a:ln xmlns:a="http://schemas.openxmlformats.org/drawingml/2006/main" w="14684">
            <a:solidFill>
              <a:srgbClr val="B9571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7" name="object-108">
            <a:extLst xmlns:a="http://schemas.openxmlformats.org/drawingml/2006/main">
              <a:ext uri="{FF2B5EF4-FFF2-40B4-BE49-F238E27FC236}">
                <a16:creationId xmlns:a16="http://schemas.microsoft.com/office/drawing/2014/main" id="{B7A8A2BC-2482-4934-B45A-BFD4C89E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937" y="3662385"/>
            <a:ext cx="67629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B95712"/>
                </a:solidFill>
                <a:latin typeface="Futura"/>
                <a:ea typeface="Futura"/>
                <a:cs typeface="Futura"/>
              </a:rPr>
              <a:t>CGA</a:t>
            </a:r>
          </a:p>
        </p:txBody>
      </p:sp>
      <p:sp>
        <p:nvSpPr>
          <p:cNvPr id="128" name="object-109">
            <a:extLst xmlns:a="http://schemas.openxmlformats.org/drawingml/2006/main">
              <a:ext uri="{FF2B5EF4-FFF2-40B4-BE49-F238E27FC236}">
                <a16:creationId xmlns:a16="http://schemas.microsoft.com/office/drawing/2014/main" id="{1E94EA39-658C-48CE-A246-7267AB79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2385"/>
            <a:ext cx="775445" cy="2160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EE5EC"/>
          </a:solidFill>
          <a:ln xmlns:a="http://schemas.openxmlformats.org/drawingml/2006/main" w="14684">
            <a:solidFill>
              <a:srgbClr val="64778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9" name="object-110">
            <a:extLst xmlns:a="http://schemas.openxmlformats.org/drawingml/2006/main">
              <a:ext uri="{FF2B5EF4-FFF2-40B4-BE49-F238E27FC236}">
                <a16:creationId xmlns:a16="http://schemas.microsoft.com/office/drawing/2014/main" id="{C4483716-60D1-4F38-ABA8-FF6BF3A4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2385"/>
            <a:ext cx="775445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64778A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64778A"/>
                </a:solidFill>
                <a:latin typeface="Futura"/>
                <a:ea typeface="Futura"/>
                <a:cs typeface="Futura"/>
              </a:rPr>
              <a:t>ecDHFR</a:t>
            </a:r>
            <a:r>
              <a:rPr sz="902" b="0">
                <a:solidFill>
                  <a:srgbClr val="64778A"/>
                </a:solidFill>
                <a:latin typeface="Futura"/>
                <a:ea typeface="Futura"/>
                <a:cs typeface="Futura"/>
              </a:rPr>
              <a:t>-DD</a:t>
            </a:r>
          </a:p>
        </p:txBody>
      </p:sp>
      <p:sp>
        <p:nvSpPr>
          <p:cNvPr id="136" name="SAP application window">
            <a:extLst xmlns:a="http://schemas.openxmlformats.org/drawingml/2006/main">
              <a:ext uri="{FF2B5EF4-FFF2-40B4-BE49-F238E27FC236}">
                <a16:creationId xmlns:a16="http://schemas.microsoft.com/office/drawing/2014/main" id="{4ABD7B73-2F4B-4195-8EC2-311F6F39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13" y="4353291"/>
            <a:ext cx="2112430" cy="50400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961">
            <a:solidFill>
              <a:srgbClr val="B9571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7" name="object-117">
            <a:extLst xmlns:a="http://schemas.openxmlformats.org/drawingml/2006/main">
              <a:ext uri="{FF2B5EF4-FFF2-40B4-BE49-F238E27FC236}">
                <a16:creationId xmlns:a16="http://schemas.microsoft.com/office/drawing/2014/main" id="{24A274A5-9532-42B0-9058-275620E3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916" y="4362291"/>
            <a:ext cx="2088425" cy="157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5"/>
          </a:solidFill>
          <a:ln xmlns:a="http://schemas.openxmlformats.org/drawingml/2006/main" w="11492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8" name="object-118">
            <a:extLst xmlns:a="http://schemas.openxmlformats.org/drawingml/2006/main">
              <a:ext uri="{FF2B5EF4-FFF2-40B4-BE49-F238E27FC236}">
                <a16:creationId xmlns:a16="http://schemas.microsoft.com/office/drawing/2014/main" id="{743EC5E2-1827-4456-ADF5-5300C7ED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930" y="4416291"/>
            <a:ext cx="36007" cy="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712"/>
          </a:solidFill>
          <a:ln xmlns:a="http://schemas.openxmlformats.org/drawingml/2006/main" w="11492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9" name="object-119">
            <a:extLst xmlns:a="http://schemas.openxmlformats.org/drawingml/2006/main">
              <a:ext uri="{FF2B5EF4-FFF2-40B4-BE49-F238E27FC236}">
                <a16:creationId xmlns:a16="http://schemas.microsoft.com/office/drawing/2014/main" id="{C838F005-4EA7-4854-84E1-914A18F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948" y="4416291"/>
            <a:ext cx="36007" cy="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8C5D"/>
          </a:solidFill>
          <a:ln xmlns:a="http://schemas.openxmlformats.org/drawingml/2006/main" w="11492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0" name="object-120">
            <a:extLst xmlns:a="http://schemas.openxmlformats.org/drawingml/2006/main">
              <a:ext uri="{FF2B5EF4-FFF2-40B4-BE49-F238E27FC236}">
                <a16:creationId xmlns:a16="http://schemas.microsoft.com/office/drawing/2014/main" id="{C1EE614E-8034-4A0E-8CF0-3CEFAB24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965" y="4416291"/>
            <a:ext cx="36007" cy="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8C5D"/>
          </a:solidFill>
          <a:ln xmlns:a="http://schemas.openxmlformats.org/drawingml/2006/main" w="11492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1" name="object-121">
            <a:extLst xmlns:a="http://schemas.openxmlformats.org/drawingml/2006/main">
              <a:ext uri="{FF2B5EF4-FFF2-40B4-BE49-F238E27FC236}">
                <a16:creationId xmlns:a16="http://schemas.microsoft.com/office/drawing/2014/main" id="{49BFF26C-AC06-48A1-AAC1-A8FC871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982" y="4366791"/>
            <a:ext cx="1464299" cy="143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1052" b="1">
                <a:solidFill>
                  <a:srgbClr val="B95712"/>
                </a:solidFill>
                <a:latin typeface="Futura"/>
                <a:ea typeface="Futura"/>
                <a:cs typeface="Futura"/>
              </a:defRPr>
            </a:pPr>
            <a:r>
              <a:rPr sz="1052" b="1">
                <a:solidFill>
                  <a:srgbClr val="B95712"/>
                </a:solidFill>
                <a:latin typeface="Futura"/>
                <a:ea typeface="Futura"/>
                <a:cs typeface="Futura"/>
              </a:rPr>
              <a:t>SAP</a:t>
            </a:r>
          </a:p>
        </p:txBody>
      </p:sp>
      <p:cxnSp>
        <p:nvCxnSpPr>
          <p:cNvPr id="142" name="line-122">
            <a:extLst xmlns:a="http://schemas.openxmlformats.org/drawingml/2006/main">
              <a:ext uri="{FF2B5EF4-FFF2-40B4-BE49-F238E27FC236}">
                <a16:creationId xmlns:a16="http://schemas.microsoft.com/office/drawing/2014/main" id="{61D014B2-4AB1-4576-9419-999721C22843}"/>
              </a:ext>
            </a:extLst>
          </p:cNvPr>
          <p:cNvCxnSpPr/>
          <p:nvPr/>
        </p:nvCxnSpPr>
        <p:spPr>
          <a:xfrm xmlns:a="http://schemas.openxmlformats.org/drawingml/2006/main">
            <a:off x="6438094" y="4537791"/>
            <a:ext cx="0" cy="265500"/>
          </a:xfrm>
          <a:prstGeom xmlns:a="http://schemas.openxmlformats.org/drawingml/2006/main" prst="straightConnector1">
            <a:avLst/>
          </a:prstGeom>
          <a:ln xmlns:a="http://schemas.openxmlformats.org/drawingml/2006/main" w="14045">
            <a:solidFill>
              <a:srgbClr val="E2C4A7"/>
            </a:solidFill>
            <a:prstDash val="solid"/>
            <a:tailEnd type="none" w="med" len="med"/>
          </a:ln>
        </p:spPr>
      </p:cxnSp>
      <p:sp>
        <p:nvSpPr>
          <p:cNvPr id="151" name="object-131">
            <a:extLst xmlns:a="http://schemas.openxmlformats.org/drawingml/2006/main">
              <a:ext uri="{FF2B5EF4-FFF2-40B4-BE49-F238E27FC236}">
                <a16:creationId xmlns:a16="http://schemas.microsoft.com/office/drawing/2014/main" id="{03DA6429-412D-4AC7-B39E-9E0DB821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111" y="4596291"/>
            <a:ext cx="294060" cy="17550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11492">
            <a:solidFill>
              <a:srgbClr val="6D849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2" name="object-132">
            <a:extLst xmlns:a="http://schemas.openxmlformats.org/drawingml/2006/main">
              <a:ext uri="{FF2B5EF4-FFF2-40B4-BE49-F238E27FC236}">
                <a16:creationId xmlns:a16="http://schemas.microsoft.com/office/drawing/2014/main" id="{35B7F667-24E3-4BD6-A947-8CDECBC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111" y="4609790"/>
            <a:ext cx="294060" cy="1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496274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496274"/>
                </a:solidFill>
                <a:latin typeface="Futura"/>
                <a:ea typeface="Futura"/>
                <a:cs typeface="Futura"/>
              </a:rPr>
              <a:t>FCS</a:t>
            </a:r>
          </a:p>
        </p:txBody>
      </p:sp>
      <p:cxnSp>
        <p:nvCxnSpPr>
          <p:cNvPr id="153" name="line-133">
            <a:extLst xmlns:a="http://schemas.openxmlformats.org/drawingml/2006/main">
              <a:ext uri="{FF2B5EF4-FFF2-40B4-BE49-F238E27FC236}">
                <a16:creationId xmlns:a16="http://schemas.microsoft.com/office/drawing/2014/main" id="{94783CBC-BC23-490D-AA0F-96DC834D8BFC}"/>
              </a:ext>
            </a:extLst>
          </p:cNvPr>
          <p:cNvCxnSpPr/>
          <p:nvPr/>
        </p:nvCxnSpPr>
        <p:spPr>
          <a:xfrm xmlns:a="http://schemas.openxmlformats.org/drawingml/2006/main">
            <a:off x="6870182" y="4686291"/>
            <a:ext cx="126026" cy="0"/>
          </a:xfrm>
          <a:prstGeom xmlns:a="http://schemas.openxmlformats.org/drawingml/2006/main" prst="straightConnector1">
            <a:avLst/>
          </a:prstGeom>
          <a:ln xmlns:a="http://schemas.openxmlformats.org/drawingml/2006/main" w="14684">
            <a:solidFill>
              <a:srgbClr val="B95712"/>
            </a:solidFill>
            <a:prstDash val="solid"/>
            <a:tailEnd type="triangle" w="med" len="med"/>
          </a:ln>
        </p:spPr>
      </p:cxnSp>
      <p:sp>
        <p:nvSpPr>
          <p:cNvPr id="154" name="object-134">
            <a:extLst xmlns:a="http://schemas.openxmlformats.org/drawingml/2006/main">
              <a:ext uri="{FF2B5EF4-FFF2-40B4-BE49-F238E27FC236}">
                <a16:creationId xmlns:a16="http://schemas.microsoft.com/office/drawing/2014/main" id="{9C49A07B-9025-47A5-9CD7-F365254C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217" y="4609790"/>
            <a:ext cx="570116" cy="143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B95712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B95712"/>
                </a:solidFill>
                <a:latin typeface="Futura"/>
                <a:ea typeface="Futura"/>
                <a:cs typeface="Futura"/>
              </a:rPr>
              <a:t>RAS / RES</a:t>
            </a:r>
          </a:p>
        </p:txBody>
      </p:sp>
      <p:sp>
        <p:nvSpPr>
          <p:cNvPr id="2036" name="CONTROL 2036">
            <a:extLst xmlns:a="http://schemas.openxmlformats.org/drawingml/2006/main">
              <a:ext uri="{FF2B5EF4-FFF2-40B4-BE49-F238E27FC236}">
                <a16:creationId xmlns:a16="http://schemas.microsoft.com/office/drawing/2014/main" id="{D0FCDE4F-D9C9-44D7-B545-8C8499BA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14" y="5549657"/>
            <a:ext cx="954643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7943B4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3" b="1">
                <a:solidFill>
                  <a:srgbClr val="FFFFFF"/>
                </a:solidFill>
                <a:latin typeface="Futura"/>
                <a:ea typeface="Futura"/>
                <a:cs typeface="Futura"/>
              </a:rPr>
              <a:t>CONTROL</a:t>
            </a:r>
          </a:p>
        </p:txBody>
      </p:sp>
      <p:sp>
        <p:nvSpPr>
          <p:cNvPr id="2037" name="G.M.A.C. 2037">
            <a:extLst xmlns:a="http://schemas.openxmlformats.org/drawingml/2006/main">
              <a:ext uri="{FF2B5EF4-FFF2-40B4-BE49-F238E27FC236}">
                <a16:creationId xmlns:a16="http://schemas.microsoft.com/office/drawing/2014/main" id="{26FE4982-9E63-4D34-9707-B5588987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29" y="5549657"/>
            <a:ext cx="929186" cy="254545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6D9F3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3" b="1">
                <a:solidFill>
                  <a:srgbClr val="7943B4"/>
                </a:solidFill>
                <a:latin typeface="Georgia"/>
                <a:ea typeface="Georgia"/>
                <a:cs typeface="Georgia"/>
              </a:rPr>
              <a:t>G.M.A.C.</a:t>
            </a:r>
          </a:p>
        </p:txBody>
      </p:sp>
      <p:sp>
        <p:nvSpPr>
          <p:cNvPr id="2038" name="GFA 2038">
            <a:extLst xmlns:a="http://schemas.openxmlformats.org/drawingml/2006/main">
              <a:ext uri="{FF2B5EF4-FFF2-40B4-BE49-F238E27FC236}">
                <a16:creationId xmlns:a16="http://schemas.microsoft.com/office/drawing/2014/main" id="{1F35A4CF-1E66-4134-9187-A95043EA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14" y="5931514"/>
            <a:ext cx="1705629" cy="190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7943B4"/>
                </a:solidFill>
                <a:latin typeface="Futura"/>
                <a:ea typeface="Futura"/>
                <a:cs typeface="Futura"/>
              </a:rPr>
              <a:t>GFA</a:t>
            </a:r>
          </a:p>
        </p:txBody>
      </p:sp>
      <p:cxnSp>
        <p:nvCxnSpPr>
          <p:cNvPr id="168" name="line-148">
            <a:extLst xmlns:a="http://schemas.openxmlformats.org/drawingml/2006/main">
              <a:ext uri="{FF2B5EF4-FFF2-40B4-BE49-F238E27FC236}">
                <a16:creationId xmlns:a16="http://schemas.microsoft.com/office/drawing/2014/main" id="{1A2C5FF6-DAD7-41A4-BDA2-F9BA27285C3C}"/>
              </a:ext>
            </a:extLst>
          </p:cNvPr>
          <p:cNvCxnSpPr/>
          <p:nvPr/>
        </p:nvCxnSpPr>
        <p:spPr>
          <a:xfrm xmlns:a="http://schemas.openxmlformats.org/drawingml/2006/main">
            <a:off x="432771" y="6669254"/>
            <a:ext cx="1654714" cy="0"/>
          </a:xfrm>
          <a:prstGeom xmlns:a="http://schemas.openxmlformats.org/drawingml/2006/main" prst="straightConnector1">
            <a:avLst/>
          </a:prstGeom>
          <a:ln xmlns:a="http://schemas.openxmlformats.org/drawingml/2006/main" w="2820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70" name="object-150">
            <a:extLst xmlns:a="http://schemas.openxmlformats.org/drawingml/2006/main">
              <a:ext uri="{FF2B5EF4-FFF2-40B4-BE49-F238E27FC236}">
                <a16:creationId xmlns:a16="http://schemas.microsoft.com/office/drawing/2014/main" id="{4CB56688-CB72-4B7F-B020-3F85DA50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6" y="6552388"/>
            <a:ext cx="683051" cy="227237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DC9F0"/>
          </a:solidFill>
          <a:ln xmlns:a="http://schemas.openxmlformats.org/drawingml/2006/main" w="18804">
            <a:solidFill>
              <a:srgbClr val="7845A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1" name="object-151">
            <a:extLst xmlns:a="http://schemas.openxmlformats.org/drawingml/2006/main">
              <a:ext uri="{FF2B5EF4-FFF2-40B4-BE49-F238E27FC236}">
                <a16:creationId xmlns:a16="http://schemas.microsoft.com/office/drawing/2014/main" id="{7BEE0E5A-F560-457C-B939-D046F520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16" y="6552388"/>
            <a:ext cx="683051" cy="227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5D338B"/>
                </a:solidFill>
                <a:latin typeface="Futura"/>
                <a:ea typeface="Futura"/>
                <a:cs typeface="Futura"/>
              </a:rPr>
              <a:t>gfaABC1D</a:t>
            </a:r>
          </a:p>
        </p:txBody>
      </p:sp>
      <p:sp>
        <p:nvSpPr>
          <p:cNvPr id="172" name="object-152">
            <a:extLst xmlns:a="http://schemas.openxmlformats.org/drawingml/2006/main">
              <a:ext uri="{FF2B5EF4-FFF2-40B4-BE49-F238E27FC236}">
                <a16:creationId xmlns:a16="http://schemas.microsoft.com/office/drawing/2014/main" id="{CE0E4D17-BADB-439A-B822-BDF4E050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056" y="6565375"/>
            <a:ext cx="529124" cy="20776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5E9F3"/>
          </a:solidFill>
          <a:ln xmlns:a="http://schemas.openxmlformats.org/drawingml/2006/main" w="1880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3" name="object-153">
            <a:extLst xmlns:a="http://schemas.openxmlformats.org/drawingml/2006/main">
              <a:ext uri="{FF2B5EF4-FFF2-40B4-BE49-F238E27FC236}">
                <a16:creationId xmlns:a16="http://schemas.microsoft.com/office/drawing/2014/main" id="{59418B45-E50C-4462-9983-C9295CFF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056" y="6565375"/>
            <a:ext cx="529124" cy="20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cxnSp>
        <p:nvCxnSpPr>
          <p:cNvPr id="174" name="line-154">
            <a:extLst xmlns:a="http://schemas.openxmlformats.org/drawingml/2006/main">
              <a:ext uri="{FF2B5EF4-FFF2-40B4-BE49-F238E27FC236}">
                <a16:creationId xmlns:a16="http://schemas.microsoft.com/office/drawing/2014/main" id="{AB5BE489-63E0-45BB-80B0-8447CB1347FD}"/>
              </a:ext>
            </a:extLst>
          </p:cNvPr>
          <p:cNvCxnSpPr/>
          <p:nvPr/>
        </p:nvCxnSpPr>
        <p:spPr>
          <a:xfrm xmlns:a="http://schemas.openxmlformats.org/drawingml/2006/main" flipV="1">
            <a:off x="1149494" y="6435524"/>
            <a:ext cx="0" cy="90896"/>
          </a:xfrm>
          <a:prstGeom xmlns:a="http://schemas.openxmlformats.org/drawingml/2006/main" prst="straightConnector1">
            <a:avLst/>
          </a:prstGeom>
          <a:ln xmlns:a="http://schemas.openxmlformats.org/drawingml/2006/main" w="2350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75" name="line-155">
            <a:extLst xmlns:a="http://schemas.openxmlformats.org/drawingml/2006/main">
              <a:ext uri="{FF2B5EF4-FFF2-40B4-BE49-F238E27FC236}">
                <a16:creationId xmlns:a16="http://schemas.microsoft.com/office/drawing/2014/main" id="{DB55E695-32E2-462D-9955-0A17168B6D8A}"/>
              </a:ext>
            </a:extLst>
          </p:cNvPr>
          <p:cNvCxnSpPr/>
          <p:nvPr/>
        </p:nvCxnSpPr>
        <p:spPr>
          <a:xfrm xmlns:a="http://schemas.openxmlformats.org/drawingml/2006/main">
            <a:off x="1149494" y="6435524"/>
            <a:ext cx="235700" cy="0"/>
          </a:xfrm>
          <a:prstGeom xmlns:a="http://schemas.openxmlformats.org/drawingml/2006/main" prst="straightConnector1">
            <a:avLst/>
          </a:prstGeom>
          <a:ln xmlns:a="http://schemas.openxmlformats.org/drawingml/2006/main" w="23505">
            <a:solidFill>
              <a:srgbClr val="7845A9"/>
            </a:solidFill>
            <a:prstDash val="solid"/>
            <a:tailEnd type="triangle" w="med" len="med"/>
          </a:ln>
        </p:spPr>
      </p:cxnSp>
      <p:sp>
        <p:nvSpPr>
          <p:cNvPr id="2039" name="line 2039">
            <a:extLst xmlns:a="http://schemas.openxmlformats.org/drawingml/2006/main">
              <a:ext uri="{FF2B5EF4-FFF2-40B4-BE49-F238E27FC236}">
                <a16:creationId xmlns:a16="http://schemas.microsoft.com/office/drawing/2014/main" id="{7FC174EA-8CDB-4E97-8F22-985CCC0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586" y="5931514"/>
            <a:ext cx="0" cy="12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37">
            <a:solidFill>
              <a:srgbClr val="DCC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40" name="MRE 2040">
            <a:extLst xmlns:a="http://schemas.openxmlformats.org/drawingml/2006/main">
              <a:ext uri="{FF2B5EF4-FFF2-40B4-BE49-F238E27FC236}">
                <a16:creationId xmlns:a16="http://schemas.microsoft.com/office/drawing/2014/main" id="{16B163C5-3339-443E-9D85-F613272F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29" y="5931514"/>
            <a:ext cx="1705629" cy="190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7943B4"/>
                </a:solidFill>
                <a:latin typeface="Futura"/>
                <a:ea typeface="Futura"/>
                <a:cs typeface="Futura"/>
              </a:rPr>
              <a:t>MRE</a:t>
            </a:r>
          </a:p>
        </p:txBody>
      </p:sp>
      <p:sp>
        <p:nvSpPr>
          <p:cNvPr id="180" name="object-160">
            <a:extLst xmlns:a="http://schemas.openxmlformats.org/drawingml/2006/main">
              <a:ext uri="{FF2B5EF4-FFF2-40B4-BE49-F238E27FC236}">
                <a16:creationId xmlns:a16="http://schemas.microsoft.com/office/drawing/2014/main" id="{37A0D26A-A2DF-40D8-BADC-9F24A85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043" y="6198328"/>
            <a:ext cx="672229" cy="17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miRNA</a:t>
            </a:r>
          </a:p>
        </p:txBody>
      </p:sp>
      <p:cxnSp>
        <p:nvCxnSpPr>
          <p:cNvPr id="181" name="line-161">
            <a:extLst xmlns:a="http://schemas.openxmlformats.org/drawingml/2006/main">
              <a:ext uri="{FF2B5EF4-FFF2-40B4-BE49-F238E27FC236}">
                <a16:creationId xmlns:a16="http://schemas.microsoft.com/office/drawing/2014/main" id="{1D897B8F-E483-4911-AD8F-81E0735745CE}"/>
              </a:ext>
            </a:extLst>
          </p:cNvPr>
          <p:cNvCxnSpPr/>
          <p:nvPr/>
        </p:nvCxnSpPr>
        <p:spPr>
          <a:xfrm xmlns:a="http://schemas.openxmlformats.org/drawingml/2006/main">
            <a:off x="3238771" y="6452125"/>
            <a:ext cx="413679" cy="0"/>
          </a:xfrm>
          <a:prstGeom xmlns:a="http://schemas.openxmlformats.org/drawingml/2006/main" prst="straightConnector1">
            <a:avLst/>
          </a:prstGeom>
          <a:ln xmlns:a="http://schemas.openxmlformats.org/drawingml/2006/main" w="37607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82" name="line-162">
            <a:extLst xmlns:a="http://schemas.openxmlformats.org/drawingml/2006/main">
              <a:ext uri="{FF2B5EF4-FFF2-40B4-BE49-F238E27FC236}">
                <a16:creationId xmlns:a16="http://schemas.microsoft.com/office/drawing/2014/main" id="{77DFFACD-D18E-47A2-B55C-10150E386309}"/>
              </a:ext>
            </a:extLst>
          </p:cNvPr>
          <p:cNvCxnSpPr/>
          <p:nvPr/>
        </p:nvCxnSpPr>
        <p:spPr>
          <a:xfrm xmlns:a="http://schemas.openxmlformats.org/drawingml/2006/main">
            <a:off x="3257574" y="6464815"/>
            <a:ext cx="0" cy="8882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3" name="line-163">
            <a:extLst xmlns:a="http://schemas.openxmlformats.org/drawingml/2006/main">
              <a:ext uri="{FF2B5EF4-FFF2-40B4-BE49-F238E27FC236}">
                <a16:creationId xmlns:a16="http://schemas.microsoft.com/office/drawing/2014/main" id="{EBEFC197-22B6-4A6B-AB4F-F4131D7C2A18}"/>
              </a:ext>
            </a:extLst>
          </p:cNvPr>
          <p:cNvCxnSpPr/>
          <p:nvPr/>
        </p:nvCxnSpPr>
        <p:spPr>
          <a:xfrm xmlns:a="http://schemas.openxmlformats.org/drawingml/2006/main">
            <a:off x="3309285" y="6464815"/>
            <a:ext cx="0" cy="8882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4" name="line-164">
            <a:extLst xmlns:a="http://schemas.openxmlformats.org/drawingml/2006/main">
              <a:ext uri="{FF2B5EF4-FFF2-40B4-BE49-F238E27FC236}">
                <a16:creationId xmlns:a16="http://schemas.microsoft.com/office/drawing/2014/main" id="{1E78D016-9C54-4D1C-A01D-A7AB449866F4}"/>
              </a:ext>
            </a:extLst>
          </p:cNvPr>
          <p:cNvCxnSpPr/>
          <p:nvPr/>
        </p:nvCxnSpPr>
        <p:spPr>
          <a:xfrm xmlns:a="http://schemas.openxmlformats.org/drawingml/2006/main">
            <a:off x="3360994" y="6464815"/>
            <a:ext cx="0" cy="8882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5" name="line-165">
            <a:extLst xmlns:a="http://schemas.openxmlformats.org/drawingml/2006/main">
              <a:ext uri="{FF2B5EF4-FFF2-40B4-BE49-F238E27FC236}">
                <a16:creationId xmlns:a16="http://schemas.microsoft.com/office/drawing/2014/main" id="{45FA27E3-F1D4-4484-A8EC-CA610CB2E2DF}"/>
              </a:ext>
            </a:extLst>
          </p:cNvPr>
          <p:cNvCxnSpPr/>
          <p:nvPr/>
        </p:nvCxnSpPr>
        <p:spPr>
          <a:xfrm xmlns:a="http://schemas.openxmlformats.org/drawingml/2006/main">
            <a:off x="3412704" y="6464815"/>
            <a:ext cx="0" cy="8882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6" name="line-166">
            <a:extLst xmlns:a="http://schemas.openxmlformats.org/drawingml/2006/main">
              <a:ext uri="{FF2B5EF4-FFF2-40B4-BE49-F238E27FC236}">
                <a16:creationId xmlns:a16="http://schemas.microsoft.com/office/drawing/2014/main" id="{CC6C762A-B245-41F5-8098-6637842F05AB}"/>
              </a:ext>
            </a:extLst>
          </p:cNvPr>
          <p:cNvCxnSpPr/>
          <p:nvPr/>
        </p:nvCxnSpPr>
        <p:spPr>
          <a:xfrm xmlns:a="http://schemas.openxmlformats.org/drawingml/2006/main">
            <a:off x="3464414" y="6464815"/>
            <a:ext cx="0" cy="8882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7" name="line-167">
            <a:extLst xmlns:a="http://schemas.openxmlformats.org/drawingml/2006/main">
              <a:ext uri="{FF2B5EF4-FFF2-40B4-BE49-F238E27FC236}">
                <a16:creationId xmlns:a16="http://schemas.microsoft.com/office/drawing/2014/main" id="{35BD4E2D-1A08-4038-9721-B249C07D997B}"/>
              </a:ext>
            </a:extLst>
          </p:cNvPr>
          <p:cNvCxnSpPr/>
          <p:nvPr/>
        </p:nvCxnSpPr>
        <p:spPr>
          <a:xfrm xmlns:a="http://schemas.openxmlformats.org/drawingml/2006/main">
            <a:off x="3516124" y="6464815"/>
            <a:ext cx="0" cy="8882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8" name="line-168">
            <a:extLst xmlns:a="http://schemas.openxmlformats.org/drawingml/2006/main">
              <a:ext uri="{FF2B5EF4-FFF2-40B4-BE49-F238E27FC236}">
                <a16:creationId xmlns:a16="http://schemas.microsoft.com/office/drawing/2014/main" id="{D3652390-9898-45AA-AF26-98A18296DFAD}"/>
              </a:ext>
            </a:extLst>
          </p:cNvPr>
          <p:cNvCxnSpPr/>
          <p:nvPr/>
        </p:nvCxnSpPr>
        <p:spPr>
          <a:xfrm xmlns:a="http://schemas.openxmlformats.org/drawingml/2006/main">
            <a:off x="3567833" y="6464815"/>
            <a:ext cx="0" cy="8882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89" name="line-169">
            <a:extLst xmlns:a="http://schemas.openxmlformats.org/drawingml/2006/main">
              <a:ext uri="{FF2B5EF4-FFF2-40B4-BE49-F238E27FC236}">
                <a16:creationId xmlns:a16="http://schemas.microsoft.com/office/drawing/2014/main" id="{485CD7C5-5159-4E71-8C5C-63999240E39B}"/>
              </a:ext>
            </a:extLst>
          </p:cNvPr>
          <p:cNvCxnSpPr/>
          <p:nvPr/>
        </p:nvCxnSpPr>
        <p:spPr>
          <a:xfrm xmlns:a="http://schemas.openxmlformats.org/drawingml/2006/main">
            <a:off x="3619543" y="6464815"/>
            <a:ext cx="0" cy="8882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190" name="line-170">
            <a:extLst xmlns:a="http://schemas.openxmlformats.org/drawingml/2006/main">
              <a:ext uri="{FF2B5EF4-FFF2-40B4-BE49-F238E27FC236}">
                <a16:creationId xmlns:a16="http://schemas.microsoft.com/office/drawing/2014/main" id="{283AEB0F-8BBE-49DA-94D8-9C669D46FDDF}"/>
              </a:ext>
            </a:extLst>
          </p:cNvPr>
          <p:cNvCxnSpPr/>
          <p:nvPr/>
        </p:nvCxnSpPr>
        <p:spPr>
          <a:xfrm xmlns:a="http://schemas.openxmlformats.org/drawingml/2006/main">
            <a:off x="2265686" y="6686888"/>
            <a:ext cx="1654714" cy="0"/>
          </a:xfrm>
          <a:prstGeom xmlns:a="http://schemas.openxmlformats.org/drawingml/2006/main" prst="straightConnector1">
            <a:avLst/>
          </a:prstGeom>
          <a:ln xmlns:a="http://schemas.openxmlformats.org/drawingml/2006/main" w="2820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192" name="object-172">
            <a:extLst xmlns:a="http://schemas.openxmlformats.org/drawingml/2006/main">
              <a:ext uri="{FF2B5EF4-FFF2-40B4-BE49-F238E27FC236}">
                <a16:creationId xmlns:a16="http://schemas.microsoft.com/office/drawing/2014/main" id="{EC4DC564-353C-46A5-8A23-53F7555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498" y="6585370"/>
            <a:ext cx="517099" cy="203037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5E9F3"/>
          </a:solidFill>
          <a:ln xmlns:a="http://schemas.openxmlformats.org/drawingml/2006/main" w="1880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3" name="object-173">
            <a:extLst xmlns:a="http://schemas.openxmlformats.org/drawingml/2006/main">
              <a:ext uri="{FF2B5EF4-FFF2-40B4-BE49-F238E27FC236}">
                <a16:creationId xmlns:a16="http://schemas.microsoft.com/office/drawing/2014/main" id="{ECBB4225-CA0A-4177-8706-61FB8DEE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498" y="6585370"/>
            <a:ext cx="517099" cy="203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194" name="object-174">
            <a:extLst xmlns:a="http://schemas.openxmlformats.org/drawingml/2006/main">
              <a:ext uri="{FF2B5EF4-FFF2-40B4-BE49-F238E27FC236}">
                <a16:creationId xmlns:a16="http://schemas.microsoft.com/office/drawing/2014/main" id="{701C9BC3-2C9F-47EB-A828-9FAF7DBC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717" y="6617091"/>
            <a:ext cx="225643" cy="139587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C9F0"/>
          </a:solidFill>
          <a:ln xmlns:a="http://schemas.openxmlformats.org/drawingml/2006/main" w="18804">
            <a:solidFill>
              <a:srgbClr val="7845A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95" name="line-175">
            <a:extLst xmlns:a="http://schemas.openxmlformats.org/drawingml/2006/main">
              <a:ext uri="{FF2B5EF4-FFF2-40B4-BE49-F238E27FC236}">
                <a16:creationId xmlns:a16="http://schemas.microsoft.com/office/drawing/2014/main" id="{8A969653-479A-48ED-A349-B6454B63F5C5}"/>
              </a:ext>
            </a:extLst>
          </p:cNvPr>
          <p:cNvCxnSpPr/>
          <p:nvPr/>
        </p:nvCxnSpPr>
        <p:spPr>
          <a:xfrm xmlns:a="http://schemas.openxmlformats.org/drawingml/2006/main">
            <a:off x="2994324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96" name="line-176">
            <a:extLst xmlns:a="http://schemas.openxmlformats.org/drawingml/2006/main">
              <a:ext uri="{FF2B5EF4-FFF2-40B4-BE49-F238E27FC236}">
                <a16:creationId xmlns:a16="http://schemas.microsoft.com/office/drawing/2014/main" id="{32C835E5-5A3F-4047-BA43-D2D5815FE2AA}"/>
              </a:ext>
            </a:extLst>
          </p:cNvPr>
          <p:cNvCxnSpPr/>
          <p:nvPr/>
        </p:nvCxnSpPr>
        <p:spPr>
          <a:xfrm xmlns:a="http://schemas.openxmlformats.org/drawingml/2006/main">
            <a:off x="3041332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97" name="line-177">
            <a:extLst xmlns:a="http://schemas.openxmlformats.org/drawingml/2006/main">
              <a:ext uri="{FF2B5EF4-FFF2-40B4-BE49-F238E27FC236}">
                <a16:creationId xmlns:a16="http://schemas.microsoft.com/office/drawing/2014/main" id="{86E183A6-6DAB-44C1-B74B-6BD410F8F523}"/>
              </a:ext>
            </a:extLst>
          </p:cNvPr>
          <p:cNvCxnSpPr/>
          <p:nvPr/>
        </p:nvCxnSpPr>
        <p:spPr>
          <a:xfrm xmlns:a="http://schemas.openxmlformats.org/drawingml/2006/main">
            <a:off x="3088342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198" name="line-178">
            <a:extLst xmlns:a="http://schemas.openxmlformats.org/drawingml/2006/main">
              <a:ext uri="{FF2B5EF4-FFF2-40B4-BE49-F238E27FC236}">
                <a16:creationId xmlns:a16="http://schemas.microsoft.com/office/drawing/2014/main" id="{E22D1979-880D-412A-9D39-630E5337CCA5}"/>
              </a:ext>
            </a:extLst>
          </p:cNvPr>
          <p:cNvCxnSpPr/>
          <p:nvPr/>
        </p:nvCxnSpPr>
        <p:spPr>
          <a:xfrm xmlns:a="http://schemas.openxmlformats.org/drawingml/2006/main">
            <a:off x="3135350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sp>
        <p:nvSpPr>
          <p:cNvPr id="199" name="object-179">
            <a:extLst xmlns:a="http://schemas.openxmlformats.org/drawingml/2006/main">
              <a:ext uri="{FF2B5EF4-FFF2-40B4-BE49-F238E27FC236}">
                <a16:creationId xmlns:a16="http://schemas.microsoft.com/office/drawing/2014/main" id="{AC9D8ED3-8C09-4732-B9B5-B2A45183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74" y="6617091"/>
            <a:ext cx="225643" cy="139587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C9F0"/>
          </a:solidFill>
          <a:ln xmlns:a="http://schemas.openxmlformats.org/drawingml/2006/main" w="18804">
            <a:solidFill>
              <a:srgbClr val="7845A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00" name="line-180">
            <a:extLst xmlns:a="http://schemas.openxmlformats.org/drawingml/2006/main">
              <a:ext uri="{FF2B5EF4-FFF2-40B4-BE49-F238E27FC236}">
                <a16:creationId xmlns:a16="http://schemas.microsoft.com/office/drawing/2014/main" id="{5CB6E1BD-31CA-40A1-9FE6-72ABDF085F5B}"/>
              </a:ext>
            </a:extLst>
          </p:cNvPr>
          <p:cNvCxnSpPr/>
          <p:nvPr/>
        </p:nvCxnSpPr>
        <p:spPr>
          <a:xfrm xmlns:a="http://schemas.openxmlformats.org/drawingml/2006/main">
            <a:off x="3290481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1" name="line-181">
            <a:extLst xmlns:a="http://schemas.openxmlformats.org/drawingml/2006/main">
              <a:ext uri="{FF2B5EF4-FFF2-40B4-BE49-F238E27FC236}">
                <a16:creationId xmlns:a16="http://schemas.microsoft.com/office/drawing/2014/main" id="{39179970-E884-451E-AB27-AD6A4550778A}"/>
              </a:ext>
            </a:extLst>
          </p:cNvPr>
          <p:cNvCxnSpPr/>
          <p:nvPr/>
        </p:nvCxnSpPr>
        <p:spPr>
          <a:xfrm xmlns:a="http://schemas.openxmlformats.org/drawingml/2006/main">
            <a:off x="3337489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2" name="line-182">
            <a:extLst xmlns:a="http://schemas.openxmlformats.org/drawingml/2006/main">
              <a:ext uri="{FF2B5EF4-FFF2-40B4-BE49-F238E27FC236}">
                <a16:creationId xmlns:a16="http://schemas.microsoft.com/office/drawing/2014/main" id="{A6E46EE3-C625-4EE1-9130-0E247DB6545B}"/>
              </a:ext>
            </a:extLst>
          </p:cNvPr>
          <p:cNvCxnSpPr/>
          <p:nvPr/>
        </p:nvCxnSpPr>
        <p:spPr>
          <a:xfrm xmlns:a="http://schemas.openxmlformats.org/drawingml/2006/main">
            <a:off x="3384498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3" name="line-183">
            <a:extLst xmlns:a="http://schemas.openxmlformats.org/drawingml/2006/main">
              <a:ext uri="{FF2B5EF4-FFF2-40B4-BE49-F238E27FC236}">
                <a16:creationId xmlns:a16="http://schemas.microsoft.com/office/drawing/2014/main" id="{D6F97FD9-2890-41ED-A2ED-3F4545783487}"/>
              </a:ext>
            </a:extLst>
          </p:cNvPr>
          <p:cNvCxnSpPr/>
          <p:nvPr/>
        </p:nvCxnSpPr>
        <p:spPr>
          <a:xfrm xmlns:a="http://schemas.openxmlformats.org/drawingml/2006/main">
            <a:off x="3431507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sp>
        <p:nvSpPr>
          <p:cNvPr id="204" name="object-184">
            <a:extLst xmlns:a="http://schemas.openxmlformats.org/drawingml/2006/main">
              <a:ext uri="{FF2B5EF4-FFF2-40B4-BE49-F238E27FC236}">
                <a16:creationId xmlns:a16="http://schemas.microsoft.com/office/drawing/2014/main" id="{0B3758BC-EC37-41AF-9E77-FD794C02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030" y="6617091"/>
            <a:ext cx="225643" cy="139587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DC9F0"/>
          </a:solidFill>
          <a:ln xmlns:a="http://schemas.openxmlformats.org/drawingml/2006/main" w="18804">
            <a:solidFill>
              <a:srgbClr val="7845A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05" name="line-185">
            <a:extLst xmlns:a="http://schemas.openxmlformats.org/drawingml/2006/main">
              <a:ext uri="{FF2B5EF4-FFF2-40B4-BE49-F238E27FC236}">
                <a16:creationId xmlns:a16="http://schemas.microsoft.com/office/drawing/2014/main" id="{A6FBFC7D-C643-4C1D-8865-B8BB1B2477DF}"/>
              </a:ext>
            </a:extLst>
          </p:cNvPr>
          <p:cNvCxnSpPr/>
          <p:nvPr/>
        </p:nvCxnSpPr>
        <p:spPr>
          <a:xfrm xmlns:a="http://schemas.openxmlformats.org/drawingml/2006/main">
            <a:off x="3586637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6" name="line-186">
            <a:extLst xmlns:a="http://schemas.openxmlformats.org/drawingml/2006/main">
              <a:ext uri="{FF2B5EF4-FFF2-40B4-BE49-F238E27FC236}">
                <a16:creationId xmlns:a16="http://schemas.microsoft.com/office/drawing/2014/main" id="{BBBA7092-6575-42AC-AFF1-5D4205BAD5DD}"/>
              </a:ext>
            </a:extLst>
          </p:cNvPr>
          <p:cNvCxnSpPr/>
          <p:nvPr/>
        </p:nvCxnSpPr>
        <p:spPr>
          <a:xfrm xmlns:a="http://schemas.openxmlformats.org/drawingml/2006/main">
            <a:off x="3633646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7" name="line-187">
            <a:extLst xmlns:a="http://schemas.openxmlformats.org/drawingml/2006/main">
              <a:ext uri="{FF2B5EF4-FFF2-40B4-BE49-F238E27FC236}">
                <a16:creationId xmlns:a16="http://schemas.microsoft.com/office/drawing/2014/main" id="{EC8C317F-D454-4942-9C72-D8ED710E611F}"/>
              </a:ext>
            </a:extLst>
          </p:cNvPr>
          <p:cNvCxnSpPr/>
          <p:nvPr/>
        </p:nvCxnSpPr>
        <p:spPr>
          <a:xfrm xmlns:a="http://schemas.openxmlformats.org/drawingml/2006/main">
            <a:off x="3680655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08" name="line-188">
            <a:extLst xmlns:a="http://schemas.openxmlformats.org/drawingml/2006/main">
              <a:ext uri="{FF2B5EF4-FFF2-40B4-BE49-F238E27FC236}">
                <a16:creationId xmlns:a16="http://schemas.microsoft.com/office/drawing/2014/main" id="{4F06AE7D-5A3E-45FF-9515-5B384F29A882}"/>
              </a:ext>
            </a:extLst>
          </p:cNvPr>
          <p:cNvCxnSpPr/>
          <p:nvPr/>
        </p:nvCxnSpPr>
        <p:spPr>
          <a:xfrm xmlns:a="http://schemas.openxmlformats.org/drawingml/2006/main">
            <a:off x="3727665" y="6566334"/>
            <a:ext cx="0" cy="5710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sp>
        <p:nvSpPr>
          <p:cNvPr id="209" name="object-189">
            <a:extLst xmlns:a="http://schemas.openxmlformats.org/drawingml/2006/main">
              <a:ext uri="{FF2B5EF4-FFF2-40B4-BE49-F238E27FC236}">
                <a16:creationId xmlns:a16="http://schemas.microsoft.com/office/drawing/2014/main" id="{1DD1BB28-DEDC-449E-99B1-2E9A48CB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717" y="6845510"/>
            <a:ext cx="817956" cy="17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rPr>
              <a:t>3′ UTR</a:t>
            </a:r>
          </a:p>
        </p:txBody>
      </p:sp>
      <p:sp>
        <p:nvSpPr>
          <p:cNvPr id="302" name="Unified component 302">
            <a:extLst xmlns:a="http://schemas.openxmlformats.org/drawingml/2006/main">
              <a:ext uri="{FF2B5EF4-FFF2-40B4-BE49-F238E27FC236}">
                <a16:creationId xmlns:a16="http://schemas.microsoft.com/office/drawing/2014/main" id="{33F7A7F7-C259-4C3D-9D2E-ACC17F25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087" y="6845510"/>
            <a:ext cx="629919" cy="171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rPr>
              <a:t>mRNA</a:t>
            </a:r>
          </a:p>
        </p:txBody>
      </p:sp>
      <p:sp>
        <p:nvSpPr>
          <p:cNvPr id="2041" name="line 2041">
            <a:extLst xmlns:a="http://schemas.openxmlformats.org/drawingml/2006/main">
              <a:ext uri="{FF2B5EF4-FFF2-40B4-BE49-F238E27FC236}">
                <a16:creationId xmlns:a16="http://schemas.microsoft.com/office/drawing/2014/main" id="{6BB4C0F3-5813-4EA3-ACBC-980B588D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500" y="5931514"/>
            <a:ext cx="0" cy="12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37">
            <a:solidFill>
              <a:srgbClr val="DCC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42" name="ASO 2042">
            <a:extLst xmlns:a="http://schemas.openxmlformats.org/drawingml/2006/main">
              <a:ext uri="{FF2B5EF4-FFF2-40B4-BE49-F238E27FC236}">
                <a16:creationId xmlns:a16="http://schemas.microsoft.com/office/drawing/2014/main" id="{5F5093FF-7307-4897-95DD-6717307B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143" y="5931514"/>
            <a:ext cx="1705629" cy="190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7943B4"/>
                </a:solidFill>
                <a:latin typeface="Futura"/>
                <a:ea typeface="Futura"/>
                <a:cs typeface="Futura"/>
              </a:rPr>
              <a:t>ASO</a:t>
            </a:r>
          </a:p>
        </p:txBody>
      </p:sp>
      <p:sp>
        <p:nvSpPr>
          <p:cNvPr id="210" name="object-190">
            <a:extLst xmlns:a="http://schemas.openxmlformats.org/drawingml/2006/main">
              <a:ext uri="{FF2B5EF4-FFF2-40B4-BE49-F238E27FC236}">
                <a16:creationId xmlns:a16="http://schemas.microsoft.com/office/drawing/2014/main" id="{B940B8D5-ADC2-4CA0-AE6E-F697384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489" y="6199789"/>
            <a:ext cx="836653" cy="169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Gapmer ASO</a:t>
            </a:r>
          </a:p>
        </p:txBody>
      </p:sp>
      <p:sp>
        <p:nvSpPr>
          <p:cNvPr id="211" name="object-191">
            <a:extLst xmlns:a="http://schemas.openxmlformats.org/drawingml/2006/main">
              <a:ext uri="{FF2B5EF4-FFF2-40B4-BE49-F238E27FC236}">
                <a16:creationId xmlns:a16="http://schemas.microsoft.com/office/drawing/2014/main" id="{2016D28B-3117-4BB8-8A2F-834C6314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562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5A9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2" name="object-192">
            <a:extLst xmlns:a="http://schemas.openxmlformats.org/drawingml/2006/main">
              <a:ext uri="{FF2B5EF4-FFF2-40B4-BE49-F238E27FC236}">
                <a16:creationId xmlns:a16="http://schemas.microsoft.com/office/drawing/2014/main" id="{8B9929CF-8EAA-4771-9363-6B5A9131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635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5A9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3" name="object-193">
            <a:extLst xmlns:a="http://schemas.openxmlformats.org/drawingml/2006/main">
              <a:ext uri="{FF2B5EF4-FFF2-40B4-BE49-F238E27FC236}">
                <a16:creationId xmlns:a16="http://schemas.microsoft.com/office/drawing/2014/main" id="{83DFC55D-D4DB-431F-AA68-1311F16E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708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5A9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4" name="object-194">
            <a:extLst xmlns:a="http://schemas.openxmlformats.org/drawingml/2006/main">
              <a:ext uri="{FF2B5EF4-FFF2-40B4-BE49-F238E27FC236}">
                <a16:creationId xmlns:a16="http://schemas.microsoft.com/office/drawing/2014/main" id="{0DE63457-0372-4593-99D0-16798F1B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780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9E4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5" name="object-195">
            <a:extLst xmlns:a="http://schemas.openxmlformats.org/drawingml/2006/main">
              <a:ext uri="{FF2B5EF4-FFF2-40B4-BE49-F238E27FC236}">
                <a16:creationId xmlns:a16="http://schemas.microsoft.com/office/drawing/2014/main" id="{7E3A4963-B791-450F-8924-727FEE4E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854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9E4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6" name="object-196">
            <a:extLst xmlns:a="http://schemas.openxmlformats.org/drawingml/2006/main">
              <a:ext uri="{FF2B5EF4-FFF2-40B4-BE49-F238E27FC236}">
                <a16:creationId xmlns:a16="http://schemas.microsoft.com/office/drawing/2014/main" id="{1C2864D4-8919-43ED-B2B2-1F053DD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927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9E4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7" name="object-197">
            <a:extLst xmlns:a="http://schemas.openxmlformats.org/drawingml/2006/main">
              <a:ext uri="{FF2B5EF4-FFF2-40B4-BE49-F238E27FC236}">
                <a16:creationId xmlns:a16="http://schemas.microsoft.com/office/drawing/2014/main" id="{86BE5EA2-C3A4-4587-B635-F6A015BF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000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9E4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8" name="object-198">
            <a:extLst xmlns:a="http://schemas.openxmlformats.org/drawingml/2006/main">
              <a:ext uri="{FF2B5EF4-FFF2-40B4-BE49-F238E27FC236}">
                <a16:creationId xmlns:a16="http://schemas.microsoft.com/office/drawing/2014/main" id="{9134E572-4A7F-4C8B-A19A-23D448B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7073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5A9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9" name="object-199">
            <a:extLst xmlns:a="http://schemas.openxmlformats.org/drawingml/2006/main">
              <a:ext uri="{FF2B5EF4-FFF2-40B4-BE49-F238E27FC236}">
                <a16:creationId xmlns:a16="http://schemas.microsoft.com/office/drawing/2014/main" id="{EE1C1BF2-667C-437D-B192-58BEC96F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147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5A9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0" name="object-200">
            <a:extLst xmlns:a="http://schemas.openxmlformats.org/drawingml/2006/main">
              <a:ext uri="{FF2B5EF4-FFF2-40B4-BE49-F238E27FC236}">
                <a16:creationId xmlns:a16="http://schemas.microsoft.com/office/drawing/2014/main" id="{3A50F6A8-9057-466F-BFA5-8BDCC2F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219" y="6463284"/>
            <a:ext cx="55777" cy="62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45A9"/>
          </a:solidFill>
          <a:ln xmlns:a="http://schemas.openxmlformats.org/drawingml/2006/main" w="1692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21" name="line-201">
            <a:extLst xmlns:a="http://schemas.openxmlformats.org/drawingml/2006/main">
              <a:ext uri="{FF2B5EF4-FFF2-40B4-BE49-F238E27FC236}">
                <a16:creationId xmlns:a16="http://schemas.microsoft.com/office/drawing/2014/main" id="{80B63EBF-C480-454E-86C8-AAD20B4E24FB}"/>
              </a:ext>
            </a:extLst>
          </p:cNvPr>
          <p:cNvCxnSpPr/>
          <p:nvPr/>
        </p:nvCxnSpPr>
        <p:spPr>
          <a:xfrm xmlns:a="http://schemas.openxmlformats.org/drawingml/2006/main">
            <a:off x="4098600" y="6689134"/>
            <a:ext cx="1654714" cy="0"/>
          </a:xfrm>
          <a:prstGeom xmlns:a="http://schemas.openxmlformats.org/drawingml/2006/main" prst="straightConnector1">
            <a:avLst/>
          </a:prstGeom>
          <a:ln xmlns:a="http://schemas.openxmlformats.org/drawingml/2006/main" w="28205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223" name="object-203">
            <a:extLst xmlns:a="http://schemas.openxmlformats.org/drawingml/2006/main">
              <a:ext uri="{FF2B5EF4-FFF2-40B4-BE49-F238E27FC236}">
                <a16:creationId xmlns:a16="http://schemas.microsoft.com/office/drawing/2014/main" id="{858D7FEB-8F1D-4198-8DA0-8707239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377" y="6613850"/>
            <a:ext cx="687914" cy="15056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9D8F5"/>
          </a:solidFill>
          <a:ln xmlns:a="http://schemas.openxmlformats.org/drawingml/2006/main" w="16923">
            <a:solidFill>
              <a:srgbClr val="7845A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24" name="line-204">
            <a:extLst xmlns:a="http://schemas.openxmlformats.org/drawingml/2006/main">
              <a:ext uri="{FF2B5EF4-FFF2-40B4-BE49-F238E27FC236}">
                <a16:creationId xmlns:a16="http://schemas.microsoft.com/office/drawing/2014/main" id="{67850CD0-8AEC-4AAB-9106-F455C749DF86}"/>
              </a:ext>
            </a:extLst>
          </p:cNvPr>
          <p:cNvCxnSpPr/>
          <p:nvPr/>
        </p:nvCxnSpPr>
        <p:spPr>
          <a:xfrm xmlns:a="http://schemas.openxmlformats.org/drawingml/2006/main">
            <a:off x="4219451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5" name="line-205">
            <a:extLst xmlns:a="http://schemas.openxmlformats.org/drawingml/2006/main">
              <a:ext uri="{FF2B5EF4-FFF2-40B4-BE49-F238E27FC236}">
                <a16:creationId xmlns:a16="http://schemas.microsoft.com/office/drawing/2014/main" id="{25CD93BB-C400-4726-8452-78699996280E}"/>
              </a:ext>
            </a:extLst>
          </p:cNvPr>
          <p:cNvCxnSpPr/>
          <p:nvPr/>
        </p:nvCxnSpPr>
        <p:spPr>
          <a:xfrm xmlns:a="http://schemas.openxmlformats.org/drawingml/2006/main">
            <a:off x="4284524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6" name="line-206">
            <a:extLst xmlns:a="http://schemas.openxmlformats.org/drawingml/2006/main">
              <a:ext uri="{FF2B5EF4-FFF2-40B4-BE49-F238E27FC236}">
                <a16:creationId xmlns:a16="http://schemas.microsoft.com/office/drawing/2014/main" id="{CC4C8749-06D0-4889-923D-4EE60D6C98FE}"/>
              </a:ext>
            </a:extLst>
          </p:cNvPr>
          <p:cNvCxnSpPr/>
          <p:nvPr/>
        </p:nvCxnSpPr>
        <p:spPr>
          <a:xfrm xmlns:a="http://schemas.openxmlformats.org/drawingml/2006/main">
            <a:off x="4349596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7" name="line-207">
            <a:extLst xmlns:a="http://schemas.openxmlformats.org/drawingml/2006/main">
              <a:ext uri="{FF2B5EF4-FFF2-40B4-BE49-F238E27FC236}">
                <a16:creationId xmlns:a16="http://schemas.microsoft.com/office/drawing/2014/main" id="{CC02F20E-0552-4F8A-8C39-379883C7D8A6}"/>
              </a:ext>
            </a:extLst>
          </p:cNvPr>
          <p:cNvCxnSpPr/>
          <p:nvPr/>
        </p:nvCxnSpPr>
        <p:spPr>
          <a:xfrm xmlns:a="http://schemas.openxmlformats.org/drawingml/2006/main">
            <a:off x="4414670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8" name="line-208">
            <a:extLst xmlns:a="http://schemas.openxmlformats.org/drawingml/2006/main">
              <a:ext uri="{FF2B5EF4-FFF2-40B4-BE49-F238E27FC236}">
                <a16:creationId xmlns:a16="http://schemas.microsoft.com/office/drawing/2014/main" id="{AC602DAA-0D9D-4BC2-A1AD-17E7F704479C}"/>
              </a:ext>
            </a:extLst>
          </p:cNvPr>
          <p:cNvCxnSpPr/>
          <p:nvPr/>
        </p:nvCxnSpPr>
        <p:spPr>
          <a:xfrm xmlns:a="http://schemas.openxmlformats.org/drawingml/2006/main">
            <a:off x="4479742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29" name="line-209">
            <a:extLst xmlns:a="http://schemas.openxmlformats.org/drawingml/2006/main">
              <a:ext uri="{FF2B5EF4-FFF2-40B4-BE49-F238E27FC236}">
                <a16:creationId xmlns:a16="http://schemas.microsoft.com/office/drawing/2014/main" id="{5F05E9EF-3D08-4591-A06F-A9F7118EFE76}"/>
              </a:ext>
            </a:extLst>
          </p:cNvPr>
          <p:cNvCxnSpPr/>
          <p:nvPr/>
        </p:nvCxnSpPr>
        <p:spPr>
          <a:xfrm xmlns:a="http://schemas.openxmlformats.org/drawingml/2006/main">
            <a:off x="4544816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30" name="line-210">
            <a:extLst xmlns:a="http://schemas.openxmlformats.org/drawingml/2006/main">
              <a:ext uri="{FF2B5EF4-FFF2-40B4-BE49-F238E27FC236}">
                <a16:creationId xmlns:a16="http://schemas.microsoft.com/office/drawing/2014/main" id="{70A1A1B7-1A38-44D2-BBC7-4497D79042B9}"/>
              </a:ext>
            </a:extLst>
          </p:cNvPr>
          <p:cNvCxnSpPr/>
          <p:nvPr/>
        </p:nvCxnSpPr>
        <p:spPr>
          <a:xfrm xmlns:a="http://schemas.openxmlformats.org/drawingml/2006/main">
            <a:off x="4609888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31" name="line-211">
            <a:extLst xmlns:a="http://schemas.openxmlformats.org/drawingml/2006/main">
              <a:ext uri="{FF2B5EF4-FFF2-40B4-BE49-F238E27FC236}">
                <a16:creationId xmlns:a16="http://schemas.microsoft.com/office/drawing/2014/main" id="{E469A6F2-A9ED-41CC-AA22-45E0561884C5}"/>
              </a:ext>
            </a:extLst>
          </p:cNvPr>
          <p:cNvCxnSpPr/>
          <p:nvPr/>
        </p:nvCxnSpPr>
        <p:spPr>
          <a:xfrm xmlns:a="http://schemas.openxmlformats.org/drawingml/2006/main">
            <a:off x="4674962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32" name="line-212">
            <a:extLst xmlns:a="http://schemas.openxmlformats.org/drawingml/2006/main">
              <a:ext uri="{FF2B5EF4-FFF2-40B4-BE49-F238E27FC236}">
                <a16:creationId xmlns:a16="http://schemas.microsoft.com/office/drawing/2014/main" id="{F2FEBD33-BFF2-4B37-915B-B0610B66E3A8}"/>
              </a:ext>
            </a:extLst>
          </p:cNvPr>
          <p:cNvCxnSpPr/>
          <p:nvPr/>
        </p:nvCxnSpPr>
        <p:spPr>
          <a:xfrm xmlns:a="http://schemas.openxmlformats.org/drawingml/2006/main">
            <a:off x="4740035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cxnSp>
        <p:nvCxnSpPr>
          <p:cNvPr id="233" name="line-213">
            <a:extLst xmlns:a="http://schemas.openxmlformats.org/drawingml/2006/main">
              <a:ext uri="{FF2B5EF4-FFF2-40B4-BE49-F238E27FC236}">
                <a16:creationId xmlns:a16="http://schemas.microsoft.com/office/drawing/2014/main" id="{B9187B40-12C3-41B1-8F34-25B84B3F04DC}"/>
              </a:ext>
            </a:extLst>
          </p:cNvPr>
          <p:cNvCxnSpPr/>
          <p:nvPr/>
        </p:nvCxnSpPr>
        <p:spPr>
          <a:xfrm xmlns:a="http://schemas.openxmlformats.org/drawingml/2006/main">
            <a:off x="4805107" y="6532292"/>
            <a:ext cx="0" cy="138021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9869BE"/>
            </a:solidFill>
            <a:prstDash val="solid"/>
            <a:tailEnd type="none" w="med" len="med"/>
          </a:ln>
        </p:spPr>
      </p:cxnSp>
      <p:sp>
        <p:nvSpPr>
          <p:cNvPr id="234" name="object-214">
            <a:extLst xmlns:a="http://schemas.openxmlformats.org/drawingml/2006/main">
              <a:ext uri="{FF2B5EF4-FFF2-40B4-BE49-F238E27FC236}">
                <a16:creationId xmlns:a16="http://schemas.microsoft.com/office/drawing/2014/main" id="{B54AB139-AD48-4C34-888D-BB00BEA2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970" y="6845973"/>
            <a:ext cx="669323" cy="169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7845A9"/>
                </a:solidFill>
                <a:latin typeface="Futura"/>
                <a:ea typeface="Futura"/>
                <a:cs typeface="Futura"/>
              </a:rPr>
              <a:t>RNA tag</a:t>
            </a:r>
          </a:p>
        </p:txBody>
      </p:sp>
      <p:sp>
        <p:nvSpPr>
          <p:cNvPr id="235" name="object-215">
            <a:extLst xmlns:a="http://schemas.openxmlformats.org/drawingml/2006/main">
              <a:ext uri="{FF2B5EF4-FFF2-40B4-BE49-F238E27FC236}">
                <a16:creationId xmlns:a16="http://schemas.microsoft.com/office/drawing/2014/main" id="{A637093C-88F9-42BE-9EDE-0491CFA1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05" y="6845973"/>
            <a:ext cx="622842" cy="169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35566A"/>
                </a:solidFill>
                <a:latin typeface="Futura"/>
                <a:ea typeface="Futura"/>
                <a:cs typeface="Futura"/>
              </a:rPr>
              <a:t>mRNA</a:t>
            </a:r>
          </a:p>
        </p:txBody>
      </p:sp>
      <p:sp>
        <p:nvSpPr>
          <p:cNvPr id="236" name="object-216">
            <a:extLst xmlns:a="http://schemas.openxmlformats.org/drawingml/2006/main">
              <a:ext uri="{FF2B5EF4-FFF2-40B4-BE49-F238E27FC236}">
                <a16:creationId xmlns:a16="http://schemas.microsoft.com/office/drawing/2014/main" id="{C53BE14B-5940-4262-8CCB-2CF2578C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864" y="6331536"/>
            <a:ext cx="673970" cy="2509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FDF"/>
          </a:solidFill>
          <a:ln xmlns:a="http://schemas.openxmlformats.org/drawingml/2006/main" w="18804">
            <a:solidFill>
              <a:srgbClr val="7845A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7" name="object-217">
            <a:extLst xmlns:a="http://schemas.openxmlformats.org/drawingml/2006/main">
              <a:ext uri="{FF2B5EF4-FFF2-40B4-BE49-F238E27FC236}">
                <a16:creationId xmlns:a16="http://schemas.microsoft.com/office/drawing/2014/main" id="{46D980F0-F360-4EB7-A16F-DA52331D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864" y="6350357"/>
            <a:ext cx="673970" cy="200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5D338B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5D338B"/>
                </a:solidFill>
                <a:latin typeface="Futura"/>
                <a:ea typeface="Futura"/>
                <a:cs typeface="Futura"/>
              </a:rPr>
              <a:t>RNase H1</a:t>
            </a:r>
          </a:p>
        </p:txBody>
      </p:sp>
      <p:cxnSp>
        <p:nvCxnSpPr>
          <p:cNvPr id="238" name="line-218">
            <a:extLst xmlns:a="http://schemas.openxmlformats.org/drawingml/2006/main">
              <a:ext uri="{FF2B5EF4-FFF2-40B4-BE49-F238E27FC236}">
                <a16:creationId xmlns:a16="http://schemas.microsoft.com/office/drawing/2014/main" id="{B093D296-E8B0-41BC-9272-12BE9EE2B605}"/>
              </a:ext>
            </a:extLst>
          </p:cNvPr>
          <p:cNvCxnSpPr/>
          <p:nvPr/>
        </p:nvCxnSpPr>
        <p:spPr>
          <a:xfrm xmlns:a="http://schemas.openxmlformats.org/drawingml/2006/main" flipH="1">
            <a:off x="4963143" y="6551114"/>
            <a:ext cx="106906" cy="50190"/>
          </a:xfrm>
          <a:prstGeom xmlns:a="http://schemas.openxmlformats.org/drawingml/2006/main" prst="straightConnector1">
            <a:avLst/>
          </a:prstGeom>
          <a:ln xmlns:a="http://schemas.openxmlformats.org/drawingml/2006/main" w="21625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39" name="line-219">
            <a:extLst xmlns:a="http://schemas.openxmlformats.org/drawingml/2006/main">
              <a:ext uri="{FF2B5EF4-FFF2-40B4-BE49-F238E27FC236}">
                <a16:creationId xmlns:a16="http://schemas.microsoft.com/office/drawing/2014/main" id="{8DC9E9E0-14EA-4DFD-BD0D-B9DDEE43B4BC}"/>
              </a:ext>
            </a:extLst>
          </p:cNvPr>
          <p:cNvCxnSpPr/>
          <p:nvPr/>
        </p:nvCxnSpPr>
        <p:spPr>
          <a:xfrm xmlns:a="http://schemas.openxmlformats.org/drawingml/2006/main" flipH="1">
            <a:off x="4516927" y="6601303"/>
            <a:ext cx="446215" cy="87831"/>
          </a:xfrm>
          <a:prstGeom xmlns:a="http://schemas.openxmlformats.org/drawingml/2006/main" prst="straightConnector1">
            <a:avLst/>
          </a:prstGeom>
          <a:ln xmlns:a="http://schemas.openxmlformats.org/drawingml/2006/main" w="21625">
            <a:solidFill>
              <a:srgbClr val="7845A9"/>
            </a:solidFill>
            <a:prstDash val="solid"/>
            <a:tailEnd type="triangle" w="med" len="med"/>
          </a:ln>
        </p:spPr>
      </p:cxnSp>
      <p:cxnSp>
        <p:nvCxnSpPr>
          <p:cNvPr id="240" name="line-220">
            <a:extLst xmlns:a="http://schemas.openxmlformats.org/drawingml/2006/main">
              <a:ext uri="{FF2B5EF4-FFF2-40B4-BE49-F238E27FC236}">
                <a16:creationId xmlns:a16="http://schemas.microsoft.com/office/drawing/2014/main" id="{912F315E-A4DC-46C2-B826-DD29149738A5}"/>
              </a:ext>
            </a:extLst>
          </p:cNvPr>
          <p:cNvCxnSpPr/>
          <p:nvPr/>
        </p:nvCxnSpPr>
        <p:spPr>
          <a:xfrm xmlns:a="http://schemas.openxmlformats.org/drawingml/2006/main">
            <a:off x="4489039" y="6657764"/>
            <a:ext cx="37184" cy="87831"/>
          </a:xfrm>
          <a:prstGeom xmlns:a="http://schemas.openxmlformats.org/drawingml/2006/main" prst="straightConnector1">
            <a:avLst/>
          </a:prstGeom>
          <a:ln xmlns:a="http://schemas.openxmlformats.org/drawingml/2006/main" w="56411">
            <a:solidFill>
              <a:srgbClr val="FFFFFF"/>
            </a:solidFill>
            <a:prstDash val="solid"/>
            <a:tailEnd type="none" w="med" len="med"/>
          </a:ln>
        </p:spPr>
      </p:cxnSp>
      <p:cxnSp>
        <p:nvCxnSpPr>
          <p:cNvPr id="241" name="line-221">
            <a:extLst xmlns:a="http://schemas.openxmlformats.org/drawingml/2006/main">
              <a:ext uri="{FF2B5EF4-FFF2-40B4-BE49-F238E27FC236}">
                <a16:creationId xmlns:a16="http://schemas.microsoft.com/office/drawing/2014/main" id="{A38361EE-1966-4B8B-8156-DCB7AF666BCC}"/>
              </a:ext>
            </a:extLst>
          </p:cNvPr>
          <p:cNvCxnSpPr/>
          <p:nvPr/>
        </p:nvCxnSpPr>
        <p:spPr>
          <a:xfrm xmlns:a="http://schemas.openxmlformats.org/drawingml/2006/main">
            <a:off x="4475095" y="6657764"/>
            <a:ext cx="27888" cy="25094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cxnSp>
        <p:nvCxnSpPr>
          <p:cNvPr id="242" name="line-222">
            <a:extLst xmlns:a="http://schemas.openxmlformats.org/drawingml/2006/main">
              <a:ext uri="{FF2B5EF4-FFF2-40B4-BE49-F238E27FC236}">
                <a16:creationId xmlns:a16="http://schemas.microsoft.com/office/drawing/2014/main" id="{1757B3C4-FED7-4E6E-9742-9440E83E98C6}"/>
              </a:ext>
            </a:extLst>
          </p:cNvPr>
          <p:cNvCxnSpPr/>
          <p:nvPr/>
        </p:nvCxnSpPr>
        <p:spPr>
          <a:xfrm xmlns:a="http://schemas.openxmlformats.org/drawingml/2006/main">
            <a:off x="4521576" y="6714228"/>
            <a:ext cx="27888" cy="31367"/>
          </a:xfrm>
          <a:prstGeom xmlns:a="http://schemas.openxmlformats.org/drawingml/2006/main" prst="straightConnector1">
            <a:avLst/>
          </a:prstGeom>
          <a:ln xmlns:a="http://schemas.openxmlformats.org/drawingml/2006/main" w="20683">
            <a:solidFill>
              <a:srgbClr val="7845A9"/>
            </a:solidFill>
            <a:prstDash val="solid"/>
            <a:tailEnd type="none" w="med" len="med"/>
          </a:ln>
        </p:spPr>
      </p:cxnSp>
      <p:sp>
        <p:nvSpPr>
          <p:cNvPr id="300" name="Unified component 300">
            <a:extLst xmlns:a="http://schemas.openxmlformats.org/drawingml/2006/main">
              <a:ext uri="{FF2B5EF4-FFF2-40B4-BE49-F238E27FC236}">
                <a16:creationId xmlns:a16="http://schemas.microsoft.com/office/drawing/2014/main" id="{9E293757-C9D0-48B5-9F86-4F38A4A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881" y="6588756"/>
            <a:ext cx="511288" cy="200756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5E9F3"/>
          </a:solidFill>
          <a:ln xmlns:a="http://schemas.openxmlformats.org/drawingml/2006/main" w="18804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1" name="Unified component 301">
            <a:extLst xmlns:a="http://schemas.openxmlformats.org/drawingml/2006/main">
              <a:ext uri="{FF2B5EF4-FFF2-40B4-BE49-F238E27FC236}">
                <a16:creationId xmlns:a16="http://schemas.microsoft.com/office/drawing/2014/main" id="{C75E3A56-1B7C-43D1-900B-8F866DF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881" y="6588756"/>
            <a:ext cx="511288" cy="200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923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2043" name="line 2043">
            <a:extLst xmlns:a="http://schemas.openxmlformats.org/drawingml/2006/main">
              <a:ext uri="{FF2B5EF4-FFF2-40B4-BE49-F238E27FC236}">
                <a16:creationId xmlns:a16="http://schemas.microsoft.com/office/drawing/2014/main" id="{6C7EDD23-1087-4BD0-BD0C-8BE8223D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414" y="5931514"/>
            <a:ext cx="0" cy="1234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37">
            <a:solidFill>
              <a:srgbClr val="DCC8E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44" name="Cre–loxP 2044">
            <a:extLst xmlns:a="http://schemas.openxmlformats.org/drawingml/2006/main">
              <a:ext uri="{FF2B5EF4-FFF2-40B4-BE49-F238E27FC236}">
                <a16:creationId xmlns:a16="http://schemas.microsoft.com/office/drawing/2014/main" id="{7C8F9082-2C76-46F8-AFAB-ADB51CB1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057" y="5931514"/>
            <a:ext cx="1705629" cy="190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7943B4"/>
                </a:solidFill>
                <a:latin typeface="Futura"/>
                <a:ea typeface="Futura"/>
                <a:cs typeface="Futura"/>
              </a:rPr>
              <a:t>Cre–loxP</a:t>
            </a:r>
          </a:p>
        </p:txBody>
      </p:sp>
      <p:cxnSp>
        <p:nvCxnSpPr>
          <p:cNvPr id="243" name="line-223">
            <a:extLst xmlns:a="http://schemas.openxmlformats.org/drawingml/2006/main">
              <a:ext uri="{FF2B5EF4-FFF2-40B4-BE49-F238E27FC236}">
                <a16:creationId xmlns:a16="http://schemas.microsoft.com/office/drawing/2014/main" id="{D48B14F3-A7B0-46D2-A4CA-080CE1D43DB7}"/>
              </a:ext>
            </a:extLst>
          </p:cNvPr>
          <p:cNvCxnSpPr/>
          <p:nvPr/>
        </p:nvCxnSpPr>
        <p:spPr>
          <a:xfrm xmlns:a="http://schemas.openxmlformats.org/drawingml/2006/main">
            <a:off x="6143219" y="6377161"/>
            <a:ext cx="1238569" cy="0"/>
          </a:xfrm>
          <a:prstGeom xmlns:a="http://schemas.openxmlformats.org/drawingml/2006/main" prst="straightConnector1">
            <a:avLst/>
          </a:prstGeom>
          <a:ln xmlns:a="http://schemas.openxmlformats.org/drawingml/2006/main" w="21236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244" name="path-224">
            <a:extLst xmlns:a="http://schemas.openxmlformats.org/drawingml/2006/main">
              <a:ext uri="{FF2B5EF4-FFF2-40B4-BE49-F238E27FC236}">
                <a16:creationId xmlns:a16="http://schemas.microsoft.com/office/drawing/2014/main" id="{2BFFD808-FFDC-4C32-AFAD-82250B83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127" y="6318332"/>
            <a:ext cx="83540" cy="117658"/>
          </a:xfrm>
          <a:custGeom xmlns:a="http://schemas.openxmlformats.org/drawingml/2006/main">
            <a:rect l="0" t="0" r="0" b="0"/>
            <a:pathLst>
              <a:path w="219075" h="228600">
                <a:moveTo>
                  <a:pt x="0" y="0"/>
                </a:moveTo>
                <a:lnTo>
                  <a:pt x="219075" y="1143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7845A9"/>
          </a:solidFill>
          <a:ln xmlns:a="http://schemas.openxmlformats.org/drawingml/2006/main" w="15572">
            <a:solidFill>
              <a:srgbClr val="7845A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5" name="path-225">
            <a:extLst xmlns:a="http://schemas.openxmlformats.org/drawingml/2006/main">
              <a:ext uri="{FF2B5EF4-FFF2-40B4-BE49-F238E27FC236}">
                <a16:creationId xmlns:a16="http://schemas.microsoft.com/office/drawing/2014/main" id="{D1566BE7-9E1F-4603-9F17-7A4C628E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547" y="6318332"/>
            <a:ext cx="83540" cy="117658"/>
          </a:xfrm>
          <a:custGeom xmlns:a="http://schemas.openxmlformats.org/drawingml/2006/main">
            <a:rect l="0" t="0" r="0" b="0"/>
            <a:pathLst>
              <a:path w="219075" h="228600">
                <a:moveTo>
                  <a:pt x="0" y="0"/>
                </a:moveTo>
                <a:lnTo>
                  <a:pt x="219075" y="1143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7845A9"/>
          </a:solidFill>
          <a:ln xmlns:a="http://schemas.openxmlformats.org/drawingml/2006/main" w="15572">
            <a:solidFill>
              <a:srgbClr val="7845A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6" name="object-226">
            <a:extLst xmlns:a="http://schemas.openxmlformats.org/drawingml/2006/main">
              <a:ext uri="{FF2B5EF4-FFF2-40B4-BE49-F238E27FC236}">
                <a16:creationId xmlns:a16="http://schemas.microsoft.com/office/drawing/2014/main" id="{3123ECFD-5790-41C9-B7E3-B547CB5C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598" y="6298721"/>
            <a:ext cx="399538" cy="156878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5E9F3"/>
          </a:solidFill>
          <a:ln xmlns:a="http://schemas.openxmlformats.org/drawingml/2006/main" w="14158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7" name="object-227">
            <a:extLst xmlns:a="http://schemas.openxmlformats.org/drawingml/2006/main">
              <a:ext uri="{FF2B5EF4-FFF2-40B4-BE49-F238E27FC236}">
                <a16:creationId xmlns:a16="http://schemas.microsoft.com/office/drawing/2014/main" id="{191F3EB9-1F7B-4C47-A08F-13BA857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981" y="6278355"/>
            <a:ext cx="432771" cy="197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4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248" name="object-228">
            <a:extLst xmlns:a="http://schemas.openxmlformats.org/drawingml/2006/main">
              <a:ext uri="{FF2B5EF4-FFF2-40B4-BE49-F238E27FC236}">
                <a16:creationId xmlns:a16="http://schemas.microsoft.com/office/drawing/2014/main" id="{F4916CDA-4F09-429D-BA9F-D942D194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234" y="6121478"/>
            <a:ext cx="305486" cy="197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4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loxP</a:t>
            </a:r>
          </a:p>
        </p:txBody>
      </p:sp>
      <p:sp>
        <p:nvSpPr>
          <p:cNvPr id="249" name="object-229">
            <a:extLst xmlns:a="http://schemas.openxmlformats.org/drawingml/2006/main">
              <a:ext uri="{FF2B5EF4-FFF2-40B4-BE49-F238E27FC236}">
                <a16:creationId xmlns:a16="http://schemas.microsoft.com/office/drawing/2014/main" id="{4D86BFB5-810B-4934-A497-570C495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1023" y="6121478"/>
            <a:ext cx="305486" cy="197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4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loxP</a:t>
            </a:r>
          </a:p>
        </p:txBody>
      </p:sp>
      <p:cxnSp>
        <p:nvCxnSpPr>
          <p:cNvPr id="250" name="line-230">
            <a:extLst xmlns:a="http://schemas.openxmlformats.org/drawingml/2006/main">
              <a:ext uri="{FF2B5EF4-FFF2-40B4-BE49-F238E27FC236}">
                <a16:creationId xmlns:a16="http://schemas.microsoft.com/office/drawing/2014/main" id="{1511FC23-EBB6-4AD0-9C9F-CA482225898D}"/>
              </a:ext>
            </a:extLst>
          </p:cNvPr>
          <p:cNvCxnSpPr/>
          <p:nvPr/>
        </p:nvCxnSpPr>
        <p:spPr>
          <a:xfrm xmlns:a="http://schemas.openxmlformats.org/drawingml/2006/main">
            <a:off x="6753424" y="6499721"/>
            <a:ext cx="0" cy="151975"/>
          </a:xfrm>
          <a:prstGeom xmlns:a="http://schemas.openxmlformats.org/drawingml/2006/main" prst="straightConnector1">
            <a:avLst/>
          </a:prstGeom>
          <a:ln xmlns:a="http://schemas.openxmlformats.org/drawingml/2006/main" w="16988">
            <a:solidFill>
              <a:srgbClr val="7845A9"/>
            </a:solidFill>
            <a:prstDash val="solid"/>
            <a:tailEnd type="triangle" w="med" len="med"/>
          </a:ln>
        </p:spPr>
      </p:cxnSp>
      <p:sp>
        <p:nvSpPr>
          <p:cNvPr id="251" name="object-231">
            <a:extLst xmlns:a="http://schemas.openxmlformats.org/drawingml/2006/main">
              <a:ext uri="{FF2B5EF4-FFF2-40B4-BE49-F238E27FC236}">
                <a16:creationId xmlns:a16="http://schemas.microsoft.com/office/drawing/2014/main" id="{68C74684-C6E7-4AA1-8F29-2E19999A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059" y="6469550"/>
            <a:ext cx="305486" cy="197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4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defPPr>
            <a:lvl1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1pPr>
            <a:lvl2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2pPr>
            <a:lvl3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3pPr>
            <a:lvl4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4pPr>
            <a:lvl5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5pPr>
            <a:lvl6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6pPr>
            <a:lvl7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7pPr>
            <a:lvl8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8pPr>
            <a:lvl9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l">
              <a:buNone/>
              <a:defRPr sz="902" b="0">
                <a:solidFill>
                  <a:srgbClr val="7845A9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7845A9"/>
                </a:solidFill>
                <a:latin typeface="Futura"/>
                <a:ea typeface="Futura"/>
                <a:cs typeface="Futura"/>
              </a:rPr>
              <a:t>Cre</a:t>
            </a:r>
          </a:p>
        </p:txBody>
      </p:sp>
      <p:cxnSp>
        <p:nvCxnSpPr>
          <p:cNvPr id="252" name="line-232">
            <a:extLst xmlns:a="http://schemas.openxmlformats.org/drawingml/2006/main">
              <a:ext uri="{FF2B5EF4-FFF2-40B4-BE49-F238E27FC236}">
                <a16:creationId xmlns:a16="http://schemas.microsoft.com/office/drawing/2014/main" id="{26F645BD-BFCA-4E3D-8CF7-4D18B58DA418}"/>
              </a:ext>
            </a:extLst>
          </p:cNvPr>
          <p:cNvCxnSpPr/>
          <p:nvPr/>
        </p:nvCxnSpPr>
        <p:spPr>
          <a:xfrm xmlns:a="http://schemas.openxmlformats.org/drawingml/2006/main">
            <a:off x="6143219" y="6847794"/>
            <a:ext cx="483078" cy="0"/>
          </a:xfrm>
          <a:prstGeom xmlns:a="http://schemas.openxmlformats.org/drawingml/2006/main" prst="straightConnector1">
            <a:avLst/>
          </a:prstGeom>
          <a:ln xmlns:a="http://schemas.openxmlformats.org/drawingml/2006/main" w="21236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253" name="path-233">
            <a:extLst xmlns:a="http://schemas.openxmlformats.org/drawingml/2006/main">
              <a:ext uri="{FF2B5EF4-FFF2-40B4-BE49-F238E27FC236}">
                <a16:creationId xmlns:a16="http://schemas.microsoft.com/office/drawing/2014/main" id="{36330B54-3FE4-4847-B030-C44F6D50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827" y="6788964"/>
            <a:ext cx="83540" cy="117658"/>
          </a:xfrm>
          <a:custGeom xmlns:a="http://schemas.openxmlformats.org/drawingml/2006/main">
            <a:rect l="0" t="0" r="0" b="0"/>
            <a:pathLst>
              <a:path w="219075" h="228600">
                <a:moveTo>
                  <a:pt x="0" y="0"/>
                </a:moveTo>
                <a:lnTo>
                  <a:pt x="219075" y="1143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7845A9"/>
          </a:solidFill>
          <a:ln xmlns:a="http://schemas.openxmlformats.org/drawingml/2006/main" w="15572">
            <a:solidFill>
              <a:srgbClr val="7845A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4" name="object-234">
            <a:extLst xmlns:a="http://schemas.openxmlformats.org/drawingml/2006/main">
              <a:ext uri="{FF2B5EF4-FFF2-40B4-BE49-F238E27FC236}">
                <a16:creationId xmlns:a16="http://schemas.microsoft.com/office/drawing/2014/main" id="{760CE614-10CF-4CBA-8FEF-B5F82FE7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884" y="6774257"/>
            <a:ext cx="116230" cy="147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4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3F5361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3F5361"/>
                </a:solidFill>
                <a:latin typeface="Futura"/>
                <a:ea typeface="Futura"/>
                <a:cs typeface="Futura"/>
              </a:rPr>
              <a:t>+</a:t>
            </a:r>
          </a:p>
        </p:txBody>
      </p:sp>
      <p:sp>
        <p:nvSpPr>
          <p:cNvPr id="255" name="object-235">
            <a:extLst xmlns:a="http://schemas.openxmlformats.org/drawingml/2006/main">
              <a:ext uri="{FF2B5EF4-FFF2-40B4-BE49-F238E27FC236}">
                <a16:creationId xmlns:a16="http://schemas.microsoft.com/office/drawing/2014/main" id="{C8D04945-FF7D-4420-AC60-93E5ED61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020" y="6686014"/>
            <a:ext cx="457653" cy="37258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697">
            <a:solidFill>
              <a:srgbClr val="687D8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6" name="path-236">
            <a:extLst xmlns:a="http://schemas.openxmlformats.org/drawingml/2006/main">
              <a:ext uri="{FF2B5EF4-FFF2-40B4-BE49-F238E27FC236}">
                <a16:creationId xmlns:a16="http://schemas.microsoft.com/office/drawing/2014/main" id="{F6256D16-0665-4A11-90E9-234946F2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261" y="6651697"/>
            <a:ext cx="72644" cy="73537"/>
          </a:xfrm>
          <a:custGeom xmlns:a="http://schemas.openxmlformats.org/drawingml/2006/main">
            <a:rect l="0" t="0" r="0" b="0"/>
            <a:pathLst>
              <a:path w="190500" h="142875">
                <a:moveTo>
                  <a:pt x="0" y="0"/>
                </a:moveTo>
                <a:lnTo>
                  <a:pt x="190500" y="71438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7845A9"/>
          </a:solidFill>
          <a:ln xmlns:a="http://schemas.openxmlformats.org/drawingml/2006/main" w="15572">
            <a:solidFill>
              <a:srgbClr val="7845A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7" name="object-237">
            <a:extLst xmlns:a="http://schemas.openxmlformats.org/drawingml/2006/main">
              <a:ext uri="{FF2B5EF4-FFF2-40B4-BE49-F238E27FC236}">
                <a16:creationId xmlns:a16="http://schemas.microsoft.com/office/drawing/2014/main" id="{649C4425-A02E-4AA0-9900-FB7B5B0E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079" y="6793866"/>
            <a:ext cx="399538" cy="156878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5E9F3"/>
          </a:solidFill>
          <a:ln xmlns:a="http://schemas.openxmlformats.org/drawingml/2006/main" w="14158">
            <a:solidFill>
              <a:srgbClr val="087DA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8" name="object-238">
            <a:extLst xmlns:a="http://schemas.openxmlformats.org/drawingml/2006/main">
              <a:ext uri="{FF2B5EF4-FFF2-40B4-BE49-F238E27FC236}">
                <a16:creationId xmlns:a16="http://schemas.microsoft.com/office/drawing/2014/main" id="{8DE9D858-FC33-4024-8E32-9348F3E4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462" y="6773499"/>
            <a:ext cx="432771" cy="197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4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defRPr>
            </a:pPr>
            <a:r>
              <a:rPr sz="902" b="0" u="none">
                <a:solidFill>
                  <a:srgbClr val="087DAA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2045" name="Experiment I 2045">
            <a:extLst xmlns:a="http://schemas.openxmlformats.org/drawingml/2006/main">
              <a:ext uri="{FF2B5EF4-FFF2-40B4-BE49-F238E27FC236}">
                <a16:creationId xmlns:a16="http://schemas.microsoft.com/office/drawing/2014/main" id="{7CB18775-BD72-45D7-9E17-B4388E7C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3372727"/>
            <a:ext cx="2036571" cy="203636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1DAE4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A44869"/>
                </a:solidFill>
                <a:latin typeface="Georgia"/>
                <a:ea typeface="Georgia"/>
                <a:cs typeface="Georgia"/>
              </a:rPr>
              <a:t>Experiment I</a:t>
            </a:r>
          </a:p>
        </p:txBody>
      </p:sp>
      <p:sp>
        <p:nvSpPr>
          <p:cNvPr id="2046" name="Electroporation 2046">
            <a:extLst xmlns:a="http://schemas.openxmlformats.org/drawingml/2006/main">
              <a:ext uri="{FF2B5EF4-FFF2-40B4-BE49-F238E27FC236}">
                <a16:creationId xmlns:a16="http://schemas.microsoft.com/office/drawing/2014/main" id="{886D38CB-F7DC-4DC2-9781-C9912519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3627273"/>
            <a:ext cx="2036571" cy="178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A44869"/>
                </a:solidFill>
                <a:latin typeface="Futura"/>
                <a:ea typeface="Futura"/>
                <a:cs typeface="Futura"/>
              </a:rPr>
              <a:t>Electroporation</a:t>
            </a:r>
          </a:p>
        </p:txBody>
      </p:sp>
      <p:sp>
        <p:nvSpPr>
          <p:cNvPr id="901" name="roundRect 901">
            <a:extLst xmlns:a="http://schemas.openxmlformats.org/drawingml/2006/main">
              <a:ext uri="{FF2B5EF4-FFF2-40B4-BE49-F238E27FC236}">
                <a16:creationId xmlns:a16="http://schemas.microsoft.com/office/drawing/2014/main" id="{5342BDEC-FCAE-4C19-99E4-ED21A5CE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11" y="3869091"/>
            <a:ext cx="631245" cy="522303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EDF3"/>
          </a:solidFill>
          <a:ln xmlns:a="http://schemas.openxmlformats.org/drawingml/2006/main" w="9718">
            <a:solidFill>
              <a:srgbClr val="607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2" name="roundRect 902">
            <a:extLst xmlns:a="http://schemas.openxmlformats.org/drawingml/2006/main">
              <a:ext uri="{FF2B5EF4-FFF2-40B4-BE49-F238E27FC236}">
                <a16:creationId xmlns:a16="http://schemas.microsoft.com/office/drawing/2014/main" id="{EA2B6017-EC29-4A92-B5BC-124D4835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254" y="3939820"/>
            <a:ext cx="489759" cy="223067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0495D"/>
          </a:solidFill>
          <a:ln xmlns:a="http://schemas.openxmlformats.org/drawingml/2006/main" w="8746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3" name="line 903">
            <a:extLst xmlns:a="http://schemas.openxmlformats.org/drawingml/2006/main">
              <a:ext uri="{FF2B5EF4-FFF2-40B4-BE49-F238E27FC236}">
                <a16:creationId xmlns:a16="http://schemas.microsoft.com/office/drawing/2014/main" id="{9D6BF8C9-2A8B-4D31-8725-DB7CD0E4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555" y="4086717"/>
            <a:ext cx="925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18">
            <a:solidFill>
              <a:srgbClr val="82D5B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4" name="line 904">
            <a:extLst xmlns:a="http://schemas.openxmlformats.org/drawingml/2006/main">
              <a:ext uri="{FF2B5EF4-FFF2-40B4-BE49-F238E27FC236}">
                <a16:creationId xmlns:a16="http://schemas.microsoft.com/office/drawing/2014/main" id="{FB0F863A-FED0-4512-B8FC-680BDBC1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065" y="4010548"/>
            <a:ext cx="0" cy="761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18">
            <a:solidFill>
              <a:srgbClr val="82D5B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5" name="line 905">
            <a:extLst xmlns:a="http://schemas.openxmlformats.org/drawingml/2006/main">
              <a:ext uri="{FF2B5EF4-FFF2-40B4-BE49-F238E27FC236}">
                <a16:creationId xmlns:a16="http://schemas.microsoft.com/office/drawing/2014/main" id="{2742AAE4-5946-4B7E-97DD-03DBEFA6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065" y="4010548"/>
            <a:ext cx="11427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18">
            <a:solidFill>
              <a:srgbClr val="82D5B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6" name="line 906">
            <a:extLst xmlns:a="http://schemas.openxmlformats.org/drawingml/2006/main">
              <a:ext uri="{FF2B5EF4-FFF2-40B4-BE49-F238E27FC236}">
                <a16:creationId xmlns:a16="http://schemas.microsoft.com/office/drawing/2014/main" id="{73F105DE-6636-4955-8EF8-ECB72487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342" y="4010548"/>
            <a:ext cx="0" cy="761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18">
            <a:solidFill>
              <a:srgbClr val="82D5B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7" name="line 907">
            <a:extLst xmlns:a="http://schemas.openxmlformats.org/drawingml/2006/main">
              <a:ext uri="{FF2B5EF4-FFF2-40B4-BE49-F238E27FC236}">
                <a16:creationId xmlns:a16="http://schemas.microsoft.com/office/drawing/2014/main" id="{BDAADA23-B8EB-4AC2-B981-99499A21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342" y="4086717"/>
            <a:ext cx="1523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718">
            <a:solidFill>
              <a:srgbClr val="82D5B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8" name="roundRect 908">
            <a:extLst xmlns:a="http://schemas.openxmlformats.org/drawingml/2006/main">
              <a:ext uri="{FF2B5EF4-FFF2-40B4-BE49-F238E27FC236}">
                <a16:creationId xmlns:a16="http://schemas.microsoft.com/office/drawing/2014/main" id="{DA1DDBBB-2307-4201-A732-344B1957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463" y="4228174"/>
            <a:ext cx="141486" cy="48966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A5B9CB"/>
          </a:solidFill>
          <a:ln xmlns:a="http://schemas.openxmlformats.org/drawingml/2006/main" w="8746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9" name="ellipse 909">
            <a:extLst xmlns:a="http://schemas.openxmlformats.org/drawingml/2006/main">
              <a:ext uri="{FF2B5EF4-FFF2-40B4-BE49-F238E27FC236}">
                <a16:creationId xmlns:a16="http://schemas.microsoft.com/office/drawing/2014/main" id="{33C7718A-386B-4A96-BC48-B1964B2A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644" y="4217294"/>
            <a:ext cx="97952" cy="97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774">
            <a:solidFill>
              <a:srgbClr val="607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0" name="line 910">
            <a:extLst xmlns:a="http://schemas.openxmlformats.org/drawingml/2006/main">
              <a:ext uri="{FF2B5EF4-FFF2-40B4-BE49-F238E27FC236}">
                <a16:creationId xmlns:a16="http://schemas.microsoft.com/office/drawing/2014/main" id="{607F146D-7107-401C-AE6E-5D9872BD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756" y="4271700"/>
            <a:ext cx="816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689">
            <a:solidFill>
              <a:srgbClr val="607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1" name="line 911">
            <a:extLst xmlns:a="http://schemas.openxmlformats.org/drawingml/2006/main">
              <a:ext uri="{FF2B5EF4-FFF2-40B4-BE49-F238E27FC236}">
                <a16:creationId xmlns:a16="http://schemas.microsoft.com/office/drawing/2014/main" id="{11214757-9A17-4896-A853-7F0D8F12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382" y="4146565"/>
            <a:ext cx="0" cy="1251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689">
            <a:solidFill>
              <a:srgbClr val="607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2" name="line 912">
            <a:extLst xmlns:a="http://schemas.openxmlformats.org/drawingml/2006/main">
              <a:ext uri="{FF2B5EF4-FFF2-40B4-BE49-F238E27FC236}">
                <a16:creationId xmlns:a16="http://schemas.microsoft.com/office/drawing/2014/main" id="{EF6771D9-AB85-416F-B865-1433704A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382" y="4146565"/>
            <a:ext cx="816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689">
            <a:solidFill>
              <a:srgbClr val="607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3" name="roundRect 913">
            <a:extLst xmlns:a="http://schemas.openxmlformats.org/drawingml/2006/main">
              <a:ext uri="{FF2B5EF4-FFF2-40B4-BE49-F238E27FC236}">
                <a16:creationId xmlns:a16="http://schemas.microsoft.com/office/drawing/2014/main" id="{01E8BD11-841F-41CC-9BFD-EDF7BE26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009" y="3945260"/>
            <a:ext cx="43534" cy="402609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D6E2"/>
          </a:solidFill>
          <a:ln xmlns:a="http://schemas.openxmlformats.org/drawingml/2006/main" w="6802">
            <a:solidFill>
              <a:srgbClr val="607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4" name="roundRect 914">
            <a:extLst xmlns:a="http://schemas.openxmlformats.org/drawingml/2006/main">
              <a:ext uri="{FF2B5EF4-FFF2-40B4-BE49-F238E27FC236}">
                <a16:creationId xmlns:a16="http://schemas.microsoft.com/office/drawing/2014/main" id="{F2B51FBE-D73A-4ABF-94F6-7E8C7FD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234" y="3945260"/>
            <a:ext cx="43534" cy="402609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7D6E2"/>
          </a:solidFill>
          <a:ln xmlns:a="http://schemas.openxmlformats.org/drawingml/2006/main" w="6802">
            <a:solidFill>
              <a:srgbClr val="607A9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5" name="ellipse 915">
            <a:extLst xmlns:a="http://schemas.openxmlformats.org/drawingml/2006/main">
              <a:ext uri="{FF2B5EF4-FFF2-40B4-BE49-F238E27FC236}">
                <a16:creationId xmlns:a16="http://schemas.microsoft.com/office/drawing/2014/main" id="{AC85430B-DCF5-41B6-86F3-23E4537B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077" y="4005108"/>
            <a:ext cx="315622" cy="266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CE6"/>
          </a:solidFill>
          <a:ln xmlns:a="http://schemas.openxmlformats.org/drawingml/2006/main" w="8746">
            <a:solidFill>
              <a:srgbClr val="A4486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6" name="ellipse 916">
            <a:extLst xmlns:a="http://schemas.openxmlformats.org/drawingml/2006/main">
              <a:ext uri="{FF2B5EF4-FFF2-40B4-BE49-F238E27FC236}">
                <a16:creationId xmlns:a16="http://schemas.microsoft.com/office/drawing/2014/main" id="{89C9D9F1-E6A6-40B0-9993-F67F8C6F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029" y="4092158"/>
            <a:ext cx="119719" cy="97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B4DA"/>
          </a:solidFill>
          <a:ln xmlns:a="http://schemas.openxmlformats.org/drawingml/2006/main" w="5830">
            <a:solidFill>
              <a:srgbClr val="8974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47" name="line 2047">
            <a:extLst xmlns:a="http://schemas.openxmlformats.org/drawingml/2006/main">
              <a:ext uri="{FF2B5EF4-FFF2-40B4-BE49-F238E27FC236}">
                <a16:creationId xmlns:a16="http://schemas.microsoft.com/office/drawing/2014/main" id="{775C46AE-E3D4-4202-B91A-514E6E25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314" y="4632727"/>
            <a:ext cx="19347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37">
            <a:solidFill>
              <a:srgbClr val="E6CCD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48" name="Experiment II 2048">
            <a:extLst xmlns:a="http://schemas.openxmlformats.org/drawingml/2006/main">
              <a:ext uri="{FF2B5EF4-FFF2-40B4-BE49-F238E27FC236}">
                <a16:creationId xmlns:a16="http://schemas.microsoft.com/office/drawing/2014/main" id="{F7E556BC-12ED-4F7E-911A-57B3ED00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4677273"/>
            <a:ext cx="2036571" cy="203636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1DAE4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A44869"/>
                </a:solidFill>
                <a:latin typeface="Georgia"/>
                <a:ea typeface="Georgia"/>
                <a:cs typeface="Georgia"/>
              </a:rPr>
              <a:t>Experiment II</a:t>
            </a:r>
          </a:p>
        </p:txBody>
      </p:sp>
      <p:sp>
        <p:nvSpPr>
          <p:cNvPr id="2049" name="BODIPY 493/503 2049">
            <a:extLst xmlns:a="http://schemas.openxmlformats.org/drawingml/2006/main">
              <a:ext uri="{FF2B5EF4-FFF2-40B4-BE49-F238E27FC236}">
                <a16:creationId xmlns:a16="http://schemas.microsoft.com/office/drawing/2014/main" id="{21ECDCF6-D91F-4A35-BE5A-37133C91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4931818"/>
            <a:ext cx="2036571" cy="178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A44869"/>
                </a:solidFill>
                <a:latin typeface="Futura"/>
                <a:ea typeface="Futura"/>
                <a:cs typeface="Futura"/>
              </a:rPr>
              <a:t>BODIPY 493/503</a:t>
            </a:r>
          </a:p>
        </p:txBody>
      </p:sp>
      <p:sp>
        <p:nvSpPr>
          <p:cNvPr id="718" name="ellipse 718">
            <a:extLst xmlns:a="http://schemas.openxmlformats.org/drawingml/2006/main">
              <a:ext uri="{FF2B5EF4-FFF2-40B4-BE49-F238E27FC236}">
                <a16:creationId xmlns:a16="http://schemas.microsoft.com/office/drawing/2014/main" id="{3E526CF0-0045-44DA-9681-2C7D9D23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166" y="5173636"/>
            <a:ext cx="741772" cy="529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F2"/>
          </a:solidFill>
          <a:ln xmlns:a="http://schemas.openxmlformats.org/drawingml/2006/main" w="8747">
            <a:solidFill>
              <a:srgbClr val="A4486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9" name="ellipse 719">
            <a:extLst xmlns:a="http://schemas.openxmlformats.org/drawingml/2006/main">
              <a:ext uri="{FF2B5EF4-FFF2-40B4-BE49-F238E27FC236}">
                <a16:creationId xmlns:a16="http://schemas.microsoft.com/office/drawing/2014/main" id="{28CB1C98-7810-4D75-BF06-78C8FDE0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818" y="5337371"/>
            <a:ext cx="226385" cy="187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98DB"/>
          </a:solidFill>
          <a:ln xmlns:a="http://schemas.openxmlformats.org/drawingml/2006/main" w="6998">
            <a:solidFill>
              <a:srgbClr val="446DB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0" name="ellipse 720">
            <a:extLst xmlns:a="http://schemas.openxmlformats.org/drawingml/2006/main">
              <a:ext uri="{FF2B5EF4-FFF2-40B4-BE49-F238E27FC236}">
                <a16:creationId xmlns:a16="http://schemas.microsoft.com/office/drawing/2014/main" id="{A3109087-60D8-4B3D-A7BB-DC43E54B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3584" y="5289213"/>
            <a:ext cx="48167" cy="481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D79"/>
          </a:solidFill>
          <a:ln xmlns:a="http://schemas.openxmlformats.org/drawingml/2006/main" w="4373">
            <a:solidFill>
              <a:srgbClr val="388F5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1" name="ellipse 721">
            <a:extLst xmlns:a="http://schemas.openxmlformats.org/drawingml/2006/main">
              <a:ext uri="{FF2B5EF4-FFF2-40B4-BE49-F238E27FC236}">
                <a16:creationId xmlns:a16="http://schemas.microsoft.com/office/drawing/2014/main" id="{D88247BF-24F3-4147-AD11-CCC23498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917" y="5236241"/>
            <a:ext cx="38534" cy="38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D79"/>
          </a:solidFill>
          <a:ln xmlns:a="http://schemas.openxmlformats.org/drawingml/2006/main" w="4373">
            <a:solidFill>
              <a:srgbClr val="388F5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2" name="ellipse 722">
            <a:extLst xmlns:a="http://schemas.openxmlformats.org/drawingml/2006/main">
              <a:ext uri="{FF2B5EF4-FFF2-40B4-BE49-F238E27FC236}">
                <a16:creationId xmlns:a16="http://schemas.microsoft.com/office/drawing/2014/main" id="{0BB9449B-CAFC-447B-9A4D-F3F62F2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554" y="5298845"/>
            <a:ext cx="57800" cy="577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D79"/>
          </a:solidFill>
          <a:ln xmlns:a="http://schemas.openxmlformats.org/drawingml/2006/main" w="4373">
            <a:solidFill>
              <a:srgbClr val="388F5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3" name="ellipse 723">
            <a:extLst xmlns:a="http://schemas.openxmlformats.org/drawingml/2006/main">
              <a:ext uri="{FF2B5EF4-FFF2-40B4-BE49-F238E27FC236}">
                <a16:creationId xmlns:a16="http://schemas.microsoft.com/office/drawing/2014/main" id="{8EDFF3AE-E3C5-4D9D-8AE2-E2DE7229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071" y="5428870"/>
            <a:ext cx="43351" cy="433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D79"/>
          </a:solidFill>
          <a:ln xmlns:a="http://schemas.openxmlformats.org/drawingml/2006/main" w="4373">
            <a:solidFill>
              <a:srgbClr val="388F5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4" name="ellipse 724">
            <a:extLst xmlns:a="http://schemas.openxmlformats.org/drawingml/2006/main">
              <a:ext uri="{FF2B5EF4-FFF2-40B4-BE49-F238E27FC236}">
                <a16:creationId xmlns:a16="http://schemas.microsoft.com/office/drawing/2014/main" id="{7B70F743-1477-40CF-A79C-9370AD7F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233" y="5452948"/>
            <a:ext cx="52984" cy="52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D79"/>
          </a:solidFill>
          <a:ln xmlns:a="http://schemas.openxmlformats.org/drawingml/2006/main" w="4373">
            <a:solidFill>
              <a:srgbClr val="388F5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5" name="ellipse 725">
            <a:extLst xmlns:a="http://schemas.openxmlformats.org/drawingml/2006/main">
              <a:ext uri="{FF2B5EF4-FFF2-40B4-BE49-F238E27FC236}">
                <a16:creationId xmlns:a16="http://schemas.microsoft.com/office/drawing/2014/main" id="{DE9308AC-814A-4B38-A8B0-F65FE924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200" y="5568526"/>
            <a:ext cx="38534" cy="385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D79"/>
          </a:solidFill>
          <a:ln xmlns:a="http://schemas.openxmlformats.org/drawingml/2006/main" w="4373">
            <a:solidFill>
              <a:srgbClr val="388F5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6" name="ellipse 726">
            <a:extLst xmlns:a="http://schemas.openxmlformats.org/drawingml/2006/main">
              <a:ext uri="{FF2B5EF4-FFF2-40B4-BE49-F238E27FC236}">
                <a16:creationId xmlns:a16="http://schemas.microsoft.com/office/drawing/2014/main" id="{748747DB-6373-4794-A5A5-66B4986C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5203" y="5573342"/>
            <a:ext cx="48167" cy="481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BD79"/>
          </a:solidFill>
          <a:ln xmlns:a="http://schemas.openxmlformats.org/drawingml/2006/main" w="4373">
            <a:solidFill>
              <a:srgbClr val="388F5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50" name="line 2050">
            <a:extLst xmlns:a="http://schemas.openxmlformats.org/drawingml/2006/main">
              <a:ext uri="{FF2B5EF4-FFF2-40B4-BE49-F238E27FC236}">
                <a16:creationId xmlns:a16="http://schemas.microsoft.com/office/drawing/2014/main" id="{93FC7F16-4DA3-4777-85D2-1464D84E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314" y="5937273"/>
            <a:ext cx="19347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37">
            <a:solidFill>
              <a:srgbClr val="E6CCD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51" name="Experiment III 2051">
            <a:extLst xmlns:a="http://schemas.openxmlformats.org/drawingml/2006/main">
              <a:ext uri="{FF2B5EF4-FFF2-40B4-BE49-F238E27FC236}">
                <a16:creationId xmlns:a16="http://schemas.microsoft.com/office/drawing/2014/main" id="{DDBB4BB7-D715-4311-8EB9-6A059E1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5981818"/>
            <a:ext cx="2036571" cy="203636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1DAE4"/>
          </a:solidFill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A44869"/>
                </a:solidFill>
                <a:latin typeface="Georgia"/>
                <a:ea typeface="Georgia"/>
                <a:cs typeface="Georgia"/>
              </a:rPr>
              <a:t>Experiment III</a:t>
            </a:r>
          </a:p>
        </p:txBody>
      </p:sp>
      <p:sp>
        <p:nvSpPr>
          <p:cNvPr id="2052" name="Aβ Internalization 2052">
            <a:extLst xmlns:a="http://schemas.openxmlformats.org/drawingml/2006/main">
              <a:ext uri="{FF2B5EF4-FFF2-40B4-BE49-F238E27FC236}">
                <a16:creationId xmlns:a16="http://schemas.microsoft.com/office/drawing/2014/main" id="{50E0D5E3-4F1B-428F-865A-3A3C8CE1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400" y="6236364"/>
            <a:ext cx="2036571" cy="178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2" b="1">
                <a:solidFill>
                  <a:srgbClr val="A44869"/>
                </a:solidFill>
                <a:latin typeface="Futura"/>
                <a:ea typeface="Futura"/>
                <a:cs typeface="Futura"/>
              </a:rPr>
              <a:t>Aβ Internalization</a:t>
            </a:r>
          </a:p>
        </p:txBody>
      </p:sp>
      <p:sp>
        <p:nvSpPr>
          <p:cNvPr id="728" name="roundRect 728">
            <a:extLst xmlns:a="http://schemas.openxmlformats.org/drawingml/2006/main">
              <a:ext uri="{FF2B5EF4-FFF2-40B4-BE49-F238E27FC236}">
                <a16:creationId xmlns:a16="http://schemas.microsoft.com/office/drawing/2014/main" id="{3F84C66F-DE6D-4017-9A76-C008492B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77" y="6483708"/>
            <a:ext cx="419987" cy="425426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933">
            <a:solidFill>
              <a:srgbClr val="8E6B8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9" name="roundRect 729">
            <a:extLst xmlns:a="http://schemas.openxmlformats.org/drawingml/2006/main">
              <a:ext uri="{FF2B5EF4-FFF2-40B4-BE49-F238E27FC236}">
                <a16:creationId xmlns:a16="http://schemas.microsoft.com/office/drawing/2014/main" id="{3E65A89F-F984-47DA-B6E5-184C3A20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361" y="6677083"/>
            <a:ext cx="342621" cy="187851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CADB"/>
          </a:solidFill>
          <a:ln xmlns:a="http://schemas.openxmlformats.org/drawingml/2006/main" w="893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0" name="ellipse 730">
            <a:extLst xmlns:a="http://schemas.openxmlformats.org/drawingml/2006/main">
              <a:ext uri="{FF2B5EF4-FFF2-40B4-BE49-F238E27FC236}">
                <a16:creationId xmlns:a16="http://schemas.microsoft.com/office/drawing/2014/main" id="{745A361B-677B-408F-8D84-BB1B792E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622" y="6737858"/>
            <a:ext cx="33157" cy="3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869"/>
          </a:solidFill>
          <a:ln xmlns:a="http://schemas.openxmlformats.org/drawingml/2006/main" w="893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1" name="ellipse 731">
            <a:extLst xmlns:a="http://schemas.openxmlformats.org/drawingml/2006/main">
              <a:ext uri="{FF2B5EF4-FFF2-40B4-BE49-F238E27FC236}">
                <a16:creationId xmlns:a16="http://schemas.microsoft.com/office/drawing/2014/main" id="{E5674F12-BECF-4A5A-BEC6-02E59B04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250" y="6787583"/>
            <a:ext cx="33157" cy="3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869"/>
          </a:solidFill>
          <a:ln xmlns:a="http://schemas.openxmlformats.org/drawingml/2006/main" w="893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2" name="ellipse 732">
            <a:extLst xmlns:a="http://schemas.openxmlformats.org/drawingml/2006/main">
              <a:ext uri="{FF2B5EF4-FFF2-40B4-BE49-F238E27FC236}">
                <a16:creationId xmlns:a16="http://schemas.microsoft.com/office/drawing/2014/main" id="{4DDE8150-E1BC-4097-BC87-D1D38FE0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037" y="6721283"/>
            <a:ext cx="33157" cy="3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869"/>
          </a:solidFill>
          <a:ln xmlns:a="http://schemas.openxmlformats.org/drawingml/2006/main" w="893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3" name="ellipse 733">
            <a:extLst xmlns:a="http://schemas.openxmlformats.org/drawingml/2006/main">
              <a:ext uri="{FF2B5EF4-FFF2-40B4-BE49-F238E27FC236}">
                <a16:creationId xmlns:a16="http://schemas.microsoft.com/office/drawing/2014/main" id="{A568D195-6DE6-4686-B5B7-079E7551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83" y="6815208"/>
            <a:ext cx="33157" cy="3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869"/>
          </a:solidFill>
          <a:ln xmlns:a="http://schemas.openxmlformats.org/drawingml/2006/main" w="8933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4" name="line 734">
            <a:extLst xmlns:a="http://schemas.openxmlformats.org/drawingml/2006/main">
              <a:ext uri="{FF2B5EF4-FFF2-40B4-BE49-F238E27FC236}">
                <a16:creationId xmlns:a16="http://schemas.microsoft.com/office/drawing/2014/main" id="{4A1DFFF7-03D3-43E5-8685-5F1E3701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504" y="6682607"/>
            <a:ext cx="1823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17">
            <a:solidFill>
              <a:srgbClr val="A44869"/>
            </a:solidFill>
            <a:tailEnd type="triangle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5" name="roundRect 735">
            <a:extLst xmlns:a="http://schemas.openxmlformats.org/drawingml/2006/main">
              <a:ext uri="{FF2B5EF4-FFF2-40B4-BE49-F238E27FC236}">
                <a16:creationId xmlns:a16="http://schemas.microsoft.com/office/drawing/2014/main" id="{F05719B1-DDB2-4410-B1E7-77740C26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181" y="6478182"/>
            <a:ext cx="519457" cy="436477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933">
            <a:solidFill>
              <a:srgbClr val="8E6B8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6" name="ellipse 736">
            <a:extLst xmlns:a="http://schemas.openxmlformats.org/drawingml/2006/main">
              <a:ext uri="{FF2B5EF4-FFF2-40B4-BE49-F238E27FC236}">
                <a16:creationId xmlns:a16="http://schemas.microsoft.com/office/drawing/2014/main" id="{0034C581-91FB-4124-9043-1D81E974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916" y="652790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7" name="ellipse 737">
            <a:extLst xmlns:a="http://schemas.openxmlformats.org/drawingml/2006/main">
              <a:ext uri="{FF2B5EF4-FFF2-40B4-BE49-F238E27FC236}">
                <a16:creationId xmlns:a16="http://schemas.microsoft.com/office/drawing/2014/main" id="{75F6E1B9-7368-47ED-ACAB-F9227246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335" y="652790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8" name="ellipse 738">
            <a:extLst xmlns:a="http://schemas.openxmlformats.org/drawingml/2006/main">
              <a:ext uri="{FF2B5EF4-FFF2-40B4-BE49-F238E27FC236}">
                <a16:creationId xmlns:a16="http://schemas.microsoft.com/office/drawing/2014/main" id="{2C290918-B4C5-4602-B3B8-687CB219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52" y="652790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9" name="ellipse 739">
            <a:extLst xmlns:a="http://schemas.openxmlformats.org/drawingml/2006/main">
              <a:ext uri="{FF2B5EF4-FFF2-40B4-BE49-F238E27FC236}">
                <a16:creationId xmlns:a16="http://schemas.microsoft.com/office/drawing/2014/main" id="{899587E4-919F-4304-858E-9C1B558F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171" y="652790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0" name="ellipse 740">
            <a:extLst xmlns:a="http://schemas.openxmlformats.org/drawingml/2006/main">
              <a:ext uri="{FF2B5EF4-FFF2-40B4-BE49-F238E27FC236}">
                <a16:creationId xmlns:a16="http://schemas.microsoft.com/office/drawing/2014/main" id="{BEE5662D-5A52-4370-96FC-A072B492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589" y="652790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1" name="ellipse 741">
            <a:extLst xmlns:a="http://schemas.openxmlformats.org/drawingml/2006/main">
              <a:ext uri="{FF2B5EF4-FFF2-40B4-BE49-F238E27FC236}">
                <a16:creationId xmlns:a16="http://schemas.microsoft.com/office/drawing/2014/main" id="{753C5A3E-EDFD-436A-AD37-11339CE4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916" y="662183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2" name="ellipse 742">
            <a:extLst xmlns:a="http://schemas.openxmlformats.org/drawingml/2006/main">
              <a:ext uri="{FF2B5EF4-FFF2-40B4-BE49-F238E27FC236}">
                <a16:creationId xmlns:a16="http://schemas.microsoft.com/office/drawing/2014/main" id="{220D654E-D1C9-426C-96ED-019DB274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335" y="662183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3" name="ellipse 743">
            <a:extLst xmlns:a="http://schemas.openxmlformats.org/drawingml/2006/main">
              <a:ext uri="{FF2B5EF4-FFF2-40B4-BE49-F238E27FC236}">
                <a16:creationId xmlns:a16="http://schemas.microsoft.com/office/drawing/2014/main" id="{65FA7B27-A153-47B7-93C7-44D11C4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52" y="662183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4" name="ellipse 744">
            <a:extLst xmlns:a="http://schemas.openxmlformats.org/drawingml/2006/main">
              <a:ext uri="{FF2B5EF4-FFF2-40B4-BE49-F238E27FC236}">
                <a16:creationId xmlns:a16="http://schemas.microsoft.com/office/drawing/2014/main" id="{83AD4BB6-814A-4061-A645-BBB1635C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171" y="662183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5" name="ellipse 745">
            <a:extLst xmlns:a="http://schemas.openxmlformats.org/drawingml/2006/main">
              <a:ext uri="{FF2B5EF4-FFF2-40B4-BE49-F238E27FC236}">
                <a16:creationId xmlns:a16="http://schemas.microsoft.com/office/drawing/2014/main" id="{9A5B158E-FDEA-4091-B75B-027916E7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589" y="662183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6" name="ellipse 746">
            <a:extLst xmlns:a="http://schemas.openxmlformats.org/drawingml/2006/main">
              <a:ext uri="{FF2B5EF4-FFF2-40B4-BE49-F238E27FC236}">
                <a16:creationId xmlns:a16="http://schemas.microsoft.com/office/drawing/2014/main" id="{CBB2CF87-3C27-40DA-B579-B8ECDFC6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916" y="671575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7" name="ellipse 747">
            <a:extLst xmlns:a="http://schemas.openxmlformats.org/drawingml/2006/main">
              <a:ext uri="{FF2B5EF4-FFF2-40B4-BE49-F238E27FC236}">
                <a16:creationId xmlns:a16="http://schemas.microsoft.com/office/drawing/2014/main" id="{0746F103-E89C-4B04-9BD9-B7C20B77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335" y="671575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8" name="ellipse 748">
            <a:extLst xmlns:a="http://schemas.openxmlformats.org/drawingml/2006/main">
              <a:ext uri="{FF2B5EF4-FFF2-40B4-BE49-F238E27FC236}">
                <a16:creationId xmlns:a16="http://schemas.microsoft.com/office/drawing/2014/main" id="{BF496E34-5FE4-4D4A-A80C-AC79D97D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52" y="671575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9" name="ellipse 749">
            <a:extLst xmlns:a="http://schemas.openxmlformats.org/drawingml/2006/main">
              <a:ext uri="{FF2B5EF4-FFF2-40B4-BE49-F238E27FC236}">
                <a16:creationId xmlns:a16="http://schemas.microsoft.com/office/drawing/2014/main" id="{F21FDF4F-3D7E-4A71-921C-E7C45D21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171" y="671575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0" name="ellipse 750">
            <a:extLst xmlns:a="http://schemas.openxmlformats.org/drawingml/2006/main">
              <a:ext uri="{FF2B5EF4-FFF2-40B4-BE49-F238E27FC236}">
                <a16:creationId xmlns:a16="http://schemas.microsoft.com/office/drawing/2014/main" id="{4E0824F2-39E7-40C0-A7BB-BAF63E5A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589" y="6715758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1" name="ellipse 751">
            <a:extLst xmlns:a="http://schemas.openxmlformats.org/drawingml/2006/main">
              <a:ext uri="{FF2B5EF4-FFF2-40B4-BE49-F238E27FC236}">
                <a16:creationId xmlns:a16="http://schemas.microsoft.com/office/drawing/2014/main" id="{7B01A6B2-1B4D-420B-806C-B9D32DD2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0916" y="680968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2" name="ellipse 752">
            <a:extLst xmlns:a="http://schemas.openxmlformats.org/drawingml/2006/main">
              <a:ext uri="{FF2B5EF4-FFF2-40B4-BE49-F238E27FC236}">
                <a16:creationId xmlns:a16="http://schemas.microsoft.com/office/drawing/2014/main" id="{5A95E5B2-8760-4B8D-A651-50AD2775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335" y="680968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3" name="ellipse 753">
            <a:extLst xmlns:a="http://schemas.openxmlformats.org/drawingml/2006/main">
              <a:ext uri="{FF2B5EF4-FFF2-40B4-BE49-F238E27FC236}">
                <a16:creationId xmlns:a16="http://schemas.microsoft.com/office/drawing/2014/main" id="{A7099903-DB16-4531-A170-84633B64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752" y="680968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4" name="ellipse 754">
            <a:extLst xmlns:a="http://schemas.openxmlformats.org/drawingml/2006/main">
              <a:ext uri="{FF2B5EF4-FFF2-40B4-BE49-F238E27FC236}">
                <a16:creationId xmlns:a16="http://schemas.microsoft.com/office/drawing/2014/main" id="{C637A078-B03D-440F-87F1-982ADC8D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171" y="680968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5" name="ellipse 755">
            <a:extLst xmlns:a="http://schemas.openxmlformats.org/drawingml/2006/main">
              <a:ext uri="{FF2B5EF4-FFF2-40B4-BE49-F238E27FC236}">
                <a16:creationId xmlns:a16="http://schemas.microsoft.com/office/drawing/2014/main" id="{F8C78636-DE66-46FC-90B9-2FC25AF2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589" y="6809683"/>
            <a:ext cx="55261" cy="5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DCE7"/>
          </a:solidFill>
          <a:ln xmlns:a="http://schemas.openxmlformats.org/drawingml/2006/main" w="4467">
            <a:solidFill>
              <a:srgbClr val="BA7C9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100" name="AAV capsid 1">
            <a:extLst xmlns:a="http://schemas.openxmlformats.org/drawingml/2006/main">
              <a:ext uri="{FF2B5EF4-FFF2-40B4-BE49-F238E27FC236}">
                <a16:creationId xmlns:a16="http://schemas.microsoft.com/office/drawing/2014/main" id="{8FDF44EA-F41A-4C22-891E-9B471086D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74ab429184ed1"/>
          <a:stretch xmlns:a="http://schemas.openxmlformats.org/drawingml/2006/main"/>
        </p:blipFill>
        <p:spPr>
          <a:xfrm xmlns:a="http://schemas.openxmlformats.org/drawingml/2006/main">
            <a:off x="2978486" y="1431964"/>
            <a:ext cx="610971" cy="610971"/>
          </a:xfrm>
          <a:prstGeom xmlns:a="http://schemas.openxmlformats.org/drawingml/2006/main" prst="rect">
            <a:avLst/>
          </a:prstGeom>
        </p:spPr>
      </p:pic>
      <p:pic>
        <p:nvPicPr>
          <p:cNvPr id="3101" name="AAV capsid 2">
            <a:extLst xmlns:a="http://schemas.openxmlformats.org/drawingml/2006/main">
              <a:ext uri="{FF2B5EF4-FFF2-40B4-BE49-F238E27FC236}">
                <a16:creationId xmlns:a16="http://schemas.microsoft.com/office/drawing/2014/main" id="{45F4C871-A94F-415E-876F-AFFAD3A37A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74ab429184ed1"/>
          <a:stretch xmlns:a="http://schemas.openxmlformats.org/drawingml/2006/main"/>
        </p:blipFill>
        <p:spPr>
          <a:xfrm xmlns:a="http://schemas.openxmlformats.org/drawingml/2006/main">
            <a:off x="3392165" y="1718357"/>
            <a:ext cx="610971" cy="610971"/>
          </a:xfrm>
          <a:prstGeom xmlns:a="http://schemas.openxmlformats.org/drawingml/2006/main" prst="rect">
            <a:avLst/>
          </a:prstGeom>
        </p:spPr>
      </p:pic>
      <p:pic>
        <p:nvPicPr>
          <p:cNvPr id="3102" name="AAV capsid 3">
            <a:extLst xmlns:a="http://schemas.openxmlformats.org/drawingml/2006/main">
              <a:ext uri="{FF2B5EF4-FFF2-40B4-BE49-F238E27FC236}">
                <a16:creationId xmlns:a16="http://schemas.microsoft.com/office/drawing/2014/main" id="{01D4F78A-C1D7-4319-83F2-B237C3F73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74ab429184ed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3863122" y="1323771"/>
            <a:ext cx="1081929" cy="1081929"/>
          </a:xfrm>
          <a:prstGeom xmlns:a="http://schemas.openxmlformats.org/drawingml/2006/main" prst="rect">
            <a:avLst/>
          </a:prstGeom>
        </p:spPr>
      </p:pic>
      <p:sp>
        <p:nvSpPr>
          <p:cNvPr id="3001" name="line 3001">
            <a:extLst xmlns:a="http://schemas.openxmlformats.org/drawingml/2006/main">
              <a:ext uri="{FF2B5EF4-FFF2-40B4-BE49-F238E27FC236}">
                <a16:creationId xmlns:a16="http://schemas.microsoft.com/office/drawing/2014/main" id="{C52672F0-1E5A-498F-AF11-31EA9CE9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315" y="1864736"/>
            <a:ext cx="865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56">
            <a:solidFill>
              <a:srgbClr val="2C66A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02" name="roundRect 3002">
            <a:extLst xmlns:a="http://schemas.openxmlformats.org/drawingml/2006/main">
              <a:ext uri="{FF2B5EF4-FFF2-40B4-BE49-F238E27FC236}">
                <a16:creationId xmlns:a16="http://schemas.microsoft.com/office/drawing/2014/main" id="{9F4A5201-4F4E-4A02-A034-6B7A983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315" y="1782000"/>
            <a:ext cx="210021" cy="165471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7001">
            <a:solidFill>
              <a:srgbClr val="2C66A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03" name="ITR 3003">
            <a:extLst xmlns:a="http://schemas.openxmlformats.org/drawingml/2006/main">
              <a:ext uri="{FF2B5EF4-FFF2-40B4-BE49-F238E27FC236}">
                <a16:creationId xmlns:a16="http://schemas.microsoft.com/office/drawing/2014/main" id="{5EA3EC4E-06A5-42E0-A8E4-1B8F6F05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315" y="1782000"/>
            <a:ext cx="210021" cy="165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0">
                <a:solidFill>
                  <a:srgbClr val="2C66AF"/>
                </a:solidFill>
                <a:latin typeface="Futura"/>
                <a:ea typeface="Futura"/>
                <a:cs typeface="Futura"/>
              </a:rPr>
              <a:t>ITR</a:t>
            </a:r>
          </a:p>
        </p:txBody>
      </p:sp>
      <p:sp>
        <p:nvSpPr>
          <p:cNvPr id="3004" name="roundRect 3004">
            <a:extLst xmlns:a="http://schemas.openxmlformats.org/drawingml/2006/main">
              <a:ext uri="{FF2B5EF4-FFF2-40B4-BE49-F238E27FC236}">
                <a16:creationId xmlns:a16="http://schemas.microsoft.com/office/drawing/2014/main" id="{2C15721B-1294-4551-904D-F6A09BCD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793" y="1782000"/>
            <a:ext cx="369129" cy="165471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7001">
            <a:solidFill>
              <a:srgbClr val="2C66A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05" name="ORCA 3005">
            <a:extLst xmlns:a="http://schemas.openxmlformats.org/drawingml/2006/main">
              <a:ext uri="{FF2B5EF4-FFF2-40B4-BE49-F238E27FC236}">
                <a16:creationId xmlns:a16="http://schemas.microsoft.com/office/drawing/2014/main" id="{D4D32E15-1FC8-4D5F-A065-2FFEE346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793" y="1782000"/>
            <a:ext cx="369129" cy="165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0">
                <a:solidFill>
                  <a:srgbClr val="2C66AF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3006" name="roundRect 3006">
            <a:extLst xmlns:a="http://schemas.openxmlformats.org/drawingml/2006/main">
              <a:ext uri="{FF2B5EF4-FFF2-40B4-BE49-F238E27FC236}">
                <a16:creationId xmlns:a16="http://schemas.microsoft.com/office/drawing/2014/main" id="{8450C5A2-92D5-4B0D-A9C4-17A5B8BF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379" y="1782000"/>
            <a:ext cx="210021" cy="165471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7001">
            <a:solidFill>
              <a:srgbClr val="2C66A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" name="Portrait connector 406">
            <a:extLst xmlns:a="http://schemas.openxmlformats.org/drawingml/2006/main">
              <a:ext uri="{FF2B5EF4-FFF2-40B4-BE49-F238E27FC236}">
                <a16:creationId xmlns:a16="http://schemas.microsoft.com/office/drawing/2014/main" id="{AC449454-92FD-498A-A08A-7C45453DD20A}"/>
              </a:ext>
            </a:extLst>
          </p:cNvPr>
          <p:cNvCxnSpPr/>
          <p:nvPr/>
        </p:nvCxnSpPr>
        <p:spPr>
          <a:xfrm xmlns:a="http://schemas.openxmlformats.org/drawingml/2006/main">
            <a:off x="5610118" y="4142060"/>
            <a:ext cx="1836096" cy="0"/>
          </a:xfrm>
          <a:prstGeom xmlns:a="http://schemas.openxmlformats.org/drawingml/2006/main" prst="straightConnector1">
            <a:avLst/>
          </a:prstGeom>
          <a:ln xmlns:a="http://schemas.openxmlformats.org/drawingml/2006/main" w="19153">
            <a:solidFill>
              <a:srgbClr val="35566A"/>
            </a:solidFill>
            <a:prstDash val="solid"/>
            <a:tailEnd type="none" w="med" len="med"/>
          </a:ln>
        </p:spPr>
      </p:cxnSp>
      <p:sp>
        <p:nvSpPr>
          <p:cNvPr id="3007" name="ITR 3007">
            <a:extLst xmlns:a="http://schemas.openxmlformats.org/drawingml/2006/main">
              <a:ext uri="{FF2B5EF4-FFF2-40B4-BE49-F238E27FC236}">
                <a16:creationId xmlns:a16="http://schemas.microsoft.com/office/drawing/2014/main" id="{A8233251-D873-4E2E-A5BD-C0CC7D66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379" y="1782000"/>
            <a:ext cx="210021" cy="165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56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2" b="0">
                <a:solidFill>
                  <a:srgbClr val="2C66AF"/>
                </a:solidFill>
                <a:latin typeface="Futura"/>
                <a:ea typeface="Futura"/>
                <a:cs typeface="Futura"/>
              </a:rPr>
              <a:t>ITR</a:t>
            </a:r>
          </a:p>
        </p:txBody>
      </p:sp>
      <p:sp>
        <p:nvSpPr>
          <p:cNvPr id="4005" name="rect 4005">
            <a:extLst xmlns:a="http://schemas.openxmlformats.org/drawingml/2006/main">
              <a:ext uri="{FF2B5EF4-FFF2-40B4-BE49-F238E27FC236}">
                <a16:creationId xmlns:a16="http://schemas.microsoft.com/office/drawing/2014/main" id="{ADA6F294-E324-4544-81E8-A5CB8785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43" y="4633200"/>
            <a:ext cx="184564" cy="171836"/>
          </a:xfrm>
          <a:custGeom xmlns:a="http://schemas.openxmlformats.org/drawingml/2006/main">
            <a:rect l="0" t="0" r="r" b="b"/>
            <a:pathLst>
              <a:path w="2900" h="2700">
                <a:moveTo>
                  <a:pt x="0" y="2600"/>
                </a:moveTo>
                <a:cubicBezTo>
                  <a:pt x="700" y="2600"/>
                  <a:pt x="650" y="250"/>
                  <a:pt x="1450" y="150"/>
                </a:cubicBezTo>
                <a:cubicBezTo>
                  <a:pt x="2250" y="250"/>
                  <a:pt x="2200" y="2600"/>
                  <a:pt x="2900" y="2600"/>
                </a:cubicBezTo>
                <a:close/>
              </a:path>
            </a:pathLst>
          </a:custGeom>
          <a:solidFill xmlns:a="http://schemas.openxmlformats.org/drawingml/2006/main">
            <a:srgbClr val="3C80D5">
              <a:alpha val="25000"/>
            </a:srgbClr>
          </a:solidFill>
          <a:ln xmlns:a="http://schemas.openxmlformats.org/drawingml/2006/main" w="9546">
            <a:solidFill>
              <a:srgbClr val="3C80D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06" name="rect 4006">
            <a:extLst xmlns:a="http://schemas.openxmlformats.org/drawingml/2006/main">
              <a:ext uri="{FF2B5EF4-FFF2-40B4-BE49-F238E27FC236}">
                <a16:creationId xmlns:a16="http://schemas.microsoft.com/office/drawing/2014/main" id="{ADB387D6-2C29-4C29-B230-A174A5D8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786" y="4633200"/>
            <a:ext cx="184564" cy="171836"/>
          </a:xfrm>
          <a:custGeom xmlns:a="http://schemas.openxmlformats.org/drawingml/2006/main">
            <a:rect l="0" t="0" r="r" b="b"/>
            <a:pathLst>
              <a:path w="2900" h="2700">
                <a:moveTo>
                  <a:pt x="0" y="2600"/>
                </a:moveTo>
                <a:cubicBezTo>
                  <a:pt x="700" y="2600"/>
                  <a:pt x="650" y="250"/>
                  <a:pt x="1450" y="150"/>
                </a:cubicBezTo>
                <a:cubicBezTo>
                  <a:pt x="2250" y="250"/>
                  <a:pt x="2200" y="2600"/>
                  <a:pt x="2900" y="2600"/>
                </a:cubicBezTo>
                <a:close/>
              </a:path>
            </a:pathLst>
          </a:custGeom>
          <a:solidFill xmlns:a="http://schemas.openxmlformats.org/drawingml/2006/main">
            <a:srgbClr val="D85670">
              <a:alpha val="25000"/>
            </a:srgbClr>
          </a:solidFill>
          <a:ln xmlns:a="http://schemas.openxmlformats.org/drawingml/2006/main" w="9546">
            <a:solidFill>
              <a:srgbClr val="D8567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07" name="rect 4007">
            <a:extLst xmlns:a="http://schemas.openxmlformats.org/drawingml/2006/main">
              <a:ext uri="{FF2B5EF4-FFF2-40B4-BE49-F238E27FC236}">
                <a16:creationId xmlns:a16="http://schemas.microsoft.com/office/drawing/2014/main" id="{7412984F-8CE1-44B6-BC2F-F905AC9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629" y="4633200"/>
            <a:ext cx="184564" cy="171836"/>
          </a:xfrm>
          <a:custGeom xmlns:a="http://schemas.openxmlformats.org/drawingml/2006/main">
            <a:rect l="0" t="0" r="r" b="b"/>
            <a:pathLst>
              <a:path w="2900" h="2700">
                <a:moveTo>
                  <a:pt x="0" y="2600"/>
                </a:moveTo>
                <a:cubicBezTo>
                  <a:pt x="700" y="2600"/>
                  <a:pt x="650" y="250"/>
                  <a:pt x="1450" y="150"/>
                </a:cubicBezTo>
                <a:cubicBezTo>
                  <a:pt x="2250" y="250"/>
                  <a:pt x="2200" y="2600"/>
                  <a:pt x="2900" y="2600"/>
                </a:cubicBezTo>
                <a:close/>
              </a:path>
            </a:pathLst>
          </a:custGeom>
          <a:solidFill xmlns:a="http://schemas.openxmlformats.org/drawingml/2006/main">
            <a:srgbClr val="30A56A">
              <a:alpha val="25000"/>
            </a:srgbClr>
          </a:solidFill>
          <a:ln xmlns:a="http://schemas.openxmlformats.org/drawingml/2006/main" w="9546">
            <a:solidFill>
              <a:srgbClr val="30A56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00" name="BFP component">
            <a:extLst xmlns:a="http://schemas.openxmlformats.org/drawingml/2006/main">
              <a:ext uri="{FF2B5EF4-FFF2-40B4-BE49-F238E27FC236}">
                <a16:creationId xmlns:a16="http://schemas.microsoft.com/office/drawing/2014/main" id="{69A0EA10-3C32-4B7A-BC48-E48AFEEB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937" y="4034060"/>
            <a:ext cx="676290" cy="2160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9FC"/>
          </a:solidFill>
          <a:ln xmlns:a="http://schemas.openxmlformats.org/drawingml/2006/main" w="14684">
            <a:solidFill>
              <a:srgbClr val="3779C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01" name="BFP label">
            <a:extLst xmlns:a="http://schemas.openxmlformats.org/drawingml/2006/main">
              <a:ext uri="{FF2B5EF4-FFF2-40B4-BE49-F238E27FC236}">
                <a16:creationId xmlns:a16="http://schemas.microsoft.com/office/drawing/2014/main" id="{2CC0D623-2A14-459E-8601-E5759165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937" y="4034060"/>
            <a:ext cx="67629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CB3D58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3779C3"/>
                </a:solidFill>
                <a:latin typeface="Futura"/>
                <a:ea typeface="Futura"/>
                <a:cs typeface="Futura"/>
              </a:rPr>
              <a:t>BFP</a:t>
            </a:r>
          </a:p>
        </p:txBody>
      </p:sp>
      <p:sp>
        <p:nvSpPr>
          <p:cNvPr id="5102" name="ORCA component">
            <a:extLst xmlns:a="http://schemas.openxmlformats.org/drawingml/2006/main">
              <a:ext uri="{FF2B5EF4-FFF2-40B4-BE49-F238E27FC236}">
                <a16:creationId xmlns:a16="http://schemas.microsoft.com/office/drawing/2014/main" id="{EC8C40A9-744C-4C1E-BD75-BBE45862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4060"/>
            <a:ext cx="775445" cy="2160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7EEF6"/>
          </a:solidFill>
          <a:ln xmlns:a="http://schemas.openxmlformats.org/drawingml/2006/main" w="14684">
            <a:solidFill>
              <a:srgbClr val="0788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03" name="ORCA label">
            <a:extLst xmlns:a="http://schemas.openxmlformats.org/drawingml/2006/main">
              <a:ext uri="{FF2B5EF4-FFF2-40B4-BE49-F238E27FC236}">
                <a16:creationId xmlns:a16="http://schemas.microsoft.com/office/drawing/2014/main" id="{D6F36DDA-D14B-4E36-B4E8-443D85F5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4060"/>
            <a:ext cx="775445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92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defPPr>
            <a:lvl1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1pPr>
            <a:lvl2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2pPr>
            <a:lvl3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3pPr>
            <a:lvl4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4pPr>
            <a:lvl5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5pPr>
            <a:lvl6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6pPr>
            <a:lvl7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7pPr>
            <a:lvl8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8pPr>
            <a:lvl9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lvl9pPr>
          </a:lstStyle>
          <a:p xmlns:a="http://schemas.openxmlformats.org/drawingml/2006/main">
            <a:pPr algn="ctr">
              <a:buNone/>
              <a:defRPr sz="902" b="0">
                <a:solidFill>
                  <a:srgbClr val="238552"/>
                </a:solidFill>
                <a:latin typeface="Futura"/>
                <a:ea typeface="Futura"/>
                <a:cs typeface="Futura"/>
              </a:defRPr>
            </a:pPr>
            <a:r>
              <a:rPr sz="902" b="0">
                <a:solidFill>
                  <a:srgbClr val="0788B5"/>
                </a:solidFill>
                <a:latin typeface="Futura"/>
                <a:ea typeface="Futura"/>
                <a:cs typeface="Futura"/>
              </a:rPr>
              <a:t>ORCA</a:t>
            </a:r>
          </a:p>
        </p:txBody>
      </p:sp>
      <p:sp>
        <p:nvSpPr>
          <p:cNvPr id="5002" name="line 5002">
            <a:extLst xmlns:a="http://schemas.openxmlformats.org/drawingml/2006/main">
              <a:ext uri="{FF2B5EF4-FFF2-40B4-BE49-F238E27FC236}">
                <a16:creationId xmlns:a16="http://schemas.microsoft.com/office/drawing/2014/main" id="{33EBC21E-15F2-4B5F-B363-61620C4F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129" y="4275517"/>
            <a:ext cx="0" cy="572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910">
            <a:solidFill>
              <a:srgbClr val="BC5B0C"/>
            </a:solidFill>
            <a:tailEnd type="triangle" w="med" len="me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01" name="line 6001">
            <a:extLst xmlns:a="http://schemas.openxmlformats.org/drawingml/2006/main">
              <a:ext uri="{FF2B5EF4-FFF2-40B4-BE49-F238E27FC236}">
                <a16:creationId xmlns:a16="http://schemas.microsoft.com/office/drawing/2014/main" id="{07CF40C2-9629-4C56-8EF3-C812C8E9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057" y="2545714"/>
            <a:ext cx="22911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56">
            <a:solidFill>
              <a:srgbClr val="7D91A6"/>
            </a:solidFill>
          </a:ln>
        </p:spPr>
      </p:sp>
      <p:sp>
        <p:nvSpPr>
          <p:cNvPr id="6002" name="ellipse 6002">
            <a:extLst xmlns:a="http://schemas.openxmlformats.org/drawingml/2006/main">
              <a:ext uri="{FF2B5EF4-FFF2-40B4-BE49-F238E27FC236}">
                <a16:creationId xmlns:a16="http://schemas.microsoft.com/office/drawing/2014/main" id="{1C34B67D-C8EC-4A5D-896E-3C69FDB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782" y="2523439"/>
            <a:ext cx="44550" cy="4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1A6"/>
          </a:solidFill>
          <a:ln xmlns:a="http://schemas.openxmlformats.org/drawingml/2006/main" w="11456">
            <a:noFill/>
          </a:ln>
        </p:spPr>
      </p:sp>
      <p:sp>
        <p:nvSpPr>
          <p:cNvPr id="6003" name="ellipse 6003">
            <a:extLst xmlns:a="http://schemas.openxmlformats.org/drawingml/2006/main">
              <a:ext uri="{FF2B5EF4-FFF2-40B4-BE49-F238E27FC236}">
                <a16:creationId xmlns:a16="http://schemas.microsoft.com/office/drawing/2014/main" id="{8AB9B416-3E8C-4084-9EB1-5148CA38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896" y="2523439"/>
            <a:ext cx="44550" cy="4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1A6"/>
          </a:solidFill>
          <a:ln xmlns:a="http://schemas.openxmlformats.org/drawingml/2006/main" w="11456">
            <a:noFill/>
          </a:ln>
        </p:spPr>
      </p:sp>
      <p:sp>
        <p:nvSpPr>
          <p:cNvPr id="6004" name="line 6004">
            <a:extLst xmlns:a="http://schemas.openxmlformats.org/drawingml/2006/main">
              <a:ext uri="{FF2B5EF4-FFF2-40B4-BE49-F238E27FC236}">
                <a16:creationId xmlns:a16="http://schemas.microsoft.com/office/drawing/2014/main" id="{450EAD3D-A6AB-4940-B085-B773B49F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543" y="5282357"/>
            <a:ext cx="2545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56">
            <a:solidFill>
              <a:srgbClr val="7D91A6"/>
            </a:solidFill>
          </a:ln>
        </p:spPr>
      </p:sp>
      <p:sp>
        <p:nvSpPr>
          <p:cNvPr id="6005" name="ellipse 6005">
            <a:extLst xmlns:a="http://schemas.openxmlformats.org/drawingml/2006/main">
              <a:ext uri="{FF2B5EF4-FFF2-40B4-BE49-F238E27FC236}">
                <a16:creationId xmlns:a16="http://schemas.microsoft.com/office/drawing/2014/main" id="{2DF4857C-89B3-484C-89F5-5CD0578D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268" y="5260082"/>
            <a:ext cx="44550" cy="4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1A6"/>
          </a:solidFill>
          <a:ln xmlns:a="http://schemas.openxmlformats.org/drawingml/2006/main" w="11456">
            <a:noFill/>
          </a:ln>
        </p:spPr>
      </p:sp>
      <p:sp>
        <p:nvSpPr>
          <p:cNvPr id="6006" name="ellipse 6006">
            <a:extLst xmlns:a="http://schemas.openxmlformats.org/drawingml/2006/main">
              <a:ext uri="{FF2B5EF4-FFF2-40B4-BE49-F238E27FC236}">
                <a16:creationId xmlns:a16="http://schemas.microsoft.com/office/drawing/2014/main" id="{E2738B0E-7359-494D-9E7A-BCD71D51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839" y="5260082"/>
            <a:ext cx="44550" cy="4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1A6"/>
          </a:solidFill>
          <a:ln xmlns:a="http://schemas.openxmlformats.org/drawingml/2006/main" w="11456">
            <a:noFill/>
          </a:ln>
        </p:spPr>
      </p:sp>
    </p:spTree>
    <p:extLst>
      <p:ext uri="{BB962C8B-B14F-4D97-AF65-F5344CB8AC3E}">
        <p14:creationId xmlns:p14="http://schemas.microsoft.com/office/powerpoint/2010/main" val="492954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2026-10-19T03:16:31.8500000Z</dcterms:created>
  <dcterms:modified xsi:type="dcterms:W3CDTF">2026-10-19T03:16:31.8500000Z</dcterms:modified>
</coreProperties>
</file>