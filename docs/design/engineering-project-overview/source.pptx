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73"/>
  </p:normalViewPr>
  <p:slideViewPr>
    <p:cSldViewPr snapToGrid="0">
      <p:cViewPr>
        <p:scale>
          <a:sx n="72" d="100"/>
          <a:sy n="72" d="100"/>
        </p:scale>
        <p:origin x="1440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52B6D99-53B8-43AF-9C52-C540C0CA0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4174067"/>
            <a:ext cx="13716000" cy="15959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F9D78DF-0A53-4531-BA4A-034E6CFFF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1750" y="6076950"/>
            <a:ext cx="12001500" cy="12276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F66290-E10F-4070-9EF7-43D052209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4603750"/>
            <a:ext cx="13716000" cy="1841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49324B-CD2A-4E6F-90B7-7B347D3E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FC22238-7E36-405A-9DAC-3050E8960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15216188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C2E2882-C7F7-43E0-B091-4BEDA3785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A5260AA-7596-4C5E-A263-58E8CF1AE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31A9BFB-73C7-4C86-A5FB-5DD18A46E4A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9108281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C3C1241-42BB-49A3-9009-4DFD88992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9B782B3-C781-4345-A610-9B65C2577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rect 2001"/>
          <p:cNvSpPr/>
          <p:nvPr/>
        </p:nvSpPr>
        <p:spPr>
          <a:xfrm>
            <a:off x="152743" y="152727"/>
            <a:ext cx="10386514" cy="7254545"/>
          </a:xfrm>
          <a:custGeom>
            <a:avLst/>
            <a:gdLst/>
            <a:ahLst/>
            <a:cxnLst/>
            <a:rect l="0" t="0" r="r" b="b"/>
            <a:pathLst>
              <a:path w="163200" h="114000">
                <a:moveTo>
                  <a:pt x="38000" y="2400"/>
                </a:moveTo>
                <a:quadBezTo>
                  <a:pt x="38000" y="0"/>
                  <a:pt x="40400" y="0"/>
                </a:quadBezTo>
                <a:lnTo>
                  <a:pt x="160800" y="0"/>
                </a:lnTo>
                <a:quadBezTo>
                  <a:pt x="163200" y="0"/>
                  <a:pt x="163200" y="2400"/>
                </a:quadBezTo>
                <a:lnTo>
                  <a:pt x="163200" y="35200"/>
                </a:lnTo>
                <a:quadBezTo>
                  <a:pt x="163200" y="37600"/>
                  <a:pt x="160800" y="37600"/>
                </a:quadBezTo>
                <a:lnTo>
                  <a:pt x="125600" y="37600"/>
                </a:lnTo>
                <a:quadBezTo>
                  <a:pt x="123200" y="37600"/>
                  <a:pt x="123200" y="40000"/>
                </a:quadBezTo>
                <a:lnTo>
                  <a:pt x="123200" y="111600"/>
                </a:lnTo>
                <a:quadBezTo>
                  <a:pt x="123200" y="114000"/>
                  <a:pt x="120800" y="114000"/>
                </a:quadBezTo>
                <a:lnTo>
                  <a:pt x="2400" y="114000"/>
                </a:lnTo>
                <a:quadBezTo>
                  <a:pt x="0" y="114000"/>
                  <a:pt x="0" y="111600"/>
                </a:quadBezTo>
                <a:lnTo>
                  <a:pt x="0" y="83200"/>
                </a:lnTo>
                <a:quadBezTo>
                  <a:pt x="0" y="80800"/>
                  <a:pt x="2400" y="80800"/>
                </a:quadBezTo>
                <a:lnTo>
                  <a:pt x="35600" y="80800"/>
                </a:lnTo>
                <a:quadBezTo>
                  <a:pt x="38000" y="80800"/>
                  <a:pt x="38000" y="78400"/>
                </a:quadBezTo>
                <a:close/>
              </a:path>
            </a:pathLst>
          </a:custGeom>
          <a:solidFill>
            <a:srgbClr val="F8FAFC"/>
          </a:solidFill>
          <a:ln w="11456">
            <a:solidFill>
              <a:srgbClr val="ABBB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2" name="roundRect 2002"/>
          <p:cNvSpPr/>
          <p:nvPr/>
        </p:nvSpPr>
        <p:spPr>
          <a:xfrm>
            <a:off x="152743" y="152727"/>
            <a:ext cx="2189314" cy="5015073"/>
          </a:xfrm>
          <a:prstGeom prst="roundRect">
            <a:avLst>
              <a:gd name="adj" fmla="val 6977"/>
            </a:avLst>
          </a:prstGeom>
          <a:solidFill>
            <a:srgbClr val="F0F4F8"/>
          </a:solidFill>
          <a:ln w="15274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3" name="roundRect 2003"/>
          <p:cNvSpPr/>
          <p:nvPr/>
        </p:nvSpPr>
        <p:spPr>
          <a:xfrm>
            <a:off x="8248114" y="2673000"/>
            <a:ext cx="2291143" cy="4607743"/>
          </a:xfrm>
          <a:prstGeom prst="roundRect">
            <a:avLst>
              <a:gd name="adj" fmla="val 6667"/>
            </a:avLst>
          </a:prstGeom>
          <a:solidFill>
            <a:srgbClr val="FBF0F4"/>
          </a:solidFill>
          <a:ln w="15274">
            <a:solidFill>
              <a:srgbClr val="A4486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4" name="roundRect 2004"/>
          <p:cNvSpPr/>
          <p:nvPr/>
        </p:nvSpPr>
        <p:spPr>
          <a:xfrm>
            <a:off x="280029" y="280000"/>
            <a:ext cx="1934743" cy="458182"/>
          </a:xfrm>
          <a:prstGeom prst="roundRect">
            <a:avLst>
              <a:gd name="adj" fmla="val 19444"/>
            </a:avLst>
          </a:prstGeom>
          <a:solidFill>
            <a:srgbClr val="3D5D7C"/>
          </a:solidFill>
          <a:ln w="11456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5" name="FUNDAMENTAL 2005"/>
          <p:cNvSpPr/>
          <p:nvPr/>
        </p:nvSpPr>
        <p:spPr>
          <a:xfrm>
            <a:off x="280029" y="311818"/>
            <a:ext cx="1934743" cy="197273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FUNDAMENTAL</a:t>
            </a:r>
          </a:p>
        </p:txBody>
      </p:sp>
      <p:sp>
        <p:nvSpPr>
          <p:cNvPr id="2006" name="RESEARCH 2006"/>
          <p:cNvSpPr/>
          <p:nvPr/>
        </p:nvSpPr>
        <p:spPr>
          <a:xfrm>
            <a:off x="280029" y="515455"/>
            <a:ext cx="1934743" cy="197273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RESEARCH</a:t>
            </a:r>
          </a:p>
        </p:txBody>
      </p:sp>
      <p:sp>
        <p:nvSpPr>
          <p:cNvPr id="2007" name="PLATFORM DEVELOPMENT 2007"/>
          <p:cNvSpPr/>
          <p:nvPr/>
        </p:nvSpPr>
        <p:spPr>
          <a:xfrm>
            <a:off x="2698457" y="280000"/>
            <a:ext cx="7713514" cy="445455"/>
          </a:xfrm>
          <a:prstGeom prst="roundRect">
            <a:avLst>
              <a:gd name="adj" fmla="val 20000"/>
            </a:avLst>
          </a:prstGeom>
          <a:solidFill>
            <a:srgbClr val="3D5D7C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PLATFORM DEVELOPMENT</a:t>
            </a:r>
          </a:p>
        </p:txBody>
      </p:sp>
      <p:sp>
        <p:nvSpPr>
          <p:cNvPr id="2008" name="roundRect 2008"/>
          <p:cNvSpPr/>
          <p:nvPr/>
        </p:nvSpPr>
        <p:spPr>
          <a:xfrm>
            <a:off x="8375400" y="2800000"/>
            <a:ext cx="2036571" cy="458182"/>
          </a:xfrm>
          <a:prstGeom prst="roundRect">
            <a:avLst>
              <a:gd name="adj" fmla="val 19444"/>
            </a:avLst>
          </a:prstGeom>
          <a:solidFill>
            <a:srgbClr val="A44869"/>
          </a:solidFill>
          <a:ln w="11456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9" name="FUNCTIONAL 2009"/>
          <p:cNvSpPr/>
          <p:nvPr/>
        </p:nvSpPr>
        <p:spPr>
          <a:xfrm>
            <a:off x="8375400" y="2831818"/>
            <a:ext cx="2036571" cy="197273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FUNCTIONAL</a:t>
            </a:r>
          </a:p>
        </p:txBody>
      </p:sp>
      <p:sp>
        <p:nvSpPr>
          <p:cNvPr id="2010" name="VALIDATION 2010"/>
          <p:cNvSpPr/>
          <p:nvPr/>
        </p:nvSpPr>
        <p:spPr>
          <a:xfrm>
            <a:off x="8375400" y="3035455"/>
            <a:ext cx="2036571" cy="197273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VALIDATION</a:t>
            </a:r>
          </a:p>
        </p:txBody>
      </p:sp>
      <p:sp>
        <p:nvSpPr>
          <p:cNvPr id="2013" name="Cycle 1 2013"/>
          <p:cNvSpPr/>
          <p:nvPr/>
        </p:nvSpPr>
        <p:spPr>
          <a:xfrm>
            <a:off x="280029" y="903636"/>
            <a:ext cx="903729" cy="254545"/>
          </a:xfrm>
          <a:prstGeom prst="roundRect">
            <a:avLst>
              <a:gd name="adj" fmla="val 30000"/>
            </a:avLst>
          </a:prstGeom>
          <a:solidFill>
            <a:srgbClr val="DCE6EF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3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Cycle 1</a:t>
            </a:r>
          </a:p>
        </p:txBody>
      </p:sp>
      <p:sp>
        <p:nvSpPr>
          <p:cNvPr id="2014" name="Build 10R 2014"/>
          <p:cNvSpPr/>
          <p:nvPr/>
        </p:nvSpPr>
        <p:spPr>
          <a:xfrm>
            <a:off x="280029" y="1260000"/>
            <a:ext cx="1934743" cy="216364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53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Build 10R</a:t>
            </a:r>
          </a:p>
        </p:txBody>
      </p:sp>
      <p:sp>
        <p:nvSpPr>
          <p:cNvPr id="606" name="PUF10R 606"/>
          <p:cNvSpPr/>
          <p:nvPr/>
        </p:nvSpPr>
        <p:spPr>
          <a:xfrm>
            <a:off x="352454" y="1654545"/>
            <a:ext cx="1081143" cy="168144"/>
          </a:xfrm>
          <a:prstGeom prst="rect">
            <a:avLst/>
          </a:prstGeom>
          <a:noFill/>
          <a:ln w="11502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0984AC"/>
                </a:solidFill>
                <a:latin typeface="Futura"/>
                <a:ea typeface="Futura"/>
                <a:cs typeface="Futura"/>
              </a:rPr>
              <a:t>PUF10R</a:t>
            </a:r>
          </a:p>
        </p:txBody>
      </p:sp>
      <p:sp>
        <p:nvSpPr>
          <p:cNvPr id="607" name="roundRect 607"/>
          <p:cNvSpPr/>
          <p:nvPr/>
        </p:nvSpPr>
        <p:spPr>
          <a:xfrm>
            <a:off x="358461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roundRect 608"/>
          <p:cNvSpPr/>
          <p:nvPr/>
        </p:nvSpPr>
        <p:spPr>
          <a:xfrm>
            <a:off x="466575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9" name="roundRect 609"/>
          <p:cNvSpPr/>
          <p:nvPr/>
        </p:nvSpPr>
        <p:spPr>
          <a:xfrm>
            <a:off x="574689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roundRect 610"/>
          <p:cNvSpPr/>
          <p:nvPr/>
        </p:nvSpPr>
        <p:spPr>
          <a:xfrm>
            <a:off x="682804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roundRect 611"/>
          <p:cNvSpPr/>
          <p:nvPr/>
        </p:nvSpPr>
        <p:spPr>
          <a:xfrm>
            <a:off x="790917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roundRect 612"/>
          <p:cNvSpPr/>
          <p:nvPr/>
        </p:nvSpPr>
        <p:spPr>
          <a:xfrm>
            <a:off x="899032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roundRect 613"/>
          <p:cNvSpPr/>
          <p:nvPr/>
        </p:nvSpPr>
        <p:spPr>
          <a:xfrm>
            <a:off x="1007147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roundRect 614"/>
          <p:cNvSpPr/>
          <p:nvPr/>
        </p:nvSpPr>
        <p:spPr>
          <a:xfrm>
            <a:off x="1115261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roundRect 615"/>
          <p:cNvSpPr/>
          <p:nvPr/>
        </p:nvSpPr>
        <p:spPr>
          <a:xfrm>
            <a:off x="1223375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roundRect 616"/>
          <p:cNvSpPr/>
          <p:nvPr/>
        </p:nvSpPr>
        <p:spPr>
          <a:xfrm>
            <a:off x="1331489" y="1882740"/>
            <a:ext cx="84089" cy="210178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8306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line 617"/>
          <p:cNvSpPr/>
          <p:nvPr/>
        </p:nvSpPr>
        <p:spPr>
          <a:xfrm>
            <a:off x="1427591" y="1984827"/>
            <a:ext cx="138146" cy="0"/>
          </a:xfrm>
          <a:prstGeom prst="line">
            <a:avLst/>
          </a:prstGeom>
          <a:noFill/>
          <a:ln w="12780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APOBEC 618"/>
          <p:cNvSpPr/>
          <p:nvPr/>
        </p:nvSpPr>
        <p:spPr>
          <a:xfrm>
            <a:off x="1565737" y="1840704"/>
            <a:ext cx="564597" cy="288246"/>
          </a:xfrm>
          <a:prstGeom prst="ellipse">
            <a:avLst/>
          </a:prstGeom>
          <a:solidFill>
            <a:srgbClr val="F4BB78"/>
          </a:solidFill>
          <a:ln w="11502">
            <a:solidFill>
              <a:srgbClr val="DF8A2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8D4D1B"/>
                </a:solidFill>
                <a:latin typeface="Futura"/>
                <a:ea typeface="Futura"/>
                <a:cs typeface="Futura"/>
              </a:rPr>
              <a:t>APOBEC</a:t>
            </a:r>
          </a:p>
        </p:txBody>
      </p:sp>
      <p:sp>
        <p:nvSpPr>
          <p:cNvPr id="619" name="line 619"/>
          <p:cNvSpPr/>
          <p:nvPr/>
        </p:nvSpPr>
        <p:spPr>
          <a:xfrm>
            <a:off x="286384" y="2225033"/>
            <a:ext cx="1922032" cy="0"/>
          </a:xfrm>
          <a:prstGeom prst="line">
            <a:avLst/>
          </a:prstGeom>
          <a:noFill/>
          <a:ln w="12780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0" name="line 620"/>
          <p:cNvSpPr/>
          <p:nvPr/>
        </p:nvSpPr>
        <p:spPr>
          <a:xfrm>
            <a:off x="400506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line 621"/>
          <p:cNvSpPr/>
          <p:nvPr/>
        </p:nvSpPr>
        <p:spPr>
          <a:xfrm>
            <a:off x="508620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line 622"/>
          <p:cNvSpPr/>
          <p:nvPr/>
        </p:nvSpPr>
        <p:spPr>
          <a:xfrm>
            <a:off x="616734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3" name="line 623"/>
          <p:cNvSpPr/>
          <p:nvPr/>
        </p:nvSpPr>
        <p:spPr>
          <a:xfrm>
            <a:off x="724848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line 624"/>
          <p:cNvSpPr/>
          <p:nvPr/>
        </p:nvSpPr>
        <p:spPr>
          <a:xfrm>
            <a:off x="832963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line 625"/>
          <p:cNvSpPr/>
          <p:nvPr/>
        </p:nvSpPr>
        <p:spPr>
          <a:xfrm>
            <a:off x="941076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6" name="line 626"/>
          <p:cNvSpPr/>
          <p:nvPr/>
        </p:nvSpPr>
        <p:spPr>
          <a:xfrm>
            <a:off x="1049191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7" name="line 627"/>
          <p:cNvSpPr/>
          <p:nvPr/>
        </p:nvSpPr>
        <p:spPr>
          <a:xfrm>
            <a:off x="1157306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8" name="line 628"/>
          <p:cNvSpPr/>
          <p:nvPr/>
        </p:nvSpPr>
        <p:spPr>
          <a:xfrm>
            <a:off x="1265420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line 629"/>
          <p:cNvSpPr/>
          <p:nvPr/>
        </p:nvSpPr>
        <p:spPr>
          <a:xfrm>
            <a:off x="1373534" y="2110935"/>
            <a:ext cx="0" cy="108092"/>
          </a:xfrm>
          <a:prstGeom prst="line">
            <a:avLst/>
          </a:prstGeom>
          <a:noFill/>
          <a:ln w="8306">
            <a:solidFill>
              <a:srgbClr val="6BA8B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APOE4 RNA 630"/>
          <p:cNvSpPr/>
          <p:nvPr/>
        </p:nvSpPr>
        <p:spPr>
          <a:xfrm>
            <a:off x="646766" y="2339129"/>
            <a:ext cx="1201270" cy="168144"/>
          </a:xfrm>
          <a:prstGeom prst="rect">
            <a:avLst/>
          </a:prstGeom>
          <a:noFill/>
          <a:ln w="11502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0">
                <a:solidFill>
                  <a:srgbClr val="3D5D7C"/>
                </a:solidFill>
                <a:latin typeface="Futura"/>
                <a:ea typeface="Futura"/>
                <a:cs typeface="Futura"/>
              </a:rPr>
              <a:t>APOE4 RNA</a:t>
            </a:r>
          </a:p>
        </p:txBody>
      </p:sp>
      <p:sp>
        <p:nvSpPr>
          <p:cNvPr id="2016" name="Cycle 2 2016"/>
          <p:cNvSpPr/>
          <p:nvPr/>
        </p:nvSpPr>
        <p:spPr>
          <a:xfrm>
            <a:off x="280029" y="3041818"/>
            <a:ext cx="903729" cy="254545"/>
          </a:xfrm>
          <a:prstGeom prst="roundRect">
            <a:avLst>
              <a:gd name="adj" fmla="val 30000"/>
            </a:avLst>
          </a:prstGeom>
          <a:solidFill>
            <a:srgbClr val="DCE6EF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3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Cycle 2</a:t>
            </a:r>
          </a:p>
        </p:txBody>
      </p:sp>
      <p:sp>
        <p:nvSpPr>
          <p:cNvPr id="2017" name="PUF 2017"/>
          <p:cNvSpPr/>
          <p:nvPr/>
        </p:nvSpPr>
        <p:spPr>
          <a:xfrm>
            <a:off x="967371" y="3436364"/>
            <a:ext cx="636429" cy="165455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0788B5"/>
                </a:solidFill>
                <a:latin typeface="Futura"/>
                <a:ea typeface="Futura"/>
                <a:cs typeface="Futura"/>
              </a:rPr>
              <a:t>PUF</a:t>
            </a:r>
          </a:p>
        </p:txBody>
      </p:sp>
      <p:sp>
        <p:nvSpPr>
          <p:cNvPr id="2018" name="APOBEC 2018"/>
          <p:cNvSpPr/>
          <p:nvPr/>
        </p:nvSpPr>
        <p:spPr>
          <a:xfrm>
            <a:off x="1616529" y="3436364"/>
            <a:ext cx="598243" cy="165455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8D4D1B"/>
                </a:solidFill>
                <a:latin typeface="Futura"/>
                <a:ea typeface="Futura"/>
                <a:cs typeface="Futura"/>
              </a:rPr>
              <a:t>APOBEC</a:t>
            </a:r>
          </a:p>
        </p:txBody>
      </p:sp>
      <p:sp>
        <p:nvSpPr>
          <p:cNvPr id="634" name="10R 634"/>
          <p:cNvSpPr/>
          <p:nvPr/>
        </p:nvSpPr>
        <p:spPr>
          <a:xfrm>
            <a:off x="280029" y="3661902"/>
            <a:ext cx="363798" cy="159818"/>
          </a:xfrm>
          <a:prstGeom prst="rect">
            <a:avLst/>
          </a:prstGeom>
          <a:noFill/>
          <a:ln w="11537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10R</a:t>
            </a:r>
          </a:p>
        </p:txBody>
      </p:sp>
      <p:sp>
        <p:nvSpPr>
          <p:cNvPr id="635" name="roundRect 635"/>
          <p:cNvSpPr/>
          <p:nvPr/>
        </p:nvSpPr>
        <p:spPr>
          <a:xfrm>
            <a:off x="1095818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roundRect 636"/>
          <p:cNvSpPr/>
          <p:nvPr/>
        </p:nvSpPr>
        <p:spPr>
          <a:xfrm>
            <a:off x="1156451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roundRect 637"/>
          <p:cNvSpPr/>
          <p:nvPr/>
        </p:nvSpPr>
        <p:spPr>
          <a:xfrm>
            <a:off x="1217083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roundRect 638"/>
          <p:cNvSpPr/>
          <p:nvPr/>
        </p:nvSpPr>
        <p:spPr>
          <a:xfrm>
            <a:off x="1277717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roundRect 639"/>
          <p:cNvSpPr/>
          <p:nvPr/>
        </p:nvSpPr>
        <p:spPr>
          <a:xfrm>
            <a:off x="1338349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roundRect 640"/>
          <p:cNvSpPr/>
          <p:nvPr/>
        </p:nvSpPr>
        <p:spPr>
          <a:xfrm>
            <a:off x="1398982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1" name="roundRect 641"/>
          <p:cNvSpPr/>
          <p:nvPr/>
        </p:nvSpPr>
        <p:spPr>
          <a:xfrm>
            <a:off x="1459616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roundRect 642"/>
          <p:cNvSpPr/>
          <p:nvPr/>
        </p:nvSpPr>
        <p:spPr>
          <a:xfrm>
            <a:off x="1520248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roundRect 643"/>
          <p:cNvSpPr/>
          <p:nvPr/>
        </p:nvSpPr>
        <p:spPr>
          <a:xfrm>
            <a:off x="1580882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roundRect 644"/>
          <p:cNvSpPr/>
          <p:nvPr/>
        </p:nvSpPr>
        <p:spPr>
          <a:xfrm>
            <a:off x="1641515" y="3678436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line 645"/>
          <p:cNvSpPr/>
          <p:nvPr/>
        </p:nvSpPr>
        <p:spPr>
          <a:xfrm>
            <a:off x="1691124" y="3744567"/>
            <a:ext cx="132290" cy="0"/>
          </a:xfrm>
          <a:prstGeom prst="line">
            <a:avLst/>
          </a:prstGeom>
          <a:noFill/>
          <a:ln w="11537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ellipse 646"/>
          <p:cNvSpPr/>
          <p:nvPr/>
        </p:nvSpPr>
        <p:spPr>
          <a:xfrm>
            <a:off x="1828925" y="3672925"/>
            <a:ext cx="385846" cy="143285"/>
          </a:xfrm>
          <a:prstGeom prst="ellipse">
            <a:avLst/>
          </a:prstGeom>
          <a:solidFill>
            <a:srgbClr val="F4BB78"/>
          </a:solidFill>
          <a:ln w="8973">
            <a:solidFill>
              <a:srgbClr val="DF8A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12R 647"/>
          <p:cNvSpPr/>
          <p:nvPr/>
        </p:nvSpPr>
        <p:spPr>
          <a:xfrm>
            <a:off x="280029" y="3980075"/>
            <a:ext cx="363798" cy="159818"/>
          </a:xfrm>
          <a:prstGeom prst="rect">
            <a:avLst/>
          </a:prstGeom>
          <a:noFill/>
          <a:ln w="11537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12R</a:t>
            </a:r>
          </a:p>
        </p:txBody>
      </p:sp>
      <p:sp>
        <p:nvSpPr>
          <p:cNvPr id="648" name="roundRect 648"/>
          <p:cNvSpPr/>
          <p:nvPr/>
        </p:nvSpPr>
        <p:spPr>
          <a:xfrm>
            <a:off x="974552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roundRect 649"/>
          <p:cNvSpPr/>
          <p:nvPr/>
        </p:nvSpPr>
        <p:spPr>
          <a:xfrm>
            <a:off x="1035184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roundRect 650"/>
          <p:cNvSpPr/>
          <p:nvPr/>
        </p:nvSpPr>
        <p:spPr>
          <a:xfrm>
            <a:off x="1095818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roundRect 651"/>
          <p:cNvSpPr/>
          <p:nvPr/>
        </p:nvSpPr>
        <p:spPr>
          <a:xfrm>
            <a:off x="1156451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roundRect 652"/>
          <p:cNvSpPr/>
          <p:nvPr/>
        </p:nvSpPr>
        <p:spPr>
          <a:xfrm>
            <a:off x="1217083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roundRect 653"/>
          <p:cNvSpPr/>
          <p:nvPr/>
        </p:nvSpPr>
        <p:spPr>
          <a:xfrm>
            <a:off x="1277717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4" name="roundRect 654"/>
          <p:cNvSpPr/>
          <p:nvPr/>
        </p:nvSpPr>
        <p:spPr>
          <a:xfrm>
            <a:off x="1338349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roundRect 655"/>
          <p:cNvSpPr/>
          <p:nvPr/>
        </p:nvSpPr>
        <p:spPr>
          <a:xfrm>
            <a:off x="1398982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roundRect 656"/>
          <p:cNvSpPr/>
          <p:nvPr/>
        </p:nvSpPr>
        <p:spPr>
          <a:xfrm>
            <a:off x="1459616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roundRect 657"/>
          <p:cNvSpPr/>
          <p:nvPr/>
        </p:nvSpPr>
        <p:spPr>
          <a:xfrm>
            <a:off x="1520248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roundRect 658"/>
          <p:cNvSpPr/>
          <p:nvPr/>
        </p:nvSpPr>
        <p:spPr>
          <a:xfrm>
            <a:off x="1580882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roundRect 659"/>
          <p:cNvSpPr/>
          <p:nvPr/>
        </p:nvSpPr>
        <p:spPr>
          <a:xfrm>
            <a:off x="1641515" y="3996609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line 660"/>
          <p:cNvSpPr/>
          <p:nvPr/>
        </p:nvSpPr>
        <p:spPr>
          <a:xfrm>
            <a:off x="1691124" y="4062740"/>
            <a:ext cx="132290" cy="0"/>
          </a:xfrm>
          <a:prstGeom prst="line">
            <a:avLst/>
          </a:prstGeom>
          <a:noFill/>
          <a:ln w="11537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ellipse 661"/>
          <p:cNvSpPr/>
          <p:nvPr/>
        </p:nvSpPr>
        <p:spPr>
          <a:xfrm>
            <a:off x="1828925" y="3991096"/>
            <a:ext cx="385846" cy="143285"/>
          </a:xfrm>
          <a:prstGeom prst="ellipse">
            <a:avLst/>
          </a:prstGeom>
          <a:solidFill>
            <a:srgbClr val="F4BB78"/>
          </a:solidFill>
          <a:ln w="8973">
            <a:solidFill>
              <a:srgbClr val="DF8A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13R 662"/>
          <p:cNvSpPr/>
          <p:nvPr/>
        </p:nvSpPr>
        <p:spPr>
          <a:xfrm>
            <a:off x="280029" y="4298247"/>
            <a:ext cx="363798" cy="159818"/>
          </a:xfrm>
          <a:prstGeom prst="rect">
            <a:avLst/>
          </a:prstGeom>
          <a:noFill/>
          <a:ln w="11537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13R</a:t>
            </a:r>
          </a:p>
        </p:txBody>
      </p:sp>
      <p:sp>
        <p:nvSpPr>
          <p:cNvPr id="663" name="roundRect 663"/>
          <p:cNvSpPr/>
          <p:nvPr/>
        </p:nvSpPr>
        <p:spPr>
          <a:xfrm>
            <a:off x="913918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roundRect 664"/>
          <p:cNvSpPr/>
          <p:nvPr/>
        </p:nvSpPr>
        <p:spPr>
          <a:xfrm>
            <a:off x="974552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roundRect 665"/>
          <p:cNvSpPr/>
          <p:nvPr/>
        </p:nvSpPr>
        <p:spPr>
          <a:xfrm>
            <a:off x="1035184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roundRect 666"/>
          <p:cNvSpPr/>
          <p:nvPr/>
        </p:nvSpPr>
        <p:spPr>
          <a:xfrm>
            <a:off x="1095818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7" name="roundRect 667"/>
          <p:cNvSpPr/>
          <p:nvPr/>
        </p:nvSpPr>
        <p:spPr>
          <a:xfrm>
            <a:off x="1156451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roundRect 668"/>
          <p:cNvSpPr/>
          <p:nvPr/>
        </p:nvSpPr>
        <p:spPr>
          <a:xfrm>
            <a:off x="1217083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roundRect 669"/>
          <p:cNvSpPr/>
          <p:nvPr/>
        </p:nvSpPr>
        <p:spPr>
          <a:xfrm>
            <a:off x="1277717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0" name="roundRect 670"/>
          <p:cNvSpPr/>
          <p:nvPr/>
        </p:nvSpPr>
        <p:spPr>
          <a:xfrm>
            <a:off x="1338349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1" name="roundRect 671"/>
          <p:cNvSpPr/>
          <p:nvPr/>
        </p:nvSpPr>
        <p:spPr>
          <a:xfrm>
            <a:off x="1398982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2" name="roundRect 672"/>
          <p:cNvSpPr/>
          <p:nvPr/>
        </p:nvSpPr>
        <p:spPr>
          <a:xfrm>
            <a:off x="1459616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3" name="roundRect 673"/>
          <p:cNvSpPr/>
          <p:nvPr/>
        </p:nvSpPr>
        <p:spPr>
          <a:xfrm>
            <a:off x="1520248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4" name="roundRect 674"/>
          <p:cNvSpPr/>
          <p:nvPr/>
        </p:nvSpPr>
        <p:spPr>
          <a:xfrm>
            <a:off x="1580882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5" name="roundRect 675"/>
          <p:cNvSpPr/>
          <p:nvPr/>
        </p:nvSpPr>
        <p:spPr>
          <a:xfrm>
            <a:off x="1641515" y="4314780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6" name="line 676"/>
          <p:cNvSpPr/>
          <p:nvPr/>
        </p:nvSpPr>
        <p:spPr>
          <a:xfrm>
            <a:off x="1691124" y="4380912"/>
            <a:ext cx="132290" cy="0"/>
          </a:xfrm>
          <a:prstGeom prst="line">
            <a:avLst/>
          </a:prstGeom>
          <a:noFill/>
          <a:ln w="11537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7" name="ellipse 677"/>
          <p:cNvSpPr/>
          <p:nvPr/>
        </p:nvSpPr>
        <p:spPr>
          <a:xfrm>
            <a:off x="1828925" y="4309269"/>
            <a:ext cx="385846" cy="143285"/>
          </a:xfrm>
          <a:prstGeom prst="ellipse">
            <a:avLst/>
          </a:prstGeom>
          <a:solidFill>
            <a:srgbClr val="F4BB78"/>
          </a:solidFill>
          <a:ln w="8973">
            <a:solidFill>
              <a:srgbClr val="DF8A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8" name="15R 678"/>
          <p:cNvSpPr/>
          <p:nvPr/>
        </p:nvSpPr>
        <p:spPr>
          <a:xfrm>
            <a:off x="280029" y="4616418"/>
            <a:ext cx="363798" cy="159818"/>
          </a:xfrm>
          <a:prstGeom prst="rect">
            <a:avLst/>
          </a:prstGeom>
          <a:noFill/>
          <a:ln w="11537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15R</a:t>
            </a:r>
          </a:p>
        </p:txBody>
      </p:sp>
      <p:sp>
        <p:nvSpPr>
          <p:cNvPr id="679" name="roundRect 679"/>
          <p:cNvSpPr/>
          <p:nvPr/>
        </p:nvSpPr>
        <p:spPr>
          <a:xfrm>
            <a:off x="792653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0" name="roundRect 680"/>
          <p:cNvSpPr/>
          <p:nvPr/>
        </p:nvSpPr>
        <p:spPr>
          <a:xfrm>
            <a:off x="853285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1" name="roundRect 681"/>
          <p:cNvSpPr/>
          <p:nvPr/>
        </p:nvSpPr>
        <p:spPr>
          <a:xfrm>
            <a:off x="913918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2" name="roundRect 682"/>
          <p:cNvSpPr/>
          <p:nvPr/>
        </p:nvSpPr>
        <p:spPr>
          <a:xfrm>
            <a:off x="974552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3" name="roundRect 683"/>
          <p:cNvSpPr/>
          <p:nvPr/>
        </p:nvSpPr>
        <p:spPr>
          <a:xfrm>
            <a:off x="1035184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4" name="roundRect 684"/>
          <p:cNvSpPr/>
          <p:nvPr/>
        </p:nvSpPr>
        <p:spPr>
          <a:xfrm>
            <a:off x="1095818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5" name="roundRect 685"/>
          <p:cNvSpPr/>
          <p:nvPr/>
        </p:nvSpPr>
        <p:spPr>
          <a:xfrm>
            <a:off x="1156451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6" name="roundRect 686"/>
          <p:cNvSpPr/>
          <p:nvPr/>
        </p:nvSpPr>
        <p:spPr>
          <a:xfrm>
            <a:off x="1217083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7" name="roundRect 687"/>
          <p:cNvSpPr/>
          <p:nvPr/>
        </p:nvSpPr>
        <p:spPr>
          <a:xfrm>
            <a:off x="1277717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8" name="roundRect 688"/>
          <p:cNvSpPr/>
          <p:nvPr/>
        </p:nvSpPr>
        <p:spPr>
          <a:xfrm>
            <a:off x="1338349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9" name="roundRect 689"/>
          <p:cNvSpPr/>
          <p:nvPr/>
        </p:nvSpPr>
        <p:spPr>
          <a:xfrm>
            <a:off x="1398982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0" name="roundRect 690"/>
          <p:cNvSpPr/>
          <p:nvPr/>
        </p:nvSpPr>
        <p:spPr>
          <a:xfrm>
            <a:off x="1459616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1" name="roundRect 691"/>
          <p:cNvSpPr/>
          <p:nvPr/>
        </p:nvSpPr>
        <p:spPr>
          <a:xfrm>
            <a:off x="1520248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2" name="roundRect 692"/>
          <p:cNvSpPr/>
          <p:nvPr/>
        </p:nvSpPr>
        <p:spPr>
          <a:xfrm>
            <a:off x="1580882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3" name="roundRect 693"/>
          <p:cNvSpPr/>
          <p:nvPr/>
        </p:nvSpPr>
        <p:spPr>
          <a:xfrm>
            <a:off x="1641515" y="4632951"/>
            <a:ext cx="49609" cy="132263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6409">
            <a:solidFill>
              <a:srgbClr val="0984A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4" name="line 694"/>
          <p:cNvSpPr/>
          <p:nvPr/>
        </p:nvSpPr>
        <p:spPr>
          <a:xfrm>
            <a:off x="1691124" y="4699084"/>
            <a:ext cx="132290" cy="0"/>
          </a:xfrm>
          <a:prstGeom prst="line">
            <a:avLst/>
          </a:prstGeom>
          <a:noFill/>
          <a:ln w="11537">
            <a:solidFill>
              <a:srgbClr val="3D5D7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5" name="ellipse 695"/>
          <p:cNvSpPr/>
          <p:nvPr/>
        </p:nvSpPr>
        <p:spPr>
          <a:xfrm>
            <a:off x="1828925" y="4627440"/>
            <a:ext cx="385846" cy="143285"/>
          </a:xfrm>
          <a:prstGeom prst="ellipse">
            <a:avLst/>
          </a:prstGeom>
          <a:solidFill>
            <a:srgbClr val="F4BB78"/>
          </a:solidFill>
          <a:ln w="8973">
            <a:solidFill>
              <a:srgbClr val="DF8A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9" name="roundRect 2019"/>
          <p:cNvSpPr/>
          <p:nvPr/>
        </p:nvSpPr>
        <p:spPr>
          <a:xfrm>
            <a:off x="2698457" y="852727"/>
            <a:ext cx="2520257" cy="1565455"/>
          </a:xfrm>
          <a:prstGeom prst="roundRect">
            <a:avLst>
              <a:gd name="adj" fmla="val 8943"/>
            </a:avLst>
          </a:prstGeom>
          <a:solidFill>
            <a:srgbClr val="F0F4FE"/>
          </a:solidFill>
          <a:ln w="13365">
            <a:solidFill>
              <a:srgbClr val="2C66A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0" name="roundRect 2020"/>
          <p:cNvSpPr/>
          <p:nvPr/>
        </p:nvSpPr>
        <p:spPr>
          <a:xfrm>
            <a:off x="5346000" y="852727"/>
            <a:ext cx="5065971" cy="1565455"/>
          </a:xfrm>
          <a:prstGeom prst="roundRect">
            <a:avLst>
              <a:gd name="adj" fmla="val 8943"/>
            </a:avLst>
          </a:prstGeom>
          <a:solidFill>
            <a:srgbClr val="EDF8F3"/>
          </a:solidFill>
          <a:ln w="13365">
            <a:solidFill>
              <a:srgbClr val="007E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1" name="roundRect 2021"/>
          <p:cNvSpPr/>
          <p:nvPr/>
        </p:nvSpPr>
        <p:spPr>
          <a:xfrm>
            <a:off x="2698457" y="2672727"/>
            <a:ext cx="2520257" cy="2495073"/>
          </a:xfrm>
          <a:prstGeom prst="roundRect">
            <a:avLst>
              <a:gd name="adj" fmla="val 5612"/>
            </a:avLst>
          </a:prstGeom>
          <a:solidFill>
            <a:srgbClr val="F0F9FD"/>
          </a:solidFill>
          <a:ln w="13365">
            <a:solidFill>
              <a:srgbClr val="0788B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2" name="roundRect 2022"/>
          <p:cNvSpPr/>
          <p:nvPr/>
        </p:nvSpPr>
        <p:spPr>
          <a:xfrm>
            <a:off x="5346000" y="2672727"/>
            <a:ext cx="2520257" cy="2495073"/>
          </a:xfrm>
          <a:prstGeom prst="roundRect">
            <a:avLst>
              <a:gd name="adj" fmla="val 5612"/>
            </a:avLst>
          </a:prstGeom>
          <a:solidFill>
            <a:srgbClr val="FFF5EB"/>
          </a:solidFill>
          <a:ln w="13365">
            <a:solidFill>
              <a:srgbClr val="BC5B0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3" name="roundRect 2023"/>
          <p:cNvSpPr/>
          <p:nvPr/>
        </p:nvSpPr>
        <p:spPr>
          <a:xfrm>
            <a:off x="280029" y="5422371"/>
            <a:ext cx="7586229" cy="1858371"/>
          </a:xfrm>
          <a:prstGeom prst="roundRect">
            <a:avLst>
              <a:gd name="adj" fmla="val 7534"/>
            </a:avLst>
          </a:prstGeom>
          <a:solidFill>
            <a:srgbClr val="F5EFFB"/>
          </a:solidFill>
          <a:ln w="13365">
            <a:solidFill>
              <a:srgbClr val="7943B4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4" name="DELIVER 2024"/>
          <p:cNvSpPr/>
          <p:nvPr/>
        </p:nvSpPr>
        <p:spPr>
          <a:xfrm>
            <a:off x="2825743" y="980000"/>
            <a:ext cx="865543" cy="254545"/>
          </a:xfrm>
          <a:prstGeom prst="roundRect">
            <a:avLst>
              <a:gd name="adj" fmla="val 30000"/>
            </a:avLst>
          </a:prstGeom>
          <a:solidFill>
            <a:srgbClr val="2C66AF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DELIVER</a:t>
            </a:r>
          </a:p>
        </p:txBody>
      </p:sp>
      <p:sp>
        <p:nvSpPr>
          <p:cNvPr id="2025" name="AAV9 2025"/>
          <p:cNvSpPr/>
          <p:nvPr/>
        </p:nvSpPr>
        <p:spPr>
          <a:xfrm>
            <a:off x="3767657" y="980000"/>
            <a:ext cx="700071" cy="254545"/>
          </a:xfrm>
          <a:prstGeom prst="roundRect">
            <a:avLst>
              <a:gd name="adj" fmla="val 30000"/>
            </a:avLst>
          </a:prstGeom>
          <a:solidFill>
            <a:srgbClr val="DCE8F8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3" b="1">
                <a:solidFill>
                  <a:srgbClr val="2C66AF"/>
                </a:solidFill>
                <a:latin typeface="Georgia"/>
                <a:ea typeface="Georgia"/>
                <a:cs typeface="Georgia"/>
              </a:rPr>
              <a:t>AAV9</a:t>
            </a:r>
          </a:p>
        </p:txBody>
      </p:sp>
      <p:sp>
        <p:nvSpPr>
          <p:cNvPr id="2026" name="MODEL 2026"/>
          <p:cNvSpPr/>
          <p:nvPr/>
        </p:nvSpPr>
        <p:spPr>
          <a:xfrm>
            <a:off x="5473286" y="980000"/>
            <a:ext cx="865543" cy="254545"/>
          </a:xfrm>
          <a:prstGeom prst="roundRect">
            <a:avLst>
              <a:gd name="adj" fmla="val 30000"/>
            </a:avLst>
          </a:prstGeom>
          <a:solidFill>
            <a:srgbClr val="007E63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MODEL</a:t>
            </a:r>
          </a:p>
        </p:txBody>
      </p:sp>
      <p:sp>
        <p:nvSpPr>
          <p:cNvPr id="2027" name="PUFFER 2027"/>
          <p:cNvSpPr/>
          <p:nvPr/>
        </p:nvSpPr>
        <p:spPr>
          <a:xfrm>
            <a:off x="6415200" y="980000"/>
            <a:ext cx="916457" cy="254545"/>
          </a:xfrm>
          <a:prstGeom prst="roundRect">
            <a:avLst>
              <a:gd name="adj" fmla="val 30000"/>
            </a:avLst>
          </a:prstGeom>
          <a:solidFill>
            <a:srgbClr val="D7EDE3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007E63"/>
                </a:solidFill>
                <a:latin typeface="Georgia"/>
                <a:ea typeface="Georgia"/>
                <a:cs typeface="Georgia"/>
              </a:rPr>
              <a:t>PUFFER</a:t>
            </a:r>
          </a:p>
        </p:txBody>
      </p:sp>
      <p:cxnSp>
        <p:nvCxnSpPr>
          <p:cNvPr id="10" name="line-5">
            <a:extLst>
              <a:ext uri="{FF2B5EF4-FFF2-40B4-BE49-F238E27FC236}">
                <a16:creationId xmlns:a16="http://schemas.microsoft.com/office/drawing/2014/main" id="{88B468AA-81A0-4D5A-8777-986A4444D8E8}"/>
              </a:ext>
            </a:extLst>
          </p:cNvPr>
          <p:cNvCxnSpPr/>
          <p:nvPr/>
        </p:nvCxnSpPr>
        <p:spPr>
          <a:xfrm>
            <a:off x="5616482" y="1500903"/>
            <a:ext cx="826803" cy="0"/>
          </a:xfrm>
          <a:prstGeom prst="straightConnector1">
            <a:avLst/>
          </a:prstGeom>
          <a:ln w="31877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1" name="object-6">
            <a:extLst>
              <a:ext uri="{FF2B5EF4-FFF2-40B4-BE49-F238E27FC236}">
                <a16:creationId xmlns:a16="http://schemas.microsoft.com/office/drawing/2014/main" id="{5E970618-C18A-4C2E-8FA1-BFA10B1E2D9D}"/>
              </a:ext>
            </a:extLst>
          </p:cNvPr>
          <p:cNvSpPr>
            <a:spLocks noGrp="1"/>
          </p:cNvSpPr>
          <p:nvPr/>
        </p:nvSpPr>
        <p:spPr>
          <a:xfrm>
            <a:off x="6084672" y="1451105"/>
            <a:ext cx="79692" cy="99594"/>
          </a:xfrm>
          <a:prstGeom prst="rect">
            <a:avLst/>
          </a:prstGeom>
          <a:solidFill>
            <a:srgbClr val="E3A052"/>
          </a:solidFill>
          <a:ln w="17931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" name="line-7">
            <a:extLst>
              <a:ext uri="{FF2B5EF4-FFF2-40B4-BE49-F238E27FC236}">
                <a16:creationId xmlns:a16="http://schemas.microsoft.com/office/drawing/2014/main" id="{9E189A48-98A3-41F3-B5BD-CBA2EB13088C}"/>
              </a:ext>
            </a:extLst>
          </p:cNvPr>
          <p:cNvCxnSpPr/>
          <p:nvPr/>
        </p:nvCxnSpPr>
        <p:spPr>
          <a:xfrm>
            <a:off x="5706136" y="1620415"/>
            <a:ext cx="826803" cy="0"/>
          </a:xfrm>
          <a:prstGeom prst="straightConnector1">
            <a:avLst/>
          </a:prstGeom>
          <a:ln w="31877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3" name="object-8">
            <a:extLst>
              <a:ext uri="{FF2B5EF4-FFF2-40B4-BE49-F238E27FC236}">
                <a16:creationId xmlns:a16="http://schemas.microsoft.com/office/drawing/2014/main" id="{76FBCC55-6FDB-4221-871D-F867F1DB757A}"/>
              </a:ext>
            </a:extLst>
          </p:cNvPr>
          <p:cNvSpPr>
            <a:spLocks noGrp="1"/>
          </p:cNvSpPr>
          <p:nvPr/>
        </p:nvSpPr>
        <p:spPr>
          <a:xfrm>
            <a:off x="6084672" y="1570619"/>
            <a:ext cx="79692" cy="99594"/>
          </a:xfrm>
          <a:prstGeom prst="rect">
            <a:avLst/>
          </a:prstGeom>
          <a:solidFill>
            <a:srgbClr val="E3A052"/>
          </a:solidFill>
          <a:ln w="17931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4" name="line-9">
            <a:extLst>
              <a:ext uri="{FF2B5EF4-FFF2-40B4-BE49-F238E27FC236}">
                <a16:creationId xmlns:a16="http://schemas.microsoft.com/office/drawing/2014/main" id="{D4E49B78-9301-47F9-9741-01713FCDEF90}"/>
              </a:ext>
            </a:extLst>
          </p:cNvPr>
          <p:cNvCxnSpPr/>
          <p:nvPr/>
        </p:nvCxnSpPr>
        <p:spPr>
          <a:xfrm>
            <a:off x="5616482" y="1739929"/>
            <a:ext cx="826803" cy="0"/>
          </a:xfrm>
          <a:prstGeom prst="straightConnector1">
            <a:avLst/>
          </a:prstGeom>
          <a:ln w="31877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5" name="object-10">
            <a:extLst>
              <a:ext uri="{FF2B5EF4-FFF2-40B4-BE49-F238E27FC236}">
                <a16:creationId xmlns:a16="http://schemas.microsoft.com/office/drawing/2014/main" id="{16EA96BE-E0C7-4B45-B64C-F5A4D184E7DC}"/>
              </a:ext>
            </a:extLst>
          </p:cNvPr>
          <p:cNvSpPr>
            <a:spLocks noGrp="1"/>
          </p:cNvSpPr>
          <p:nvPr/>
        </p:nvSpPr>
        <p:spPr>
          <a:xfrm>
            <a:off x="6084672" y="1690132"/>
            <a:ext cx="79692" cy="99594"/>
          </a:xfrm>
          <a:prstGeom prst="rect">
            <a:avLst/>
          </a:prstGeom>
          <a:solidFill>
            <a:srgbClr val="E3A052"/>
          </a:solidFill>
          <a:ln w="17931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6" name="line-11">
            <a:extLst>
              <a:ext uri="{FF2B5EF4-FFF2-40B4-BE49-F238E27FC236}">
                <a16:creationId xmlns:a16="http://schemas.microsoft.com/office/drawing/2014/main" id="{673796EF-0CE9-41AE-9313-2A7BBC3A3464}"/>
              </a:ext>
            </a:extLst>
          </p:cNvPr>
          <p:cNvCxnSpPr/>
          <p:nvPr/>
        </p:nvCxnSpPr>
        <p:spPr>
          <a:xfrm>
            <a:off x="5706136" y="1859441"/>
            <a:ext cx="826803" cy="0"/>
          </a:xfrm>
          <a:prstGeom prst="straightConnector1">
            <a:avLst/>
          </a:prstGeom>
          <a:ln w="31877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7" name="object-12">
            <a:extLst>
              <a:ext uri="{FF2B5EF4-FFF2-40B4-BE49-F238E27FC236}">
                <a16:creationId xmlns:a16="http://schemas.microsoft.com/office/drawing/2014/main" id="{D8B69A33-4958-49A8-9189-671D4A7055B2}"/>
              </a:ext>
            </a:extLst>
          </p:cNvPr>
          <p:cNvSpPr>
            <a:spLocks noGrp="1"/>
          </p:cNvSpPr>
          <p:nvPr/>
        </p:nvSpPr>
        <p:spPr>
          <a:xfrm>
            <a:off x="6084672" y="1809644"/>
            <a:ext cx="79692" cy="99594"/>
          </a:xfrm>
          <a:prstGeom prst="rect">
            <a:avLst/>
          </a:prstGeom>
          <a:solidFill>
            <a:srgbClr val="E3A052"/>
          </a:solidFill>
          <a:ln w="17931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8" name="RNA-seq 2028"/>
          <p:cNvSpPr/>
          <p:nvPr/>
        </p:nvSpPr>
        <p:spPr>
          <a:xfrm>
            <a:off x="5473286" y="2074757"/>
            <a:ext cx="1202850" cy="184564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007E63"/>
                </a:solidFill>
                <a:latin typeface="Futura"/>
                <a:ea typeface="Futura"/>
                <a:cs typeface="Futura"/>
              </a:rPr>
              <a:t>RNA-seq</a:t>
            </a:r>
          </a:p>
        </p:txBody>
      </p:sp>
      <p:sp>
        <p:nvSpPr>
          <p:cNvPr id="19" name="object-14">
            <a:extLst>
              <a:ext uri="{FF2B5EF4-FFF2-40B4-BE49-F238E27FC236}">
                <a16:creationId xmlns:a16="http://schemas.microsoft.com/office/drawing/2014/main" id="{46C7C3C2-7E94-4B31-BDC9-AEC497924F93}"/>
              </a:ext>
            </a:extLst>
          </p:cNvPr>
          <p:cNvSpPr>
            <a:spLocks noGrp="1"/>
          </p:cNvSpPr>
          <p:nvPr/>
        </p:nvSpPr>
        <p:spPr>
          <a:xfrm>
            <a:off x="6819332" y="1587704"/>
            <a:ext cx="109302" cy="268996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513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object-15">
            <a:extLst>
              <a:ext uri="{FF2B5EF4-FFF2-40B4-BE49-F238E27FC236}">
                <a16:creationId xmlns:a16="http://schemas.microsoft.com/office/drawing/2014/main" id="{CF53BE03-F36E-4AAA-AA33-7596290A5A2D}"/>
              </a:ext>
            </a:extLst>
          </p:cNvPr>
          <p:cNvSpPr>
            <a:spLocks noGrp="1"/>
          </p:cNvSpPr>
          <p:nvPr/>
        </p:nvSpPr>
        <p:spPr>
          <a:xfrm>
            <a:off x="6953858" y="1529464"/>
            <a:ext cx="109302" cy="268996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513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object-16">
            <a:extLst>
              <a:ext uri="{FF2B5EF4-FFF2-40B4-BE49-F238E27FC236}">
                <a16:creationId xmlns:a16="http://schemas.microsoft.com/office/drawing/2014/main" id="{E0F2D066-DE4F-403D-8856-894893C40E7C}"/>
              </a:ext>
            </a:extLst>
          </p:cNvPr>
          <p:cNvSpPr>
            <a:spLocks noGrp="1"/>
          </p:cNvSpPr>
          <p:nvPr/>
        </p:nvSpPr>
        <p:spPr>
          <a:xfrm>
            <a:off x="7088383" y="1529464"/>
            <a:ext cx="109302" cy="268996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513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object-17">
            <a:extLst>
              <a:ext uri="{FF2B5EF4-FFF2-40B4-BE49-F238E27FC236}">
                <a16:creationId xmlns:a16="http://schemas.microsoft.com/office/drawing/2014/main" id="{E0ED99BF-9954-4751-8F5B-DE70F06D81BF}"/>
              </a:ext>
            </a:extLst>
          </p:cNvPr>
          <p:cNvSpPr>
            <a:spLocks noGrp="1"/>
          </p:cNvSpPr>
          <p:nvPr/>
        </p:nvSpPr>
        <p:spPr>
          <a:xfrm>
            <a:off x="7222910" y="1587704"/>
            <a:ext cx="109302" cy="268996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513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path-18">
            <a:extLst>
              <a:ext uri="{FF2B5EF4-FFF2-40B4-BE49-F238E27FC236}">
                <a16:creationId xmlns:a16="http://schemas.microsoft.com/office/drawing/2014/main" id="{E6E7375F-E12F-4D34-B241-DF89C357FA5D}"/>
              </a:ext>
            </a:extLst>
          </p:cNvPr>
          <p:cNvSpPr>
            <a:spLocks noGrp="1"/>
          </p:cNvSpPr>
          <p:nvPr/>
        </p:nvSpPr>
        <p:spPr>
          <a:xfrm>
            <a:off x="7349029" y="1612922"/>
            <a:ext cx="126117" cy="100874"/>
          </a:xfrm>
          <a:custGeom>
            <a:avLst/>
            <a:gdLst/>
            <a:ahLst/>
            <a:cxnLst/>
            <a:rect l="0" t="0" r="0" b="0"/>
            <a:pathLst>
              <a:path w="142875" h="114300">
                <a:moveTo>
                  <a:pt x="0" y="114300"/>
                </a:moveTo>
                <a:cubicBezTo>
                  <a:pt x="57150" y="76200"/>
                  <a:pt x="76200" y="0"/>
                  <a:pt x="142875" y="47625"/>
                </a:cubicBezTo>
              </a:path>
            </a:pathLst>
          </a:custGeom>
          <a:noFill/>
          <a:ln w="21020">
            <a:solidFill>
              <a:srgbClr val="087B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object-19">
            <a:extLst>
              <a:ext uri="{FF2B5EF4-FFF2-40B4-BE49-F238E27FC236}">
                <a16:creationId xmlns:a16="http://schemas.microsoft.com/office/drawing/2014/main" id="{E80E5347-F100-48E0-A048-A3EAF4F8059E}"/>
              </a:ext>
            </a:extLst>
          </p:cNvPr>
          <p:cNvSpPr>
            <a:spLocks noGrp="1"/>
          </p:cNvSpPr>
          <p:nvPr/>
        </p:nvSpPr>
        <p:spPr>
          <a:xfrm>
            <a:off x="7449922" y="1503643"/>
            <a:ext cx="285868" cy="294215"/>
          </a:xfrm>
          <a:prstGeom prst="ellipse">
            <a:avLst/>
          </a:prstGeom>
          <a:solidFill>
            <a:srgbClr val="E7B571"/>
          </a:solidFill>
          <a:ln w="15135">
            <a:solidFill>
              <a:srgbClr val="AE772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9" name="PUF / APOBEC 2029"/>
          <p:cNvSpPr/>
          <p:nvPr/>
        </p:nvSpPr>
        <p:spPr>
          <a:xfrm>
            <a:off x="6676136" y="2074757"/>
            <a:ext cx="1202850" cy="184564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007E63"/>
                </a:solidFill>
                <a:latin typeface="Futura"/>
                <a:ea typeface="Futura"/>
                <a:cs typeface="Futura"/>
              </a:rPr>
              <a:t>PUF / APOBEC</a:t>
            </a:r>
          </a:p>
        </p:txBody>
      </p:sp>
      <p:cxnSp>
        <p:nvCxnSpPr>
          <p:cNvPr id="26" name="line-21">
            <a:extLst>
              <a:ext uri="{FF2B5EF4-FFF2-40B4-BE49-F238E27FC236}">
                <a16:creationId xmlns:a16="http://schemas.microsoft.com/office/drawing/2014/main" id="{4915CF0B-B6C1-4A02-8226-97D03567F588}"/>
              </a:ext>
            </a:extLst>
          </p:cNvPr>
          <p:cNvCxnSpPr/>
          <p:nvPr/>
        </p:nvCxnSpPr>
        <p:spPr>
          <a:xfrm flipV="1">
            <a:off x="8055508" y="1471927"/>
            <a:ext cx="216617" cy="74967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7" name="line-22">
            <a:extLst>
              <a:ext uri="{FF2B5EF4-FFF2-40B4-BE49-F238E27FC236}">
                <a16:creationId xmlns:a16="http://schemas.microsoft.com/office/drawing/2014/main" id="{8480E896-81A5-46C1-8060-0AE2CBA8BA00}"/>
              </a:ext>
            </a:extLst>
          </p:cNvPr>
          <p:cNvCxnSpPr/>
          <p:nvPr/>
        </p:nvCxnSpPr>
        <p:spPr>
          <a:xfrm>
            <a:off x="8055508" y="1546895"/>
            <a:ext cx="216617" cy="124946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8" name="line-23">
            <a:extLst>
              <a:ext uri="{FF2B5EF4-FFF2-40B4-BE49-F238E27FC236}">
                <a16:creationId xmlns:a16="http://schemas.microsoft.com/office/drawing/2014/main" id="{FEE942E6-0EE7-4EBE-A90F-2E3CB2911D02}"/>
              </a:ext>
            </a:extLst>
          </p:cNvPr>
          <p:cNvCxnSpPr/>
          <p:nvPr/>
        </p:nvCxnSpPr>
        <p:spPr>
          <a:xfrm>
            <a:off x="8055508" y="1546895"/>
            <a:ext cx="216617" cy="341518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9" name="line-24">
            <a:extLst>
              <a:ext uri="{FF2B5EF4-FFF2-40B4-BE49-F238E27FC236}">
                <a16:creationId xmlns:a16="http://schemas.microsoft.com/office/drawing/2014/main" id="{476ED64B-0818-4F3B-B1E8-CC9F18C2F427}"/>
              </a:ext>
            </a:extLst>
          </p:cNvPr>
          <p:cNvCxnSpPr/>
          <p:nvPr/>
        </p:nvCxnSpPr>
        <p:spPr>
          <a:xfrm flipV="1">
            <a:off x="8055508" y="1471927"/>
            <a:ext cx="216617" cy="324860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0" name="line-25">
            <a:extLst>
              <a:ext uri="{FF2B5EF4-FFF2-40B4-BE49-F238E27FC236}">
                <a16:creationId xmlns:a16="http://schemas.microsoft.com/office/drawing/2014/main" id="{B74A0C7D-D1D9-4E8F-BF13-1728C924E079}"/>
              </a:ext>
            </a:extLst>
          </p:cNvPr>
          <p:cNvCxnSpPr/>
          <p:nvPr/>
        </p:nvCxnSpPr>
        <p:spPr>
          <a:xfrm flipV="1">
            <a:off x="8055508" y="1671841"/>
            <a:ext cx="216617" cy="124946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1" name="line-26">
            <a:extLst>
              <a:ext uri="{FF2B5EF4-FFF2-40B4-BE49-F238E27FC236}">
                <a16:creationId xmlns:a16="http://schemas.microsoft.com/office/drawing/2014/main" id="{26FA8507-6D7C-407D-B492-D76323C1C291}"/>
              </a:ext>
            </a:extLst>
          </p:cNvPr>
          <p:cNvCxnSpPr/>
          <p:nvPr/>
        </p:nvCxnSpPr>
        <p:spPr>
          <a:xfrm>
            <a:off x="8055508" y="1796788"/>
            <a:ext cx="216617" cy="91628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2" name="line-27">
            <a:extLst>
              <a:ext uri="{FF2B5EF4-FFF2-40B4-BE49-F238E27FC236}">
                <a16:creationId xmlns:a16="http://schemas.microsoft.com/office/drawing/2014/main" id="{595F9733-969C-4027-8A6B-E169D547153E}"/>
              </a:ext>
            </a:extLst>
          </p:cNvPr>
          <p:cNvCxnSpPr/>
          <p:nvPr/>
        </p:nvCxnSpPr>
        <p:spPr>
          <a:xfrm>
            <a:off x="8272124" y="1471927"/>
            <a:ext cx="216617" cy="74967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3" name="line-28">
            <a:extLst>
              <a:ext uri="{FF2B5EF4-FFF2-40B4-BE49-F238E27FC236}">
                <a16:creationId xmlns:a16="http://schemas.microsoft.com/office/drawing/2014/main" id="{94476106-FD3F-493F-9F99-C3853475816F}"/>
              </a:ext>
            </a:extLst>
          </p:cNvPr>
          <p:cNvCxnSpPr/>
          <p:nvPr/>
        </p:nvCxnSpPr>
        <p:spPr>
          <a:xfrm>
            <a:off x="8272124" y="1471927"/>
            <a:ext cx="216617" cy="324860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4" name="line-29">
            <a:extLst>
              <a:ext uri="{FF2B5EF4-FFF2-40B4-BE49-F238E27FC236}">
                <a16:creationId xmlns:a16="http://schemas.microsoft.com/office/drawing/2014/main" id="{0162B908-83C1-4055-A0FF-200F49BB168F}"/>
              </a:ext>
            </a:extLst>
          </p:cNvPr>
          <p:cNvCxnSpPr/>
          <p:nvPr/>
        </p:nvCxnSpPr>
        <p:spPr>
          <a:xfrm flipV="1">
            <a:off x="8272124" y="1546895"/>
            <a:ext cx="216617" cy="124946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5" name="line-30">
            <a:extLst>
              <a:ext uri="{FF2B5EF4-FFF2-40B4-BE49-F238E27FC236}">
                <a16:creationId xmlns:a16="http://schemas.microsoft.com/office/drawing/2014/main" id="{383B525D-BCBE-43CE-8AF0-FB288A0356F9}"/>
              </a:ext>
            </a:extLst>
          </p:cNvPr>
          <p:cNvCxnSpPr/>
          <p:nvPr/>
        </p:nvCxnSpPr>
        <p:spPr>
          <a:xfrm>
            <a:off x="8272124" y="1671841"/>
            <a:ext cx="216617" cy="124946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6" name="line-31">
            <a:extLst>
              <a:ext uri="{FF2B5EF4-FFF2-40B4-BE49-F238E27FC236}">
                <a16:creationId xmlns:a16="http://schemas.microsoft.com/office/drawing/2014/main" id="{B128AFA8-899F-48F3-ABE5-17A67A28A8E0}"/>
              </a:ext>
            </a:extLst>
          </p:cNvPr>
          <p:cNvCxnSpPr/>
          <p:nvPr/>
        </p:nvCxnSpPr>
        <p:spPr>
          <a:xfrm flipV="1">
            <a:off x="8272124" y="1546895"/>
            <a:ext cx="216617" cy="341518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7" name="line-32">
            <a:extLst>
              <a:ext uri="{FF2B5EF4-FFF2-40B4-BE49-F238E27FC236}">
                <a16:creationId xmlns:a16="http://schemas.microsoft.com/office/drawing/2014/main" id="{EE50221E-A1CE-4A71-8666-DFC5B684CBFD}"/>
              </a:ext>
            </a:extLst>
          </p:cNvPr>
          <p:cNvCxnSpPr/>
          <p:nvPr/>
        </p:nvCxnSpPr>
        <p:spPr>
          <a:xfrm flipV="1">
            <a:off x="8272124" y="1796788"/>
            <a:ext cx="216617" cy="91628"/>
          </a:xfrm>
          <a:prstGeom prst="straightConnector1">
            <a:avLst/>
          </a:prstGeom>
          <a:ln w="18329">
            <a:solidFill>
              <a:srgbClr val="84B7A0"/>
            </a:solidFill>
            <a:prstDash val="solid"/>
            <a:tailEnd type="none" w="med" len="med"/>
          </a:ln>
        </p:spPr>
      </p:cxnSp>
      <p:sp>
        <p:nvSpPr>
          <p:cNvPr id="38" name="object-33">
            <a:extLst>
              <a:ext uri="{FF2B5EF4-FFF2-40B4-BE49-F238E27FC236}">
                <a16:creationId xmlns:a16="http://schemas.microsoft.com/office/drawing/2014/main" id="{0FFCDD24-4DF8-473D-A56B-406B4E4597FC}"/>
              </a:ext>
            </a:extLst>
          </p:cNvPr>
          <p:cNvSpPr>
            <a:spLocks noGrp="1"/>
          </p:cNvSpPr>
          <p:nvPr/>
        </p:nvSpPr>
        <p:spPr>
          <a:xfrm>
            <a:off x="8022182" y="1513576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object-34">
            <a:extLst>
              <a:ext uri="{FF2B5EF4-FFF2-40B4-BE49-F238E27FC236}">
                <a16:creationId xmlns:a16="http://schemas.microsoft.com/office/drawing/2014/main" id="{B0E75108-05DB-4044-9330-D26677A4B26E}"/>
              </a:ext>
            </a:extLst>
          </p:cNvPr>
          <p:cNvSpPr>
            <a:spLocks noGrp="1"/>
          </p:cNvSpPr>
          <p:nvPr/>
        </p:nvSpPr>
        <p:spPr>
          <a:xfrm>
            <a:off x="8022182" y="1763468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object-35">
            <a:extLst>
              <a:ext uri="{FF2B5EF4-FFF2-40B4-BE49-F238E27FC236}">
                <a16:creationId xmlns:a16="http://schemas.microsoft.com/office/drawing/2014/main" id="{3FDADA36-1C20-4D05-9717-A027C9D920A4}"/>
              </a:ext>
            </a:extLst>
          </p:cNvPr>
          <p:cNvSpPr>
            <a:spLocks noGrp="1"/>
          </p:cNvSpPr>
          <p:nvPr/>
        </p:nvSpPr>
        <p:spPr>
          <a:xfrm>
            <a:off x="8238798" y="1438610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object-36">
            <a:extLst>
              <a:ext uri="{FF2B5EF4-FFF2-40B4-BE49-F238E27FC236}">
                <a16:creationId xmlns:a16="http://schemas.microsoft.com/office/drawing/2014/main" id="{C316ACF0-926B-4707-A186-F34A0284946D}"/>
              </a:ext>
            </a:extLst>
          </p:cNvPr>
          <p:cNvSpPr>
            <a:spLocks noGrp="1"/>
          </p:cNvSpPr>
          <p:nvPr/>
        </p:nvSpPr>
        <p:spPr>
          <a:xfrm>
            <a:off x="8238798" y="1638523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object-37">
            <a:extLst>
              <a:ext uri="{FF2B5EF4-FFF2-40B4-BE49-F238E27FC236}">
                <a16:creationId xmlns:a16="http://schemas.microsoft.com/office/drawing/2014/main" id="{8AF7014C-FD8B-455A-83DA-9CF3453EE646}"/>
              </a:ext>
            </a:extLst>
          </p:cNvPr>
          <p:cNvSpPr>
            <a:spLocks noGrp="1"/>
          </p:cNvSpPr>
          <p:nvPr/>
        </p:nvSpPr>
        <p:spPr>
          <a:xfrm>
            <a:off x="8238798" y="1855096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object-38">
            <a:extLst>
              <a:ext uri="{FF2B5EF4-FFF2-40B4-BE49-F238E27FC236}">
                <a16:creationId xmlns:a16="http://schemas.microsoft.com/office/drawing/2014/main" id="{14789442-42C9-40DE-9CDF-5DD9FD043DF3}"/>
              </a:ext>
            </a:extLst>
          </p:cNvPr>
          <p:cNvSpPr>
            <a:spLocks noGrp="1"/>
          </p:cNvSpPr>
          <p:nvPr/>
        </p:nvSpPr>
        <p:spPr>
          <a:xfrm>
            <a:off x="8455417" y="1513576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object-39">
            <a:extLst>
              <a:ext uri="{FF2B5EF4-FFF2-40B4-BE49-F238E27FC236}">
                <a16:creationId xmlns:a16="http://schemas.microsoft.com/office/drawing/2014/main" id="{FBDACF6E-508F-4284-94A6-D03A1DF7EA9B}"/>
              </a:ext>
            </a:extLst>
          </p:cNvPr>
          <p:cNvSpPr>
            <a:spLocks noGrp="1"/>
          </p:cNvSpPr>
          <p:nvPr/>
        </p:nvSpPr>
        <p:spPr>
          <a:xfrm>
            <a:off x="8455417" y="1763468"/>
            <a:ext cx="66651" cy="66637"/>
          </a:xfrm>
          <a:prstGeom prst="ellipse">
            <a:avLst/>
          </a:prstGeom>
          <a:solidFill>
            <a:srgbClr val="087B61"/>
          </a:solidFill>
          <a:ln w="14997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45" name="line-40">
            <a:extLst>
              <a:ext uri="{FF2B5EF4-FFF2-40B4-BE49-F238E27FC236}">
                <a16:creationId xmlns:a16="http://schemas.microsoft.com/office/drawing/2014/main" id="{B1F895A0-B283-456A-BBFF-ED88BA75D7C9}"/>
              </a:ext>
            </a:extLst>
          </p:cNvPr>
          <p:cNvCxnSpPr/>
          <p:nvPr/>
        </p:nvCxnSpPr>
        <p:spPr>
          <a:xfrm>
            <a:off x="8572056" y="1671841"/>
            <a:ext cx="124971" cy="0"/>
          </a:xfrm>
          <a:prstGeom prst="straightConnector1">
            <a:avLst/>
          </a:prstGeom>
          <a:ln w="18329">
            <a:solidFill>
              <a:srgbClr val="087B61"/>
            </a:solidFill>
            <a:prstDash val="solid"/>
            <a:tailEnd type="triangle" w="med" len="med"/>
          </a:ln>
        </p:spPr>
      </p:cxnSp>
      <p:sp>
        <p:nvSpPr>
          <p:cNvPr id="46" name="object-41">
            <a:extLst>
              <a:ext uri="{FF2B5EF4-FFF2-40B4-BE49-F238E27FC236}">
                <a16:creationId xmlns:a16="http://schemas.microsoft.com/office/drawing/2014/main" id="{41C32578-EBBD-4753-B97E-B82FE1CB64D5}"/>
              </a:ext>
            </a:extLst>
          </p:cNvPr>
          <p:cNvSpPr>
            <a:spLocks noGrp="1"/>
          </p:cNvSpPr>
          <p:nvPr/>
        </p:nvSpPr>
        <p:spPr>
          <a:xfrm>
            <a:off x="8738685" y="1546895"/>
            <a:ext cx="199955" cy="241562"/>
          </a:xfrm>
          <a:prstGeom prst="rect">
            <a:avLst/>
          </a:prstGeom>
          <a:noFill/>
          <a:ln w="14997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C</a:t>
            </a:r>
          </a:p>
        </p:txBody>
      </p:sp>
      <p:sp>
        <p:nvSpPr>
          <p:cNvPr id="2030" name="LAMAR 2030"/>
          <p:cNvSpPr/>
          <p:nvPr/>
        </p:nvSpPr>
        <p:spPr>
          <a:xfrm>
            <a:off x="7878986" y="2074757"/>
            <a:ext cx="1202850" cy="184564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 dirty="0">
                <a:solidFill>
                  <a:srgbClr val="007E63"/>
                </a:solidFill>
                <a:latin typeface="Futura"/>
                <a:ea typeface="Futura"/>
                <a:cs typeface="Futura"/>
              </a:rPr>
              <a:t>LAMAR</a:t>
            </a:r>
          </a:p>
        </p:txBody>
      </p:sp>
      <p:cxnSp>
        <p:nvCxnSpPr>
          <p:cNvPr id="48" name="line-43">
            <a:extLst>
              <a:ext uri="{FF2B5EF4-FFF2-40B4-BE49-F238E27FC236}">
                <a16:creationId xmlns:a16="http://schemas.microsoft.com/office/drawing/2014/main" id="{9E248F78-6E2B-46D7-87FB-EBE8E8A959B9}"/>
              </a:ext>
            </a:extLst>
          </p:cNvPr>
          <p:cNvCxnSpPr/>
          <p:nvPr/>
        </p:nvCxnSpPr>
        <p:spPr>
          <a:xfrm>
            <a:off x="9543217" y="1540156"/>
            <a:ext cx="280086" cy="0"/>
          </a:xfrm>
          <a:prstGeom prst="straightConnector1">
            <a:avLst/>
          </a:prstGeom>
          <a:ln w="18672">
            <a:solidFill>
              <a:srgbClr val="087B61"/>
            </a:solidFill>
            <a:prstDash val="solid"/>
            <a:tailEnd type="triangle" w="med" len="med"/>
          </a:ln>
        </p:spPr>
      </p:cxnSp>
      <p:cxnSp>
        <p:nvCxnSpPr>
          <p:cNvPr id="49" name="line-44">
            <a:extLst>
              <a:ext uri="{FF2B5EF4-FFF2-40B4-BE49-F238E27FC236}">
                <a16:creationId xmlns:a16="http://schemas.microsoft.com/office/drawing/2014/main" id="{76EFC961-A378-4918-B8B3-065C5209EBDD}"/>
              </a:ext>
            </a:extLst>
          </p:cNvPr>
          <p:cNvCxnSpPr/>
          <p:nvPr/>
        </p:nvCxnSpPr>
        <p:spPr>
          <a:xfrm>
            <a:off x="9390442" y="1650470"/>
            <a:ext cx="212187" cy="84857"/>
          </a:xfrm>
          <a:prstGeom prst="straightConnector1">
            <a:avLst/>
          </a:prstGeom>
          <a:ln w="18672">
            <a:solidFill>
              <a:srgbClr val="087B61"/>
            </a:solidFill>
            <a:prstDash val="solid"/>
            <a:tailEnd type="triangle" w="med" len="med"/>
          </a:ln>
        </p:spPr>
      </p:cxnSp>
      <p:cxnSp>
        <p:nvCxnSpPr>
          <p:cNvPr id="50" name="line-45">
            <a:extLst>
              <a:ext uri="{FF2B5EF4-FFF2-40B4-BE49-F238E27FC236}">
                <a16:creationId xmlns:a16="http://schemas.microsoft.com/office/drawing/2014/main" id="{C317B725-D4EC-4A75-901B-1CAA8D6E8E52}"/>
              </a:ext>
            </a:extLst>
          </p:cNvPr>
          <p:cNvCxnSpPr/>
          <p:nvPr/>
        </p:nvCxnSpPr>
        <p:spPr>
          <a:xfrm flipH="1">
            <a:off x="9780866" y="1650470"/>
            <a:ext cx="178237" cy="84857"/>
          </a:xfrm>
          <a:prstGeom prst="straightConnector1">
            <a:avLst/>
          </a:prstGeom>
          <a:ln w="18672">
            <a:solidFill>
              <a:srgbClr val="087B61"/>
            </a:solidFill>
            <a:prstDash val="solid"/>
            <a:tailEnd type="triangle" w="med" len="med"/>
          </a:ln>
        </p:spPr>
      </p:cxnSp>
      <p:sp>
        <p:nvSpPr>
          <p:cNvPr id="51" name="object-46">
            <a:extLst>
              <a:ext uri="{FF2B5EF4-FFF2-40B4-BE49-F238E27FC236}">
                <a16:creationId xmlns:a16="http://schemas.microsoft.com/office/drawing/2014/main" id="{8A4DF76C-2397-44FF-9D68-49255FFCC9D8}"/>
              </a:ext>
            </a:extLst>
          </p:cNvPr>
          <p:cNvSpPr>
            <a:spLocks noGrp="1"/>
          </p:cNvSpPr>
          <p:nvPr/>
        </p:nvSpPr>
        <p:spPr>
          <a:xfrm>
            <a:off x="9246155" y="1438329"/>
            <a:ext cx="297062" cy="203658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6976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object-47">
            <a:extLst>
              <a:ext uri="{FF2B5EF4-FFF2-40B4-BE49-F238E27FC236}">
                <a16:creationId xmlns:a16="http://schemas.microsoft.com/office/drawing/2014/main" id="{59221DE5-E8A7-44B8-9675-A1031AEB2EFF}"/>
              </a:ext>
            </a:extLst>
          </p:cNvPr>
          <p:cNvSpPr>
            <a:spLocks noGrp="1"/>
          </p:cNvSpPr>
          <p:nvPr/>
        </p:nvSpPr>
        <p:spPr>
          <a:xfrm>
            <a:off x="9823305" y="1438329"/>
            <a:ext cx="297062" cy="203658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6976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object-48">
            <a:extLst>
              <a:ext uri="{FF2B5EF4-FFF2-40B4-BE49-F238E27FC236}">
                <a16:creationId xmlns:a16="http://schemas.microsoft.com/office/drawing/2014/main" id="{453F52A9-1901-44FA-A53B-F1AA9C3B406F}"/>
              </a:ext>
            </a:extLst>
          </p:cNvPr>
          <p:cNvSpPr>
            <a:spLocks noGrp="1"/>
          </p:cNvSpPr>
          <p:nvPr/>
        </p:nvSpPr>
        <p:spPr>
          <a:xfrm>
            <a:off x="9534730" y="1718356"/>
            <a:ext cx="297062" cy="203658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6976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1" name="Whole-body 2031"/>
          <p:cNvSpPr/>
          <p:nvPr/>
        </p:nvSpPr>
        <p:spPr>
          <a:xfrm>
            <a:off x="9081836" y="2074757"/>
            <a:ext cx="1202850" cy="184564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 dirty="0">
                <a:solidFill>
                  <a:srgbClr val="007E63"/>
                </a:solidFill>
                <a:latin typeface="Futura"/>
                <a:ea typeface="Futura"/>
                <a:cs typeface="Futura"/>
              </a:rPr>
              <a:t>Whole-body</a:t>
            </a:r>
          </a:p>
        </p:txBody>
      </p:sp>
      <p:sp>
        <p:nvSpPr>
          <p:cNvPr id="2032" name="EDIT 2032"/>
          <p:cNvSpPr/>
          <p:nvPr/>
        </p:nvSpPr>
        <p:spPr>
          <a:xfrm>
            <a:off x="2825743" y="2800000"/>
            <a:ext cx="661886" cy="254545"/>
          </a:xfrm>
          <a:prstGeom prst="roundRect">
            <a:avLst>
              <a:gd name="adj" fmla="val 30000"/>
            </a:avLst>
          </a:prstGeom>
          <a:solidFill>
            <a:srgbClr val="0788B5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EDIT</a:t>
            </a:r>
          </a:p>
        </p:txBody>
      </p:sp>
      <p:sp>
        <p:nvSpPr>
          <p:cNvPr id="2033" name="Integrated ORCA 2033"/>
          <p:cNvSpPr/>
          <p:nvPr/>
        </p:nvSpPr>
        <p:spPr>
          <a:xfrm>
            <a:off x="3564000" y="2800000"/>
            <a:ext cx="1527429" cy="254545"/>
          </a:xfrm>
          <a:prstGeom prst="roundRect">
            <a:avLst>
              <a:gd name="adj" fmla="val 30000"/>
            </a:avLst>
          </a:prstGeom>
          <a:solidFill>
            <a:srgbClr val="D7EEF6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2" b="1">
                <a:solidFill>
                  <a:srgbClr val="0788B5"/>
                </a:solidFill>
                <a:latin typeface="Georgia"/>
                <a:ea typeface="Georgia"/>
                <a:cs typeface="Georgia"/>
              </a:rPr>
              <a:t>Integrated ORCA</a:t>
            </a:r>
          </a:p>
        </p:txBody>
      </p:sp>
      <p:sp>
        <p:nvSpPr>
          <p:cNvPr id="2034" name="MEASURE 2034"/>
          <p:cNvSpPr/>
          <p:nvPr/>
        </p:nvSpPr>
        <p:spPr>
          <a:xfrm>
            <a:off x="5473286" y="2800000"/>
            <a:ext cx="941914" cy="254545"/>
          </a:xfrm>
          <a:prstGeom prst="roundRect">
            <a:avLst>
              <a:gd name="adj" fmla="val 30000"/>
            </a:avLst>
          </a:prstGeom>
          <a:solidFill>
            <a:srgbClr val="BC5B0C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MEASURE</a:t>
            </a:r>
          </a:p>
        </p:txBody>
      </p:sp>
      <p:sp>
        <p:nvSpPr>
          <p:cNvPr id="2035" name="SONAR 2035"/>
          <p:cNvSpPr/>
          <p:nvPr/>
        </p:nvSpPr>
        <p:spPr>
          <a:xfrm>
            <a:off x="6491571" y="2800000"/>
            <a:ext cx="852814" cy="254545"/>
          </a:xfrm>
          <a:prstGeom prst="roundRect">
            <a:avLst>
              <a:gd name="adj" fmla="val 30000"/>
            </a:avLst>
          </a:prstGeom>
          <a:solidFill>
            <a:srgbClr val="F6DEC6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BC5B0C"/>
                </a:solidFill>
                <a:latin typeface="Georgia"/>
                <a:ea typeface="Georgia"/>
                <a:cs typeface="Georgia"/>
              </a:rPr>
              <a:t>SONAR</a:t>
            </a:r>
          </a:p>
        </p:txBody>
      </p:sp>
      <p:sp>
        <p:nvSpPr>
          <p:cNvPr id="63" name="object-57">
            <a:extLst>
              <a:ext uri="{FF2B5EF4-FFF2-40B4-BE49-F238E27FC236}">
                <a16:creationId xmlns:a16="http://schemas.microsoft.com/office/drawing/2014/main" id="{A6BE828E-F5BD-4590-98A3-AA058FBEFD1F}"/>
              </a:ext>
            </a:extLst>
          </p:cNvPr>
          <p:cNvSpPr>
            <a:spLocks noGrp="1"/>
          </p:cNvSpPr>
          <p:nvPr/>
        </p:nvSpPr>
        <p:spPr>
          <a:xfrm>
            <a:off x="3067369" y="3501231"/>
            <a:ext cx="570889" cy="171232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052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052" b="1">
                <a:solidFill>
                  <a:srgbClr val="087DAA"/>
                </a:solidFill>
                <a:latin typeface="Futura"/>
                <a:ea typeface="Futura"/>
                <a:cs typeface="Futura"/>
              </a:rPr>
              <a:t>POD</a:t>
            </a:r>
          </a:p>
        </p:txBody>
      </p:sp>
      <p:sp>
        <p:nvSpPr>
          <p:cNvPr id="64" name="POD repeat 1">
            <a:extLst>
              <a:ext uri="{FF2B5EF4-FFF2-40B4-BE49-F238E27FC236}">
                <a16:creationId xmlns:a16="http://schemas.microsoft.com/office/drawing/2014/main" id="{3D2AD6E2-B958-4DED-8D07-F702E080F083}"/>
              </a:ext>
            </a:extLst>
          </p:cNvPr>
          <p:cNvSpPr>
            <a:spLocks noGrp="1"/>
          </p:cNvSpPr>
          <p:nvPr/>
        </p:nvSpPr>
        <p:spPr>
          <a:xfrm rot="-990000">
            <a:off x="3027407" y="3775773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POD repeat 2">
            <a:extLst>
              <a:ext uri="{FF2B5EF4-FFF2-40B4-BE49-F238E27FC236}">
                <a16:creationId xmlns:a16="http://schemas.microsoft.com/office/drawing/2014/main" id="{599958D0-7F13-448A-9E2E-AC50BC3CEF59}"/>
              </a:ext>
            </a:extLst>
          </p:cNvPr>
          <p:cNvSpPr>
            <a:spLocks noGrp="1"/>
          </p:cNvSpPr>
          <p:nvPr/>
        </p:nvSpPr>
        <p:spPr>
          <a:xfrm rot="-810000">
            <a:off x="3127312" y="3744253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POD repeat 3">
            <a:extLst>
              <a:ext uri="{FF2B5EF4-FFF2-40B4-BE49-F238E27FC236}">
                <a16:creationId xmlns:a16="http://schemas.microsoft.com/office/drawing/2014/main" id="{1C322173-E404-4AE5-B374-CE4159B00E47}"/>
              </a:ext>
            </a:extLst>
          </p:cNvPr>
          <p:cNvSpPr>
            <a:spLocks noGrp="1"/>
          </p:cNvSpPr>
          <p:nvPr/>
        </p:nvSpPr>
        <p:spPr>
          <a:xfrm rot="-630000">
            <a:off x="3227217" y="3715289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POD repeat 4">
            <a:extLst>
              <a:ext uri="{FF2B5EF4-FFF2-40B4-BE49-F238E27FC236}">
                <a16:creationId xmlns:a16="http://schemas.microsoft.com/office/drawing/2014/main" id="{8263C376-DFE0-4257-9A4D-ECBED96EE931}"/>
              </a:ext>
            </a:extLst>
          </p:cNvPr>
          <p:cNvSpPr>
            <a:spLocks noGrp="1"/>
          </p:cNvSpPr>
          <p:nvPr/>
        </p:nvSpPr>
        <p:spPr>
          <a:xfrm rot="-450000">
            <a:off x="3327124" y="3691226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POD repeat 5">
            <a:extLst>
              <a:ext uri="{FF2B5EF4-FFF2-40B4-BE49-F238E27FC236}">
                <a16:creationId xmlns:a16="http://schemas.microsoft.com/office/drawing/2014/main" id="{FD7D2355-F261-4002-BB77-F8FAE3BB77FE}"/>
              </a:ext>
            </a:extLst>
          </p:cNvPr>
          <p:cNvSpPr>
            <a:spLocks noGrp="1"/>
          </p:cNvSpPr>
          <p:nvPr/>
        </p:nvSpPr>
        <p:spPr>
          <a:xfrm rot="-270000">
            <a:off x="3427029" y="3674009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POD repeat 6">
            <a:extLst>
              <a:ext uri="{FF2B5EF4-FFF2-40B4-BE49-F238E27FC236}">
                <a16:creationId xmlns:a16="http://schemas.microsoft.com/office/drawing/2014/main" id="{551C1E08-E47E-4672-9568-DC04E588992A}"/>
              </a:ext>
            </a:extLst>
          </p:cNvPr>
          <p:cNvSpPr>
            <a:spLocks noGrp="1"/>
          </p:cNvSpPr>
          <p:nvPr/>
        </p:nvSpPr>
        <p:spPr>
          <a:xfrm rot="-90000">
            <a:off x="3526935" y="3665040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POD repeat 7">
            <a:extLst>
              <a:ext uri="{FF2B5EF4-FFF2-40B4-BE49-F238E27FC236}">
                <a16:creationId xmlns:a16="http://schemas.microsoft.com/office/drawing/2014/main" id="{89251BB0-EC30-480D-9DD7-8889A1BEE88A}"/>
              </a:ext>
            </a:extLst>
          </p:cNvPr>
          <p:cNvSpPr>
            <a:spLocks noGrp="1"/>
          </p:cNvSpPr>
          <p:nvPr/>
        </p:nvSpPr>
        <p:spPr>
          <a:xfrm rot="90000">
            <a:off x="3626839" y="3665040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POD repeat 8">
            <a:extLst>
              <a:ext uri="{FF2B5EF4-FFF2-40B4-BE49-F238E27FC236}">
                <a16:creationId xmlns:a16="http://schemas.microsoft.com/office/drawing/2014/main" id="{BFE15F55-DA0C-4F66-AFED-70F7B9793E33}"/>
              </a:ext>
            </a:extLst>
          </p:cNvPr>
          <p:cNvSpPr>
            <a:spLocks noGrp="1"/>
          </p:cNvSpPr>
          <p:nvPr/>
        </p:nvSpPr>
        <p:spPr>
          <a:xfrm rot="270000">
            <a:off x="3726746" y="3674009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POD repeat 9">
            <a:extLst>
              <a:ext uri="{FF2B5EF4-FFF2-40B4-BE49-F238E27FC236}">
                <a16:creationId xmlns:a16="http://schemas.microsoft.com/office/drawing/2014/main" id="{2D23D27F-6106-4A9A-909C-5FD804F267F4}"/>
              </a:ext>
            </a:extLst>
          </p:cNvPr>
          <p:cNvSpPr>
            <a:spLocks noGrp="1"/>
          </p:cNvSpPr>
          <p:nvPr/>
        </p:nvSpPr>
        <p:spPr>
          <a:xfrm rot="450000">
            <a:off x="3826653" y="3691226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POD repeat 10">
            <a:extLst>
              <a:ext uri="{FF2B5EF4-FFF2-40B4-BE49-F238E27FC236}">
                <a16:creationId xmlns:a16="http://schemas.microsoft.com/office/drawing/2014/main" id="{BCEAE232-E98B-4987-B3BA-11B0EB5858BC}"/>
              </a:ext>
            </a:extLst>
          </p:cNvPr>
          <p:cNvSpPr>
            <a:spLocks noGrp="1"/>
          </p:cNvSpPr>
          <p:nvPr/>
        </p:nvSpPr>
        <p:spPr>
          <a:xfrm rot="630000">
            <a:off x="3926559" y="3715289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POD repeat 11">
            <a:extLst>
              <a:ext uri="{FF2B5EF4-FFF2-40B4-BE49-F238E27FC236}">
                <a16:creationId xmlns:a16="http://schemas.microsoft.com/office/drawing/2014/main" id="{2EC8A0D6-FAB8-4BC0-8671-DA24FBD420DE}"/>
              </a:ext>
            </a:extLst>
          </p:cNvPr>
          <p:cNvSpPr>
            <a:spLocks noGrp="1"/>
          </p:cNvSpPr>
          <p:nvPr/>
        </p:nvSpPr>
        <p:spPr>
          <a:xfrm rot="810000">
            <a:off x="4026463" y="3744253"/>
            <a:ext cx="91914" cy="199770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POD repeat 12">
            <a:extLst>
              <a:ext uri="{FF2B5EF4-FFF2-40B4-BE49-F238E27FC236}">
                <a16:creationId xmlns:a16="http://schemas.microsoft.com/office/drawing/2014/main" id="{65AA9BA7-05F4-45C8-9D3C-E11E11B8E393}"/>
              </a:ext>
            </a:extLst>
          </p:cNvPr>
          <p:cNvSpPr>
            <a:spLocks noGrp="1"/>
          </p:cNvSpPr>
          <p:nvPr/>
        </p:nvSpPr>
        <p:spPr>
          <a:xfrm rot="990000">
            <a:off x="4126369" y="3775773"/>
            <a:ext cx="91914" cy="199770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path-58">
            <a:extLst>
              <a:ext uri="{FF2B5EF4-FFF2-40B4-BE49-F238E27FC236}">
                <a16:creationId xmlns:a16="http://schemas.microsoft.com/office/drawing/2014/main" id="{0E5102DE-B0C3-4A4C-A7B2-D4E66E5E7A8B}"/>
              </a:ext>
            </a:extLst>
          </p:cNvPr>
          <p:cNvSpPr>
            <a:spLocks noGrp="1"/>
          </p:cNvSpPr>
          <p:nvPr/>
        </p:nvSpPr>
        <p:spPr>
          <a:xfrm>
            <a:off x="4190309" y="3703854"/>
            <a:ext cx="247766" cy="127854"/>
          </a:xfrm>
          <a:custGeom>
            <a:avLst/>
            <a:gdLst/>
            <a:ahLst/>
            <a:cxnLst/>
            <a:rect l="0" t="0" r="0" b="0"/>
            <a:pathLst>
              <a:path w="590550" h="304800">
                <a:moveTo>
                  <a:pt x="0" y="266700"/>
                </a:moveTo>
                <a:cubicBezTo>
                  <a:pt x="161925" y="257175"/>
                  <a:pt x="219075" y="0"/>
                  <a:pt x="371475" y="66675"/>
                </a:cubicBezTo>
                <a:cubicBezTo>
                  <a:pt x="466725" y="142875"/>
                  <a:pt x="495300" y="228600"/>
                  <a:pt x="590550" y="200025"/>
                </a:cubicBezTo>
              </a:path>
            </a:pathLst>
          </a:custGeom>
          <a:noFill/>
          <a:ln w="29277">
            <a:solidFill>
              <a:srgbClr val="3F53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CETUS schematic">
            <a:extLst>
              <a:ext uri="{FF2B5EF4-FFF2-40B4-BE49-F238E27FC236}">
                <a16:creationId xmlns:a16="http://schemas.microsoft.com/office/drawing/2014/main" id="{4C906830-D63E-4D9A-8713-58C9C26F0B00}"/>
              </a:ext>
            </a:extLst>
          </p:cNvPr>
          <p:cNvSpPr>
            <a:spLocks noGrp="1"/>
          </p:cNvSpPr>
          <p:nvPr/>
        </p:nvSpPr>
        <p:spPr>
          <a:xfrm>
            <a:off x="4402109" y="3635933"/>
            <a:ext cx="523505" cy="371573"/>
          </a:xfrm>
          <a:prstGeom prst="ellipse">
            <a:avLst/>
          </a:prstGeom>
          <a:solidFill>
            <a:srgbClr val="F0AF68"/>
          </a:solidFill>
          <a:ln w="14638">
            <a:solidFill>
              <a:srgbClr val="D8751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object-59">
            <a:extLst>
              <a:ext uri="{FF2B5EF4-FFF2-40B4-BE49-F238E27FC236}">
                <a16:creationId xmlns:a16="http://schemas.microsoft.com/office/drawing/2014/main" id="{CD9184E4-CDCE-47FA-B730-712E480D63A1}"/>
              </a:ext>
            </a:extLst>
          </p:cNvPr>
          <p:cNvSpPr>
            <a:spLocks noGrp="1"/>
          </p:cNvSpPr>
          <p:nvPr/>
        </p:nvSpPr>
        <p:spPr>
          <a:xfrm>
            <a:off x="4404677" y="3751954"/>
            <a:ext cx="519509" cy="171232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defPPr>
            <a:lvl1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052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pPr>
            <a:r>
              <a:rPr sz="1052" b="1" dirty="0">
                <a:solidFill>
                  <a:srgbClr val="793A11"/>
                </a:solidFill>
                <a:latin typeface="Futura"/>
                <a:ea typeface="Futura"/>
                <a:cs typeface="Futura"/>
              </a:rPr>
              <a:t>CETUS</a:t>
            </a:r>
          </a:p>
        </p:txBody>
      </p:sp>
      <p:sp>
        <p:nvSpPr>
          <p:cNvPr id="79" name="path-60">
            <a:extLst>
              <a:ext uri="{FF2B5EF4-FFF2-40B4-BE49-F238E27FC236}">
                <a16:creationId xmlns:a16="http://schemas.microsoft.com/office/drawing/2014/main" id="{02219EAB-6BA7-450C-AF06-028C83FF9487}"/>
              </a:ext>
            </a:extLst>
          </p:cNvPr>
          <p:cNvSpPr>
            <a:spLocks noGrp="1"/>
          </p:cNvSpPr>
          <p:nvPr/>
        </p:nvSpPr>
        <p:spPr>
          <a:xfrm>
            <a:off x="2911556" y="4091410"/>
            <a:ext cx="2054659" cy="55936"/>
          </a:xfrm>
          <a:custGeom>
            <a:avLst/>
            <a:gdLst/>
            <a:ahLst/>
            <a:cxnLst/>
            <a:rect l="0" t="0" r="0" b="0"/>
            <a:pathLst>
              <a:path w="5381625" h="133350">
                <a:moveTo>
                  <a:pt x="0" y="66675"/>
                </a:moveTo>
                <a:cubicBezTo>
                  <a:pt x="645795" y="-38100"/>
                  <a:pt x="914876" y="171450"/>
                  <a:pt x="1506855" y="66675"/>
                </a:cubicBezTo>
                <a:cubicBezTo>
                  <a:pt x="2098834" y="-38100"/>
                  <a:pt x="2367915" y="171450"/>
                  <a:pt x="3013710" y="66675"/>
                </a:cubicBezTo>
                <a:cubicBezTo>
                  <a:pt x="3767138" y="-38100"/>
                  <a:pt x="4520565" y="171450"/>
                  <a:pt x="5381625" y="66675"/>
                </a:cubicBezTo>
              </a:path>
            </a:pathLst>
          </a:custGeom>
          <a:noFill/>
          <a:ln w="21958">
            <a:solidFill>
              <a:srgbClr val="35566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object-61">
            <a:extLst>
              <a:ext uri="{FF2B5EF4-FFF2-40B4-BE49-F238E27FC236}">
                <a16:creationId xmlns:a16="http://schemas.microsoft.com/office/drawing/2014/main" id="{5EB9B489-783F-448C-9947-165610665D10}"/>
              </a:ext>
            </a:extLst>
          </p:cNvPr>
          <p:cNvSpPr>
            <a:spLocks noGrp="1"/>
          </p:cNvSpPr>
          <p:nvPr/>
        </p:nvSpPr>
        <p:spPr>
          <a:xfrm>
            <a:off x="2777004" y="4043465"/>
            <a:ext cx="145462" cy="135843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5′</a:t>
            </a:r>
          </a:p>
        </p:txBody>
      </p:sp>
      <p:sp>
        <p:nvSpPr>
          <p:cNvPr id="81" name="object-62">
            <a:extLst>
              <a:ext uri="{FF2B5EF4-FFF2-40B4-BE49-F238E27FC236}">
                <a16:creationId xmlns:a16="http://schemas.microsoft.com/office/drawing/2014/main" id="{167FA562-B021-4B2A-8BA9-3C66A8E06091}"/>
              </a:ext>
            </a:extLst>
          </p:cNvPr>
          <p:cNvSpPr>
            <a:spLocks noGrp="1"/>
          </p:cNvSpPr>
          <p:nvPr/>
        </p:nvSpPr>
        <p:spPr>
          <a:xfrm>
            <a:off x="5002581" y="4043465"/>
            <a:ext cx="145462" cy="135843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3′</a:t>
            </a:r>
          </a:p>
        </p:txBody>
      </p:sp>
      <p:sp>
        <p:nvSpPr>
          <p:cNvPr id="82" name="object-63">
            <a:extLst>
              <a:ext uri="{FF2B5EF4-FFF2-40B4-BE49-F238E27FC236}">
                <a16:creationId xmlns:a16="http://schemas.microsoft.com/office/drawing/2014/main" id="{5DDF6516-AEA4-416E-AE33-4611801A38CA}"/>
              </a:ext>
            </a:extLst>
          </p:cNvPr>
          <p:cNvSpPr>
            <a:spLocks noGrp="1"/>
          </p:cNvSpPr>
          <p:nvPr/>
        </p:nvSpPr>
        <p:spPr>
          <a:xfrm>
            <a:off x="3039395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3" name="line-64">
            <a:extLst>
              <a:ext uri="{FF2B5EF4-FFF2-40B4-BE49-F238E27FC236}">
                <a16:creationId xmlns:a16="http://schemas.microsoft.com/office/drawing/2014/main" id="{2B5195F8-7339-4D93-B496-0ACCB35A3945}"/>
              </a:ext>
            </a:extLst>
          </p:cNvPr>
          <p:cNvCxnSpPr/>
          <p:nvPr/>
        </p:nvCxnSpPr>
        <p:spPr>
          <a:xfrm>
            <a:off x="3071366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4" name="object-65">
            <a:extLst>
              <a:ext uri="{FF2B5EF4-FFF2-40B4-BE49-F238E27FC236}">
                <a16:creationId xmlns:a16="http://schemas.microsoft.com/office/drawing/2014/main" id="{7AEF1F72-7EF9-43A7-81C0-C1BBBC67DF83}"/>
              </a:ext>
            </a:extLst>
          </p:cNvPr>
          <p:cNvSpPr>
            <a:spLocks noGrp="1"/>
          </p:cNvSpPr>
          <p:nvPr/>
        </p:nvSpPr>
        <p:spPr>
          <a:xfrm>
            <a:off x="3135305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5" name="line-66">
            <a:extLst>
              <a:ext uri="{FF2B5EF4-FFF2-40B4-BE49-F238E27FC236}">
                <a16:creationId xmlns:a16="http://schemas.microsoft.com/office/drawing/2014/main" id="{328BEB23-45B4-4BFB-A962-CA83E5A5446E}"/>
              </a:ext>
            </a:extLst>
          </p:cNvPr>
          <p:cNvCxnSpPr/>
          <p:nvPr/>
        </p:nvCxnSpPr>
        <p:spPr>
          <a:xfrm>
            <a:off x="3167275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6" name="object-67">
            <a:extLst>
              <a:ext uri="{FF2B5EF4-FFF2-40B4-BE49-F238E27FC236}">
                <a16:creationId xmlns:a16="http://schemas.microsoft.com/office/drawing/2014/main" id="{C75F5B47-88B5-4B7D-BCEA-863CC2BB97F0}"/>
              </a:ext>
            </a:extLst>
          </p:cNvPr>
          <p:cNvSpPr>
            <a:spLocks noGrp="1"/>
          </p:cNvSpPr>
          <p:nvPr/>
        </p:nvSpPr>
        <p:spPr>
          <a:xfrm>
            <a:off x="3231215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7" name="line-68">
            <a:extLst>
              <a:ext uri="{FF2B5EF4-FFF2-40B4-BE49-F238E27FC236}">
                <a16:creationId xmlns:a16="http://schemas.microsoft.com/office/drawing/2014/main" id="{6EDE15E2-79EA-49D6-B524-D2EFEAF99161}"/>
              </a:ext>
            </a:extLst>
          </p:cNvPr>
          <p:cNvCxnSpPr/>
          <p:nvPr/>
        </p:nvCxnSpPr>
        <p:spPr>
          <a:xfrm>
            <a:off x="3263185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8" name="object-69">
            <a:extLst>
              <a:ext uri="{FF2B5EF4-FFF2-40B4-BE49-F238E27FC236}">
                <a16:creationId xmlns:a16="http://schemas.microsoft.com/office/drawing/2014/main" id="{519827ED-E264-46D0-BD31-4AC208FF41EE}"/>
              </a:ext>
            </a:extLst>
          </p:cNvPr>
          <p:cNvSpPr>
            <a:spLocks noGrp="1"/>
          </p:cNvSpPr>
          <p:nvPr/>
        </p:nvSpPr>
        <p:spPr>
          <a:xfrm>
            <a:off x="3327124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9" name="line-70">
            <a:extLst>
              <a:ext uri="{FF2B5EF4-FFF2-40B4-BE49-F238E27FC236}">
                <a16:creationId xmlns:a16="http://schemas.microsoft.com/office/drawing/2014/main" id="{953C9AF6-B4C8-420E-979F-9A6D959FAEB1}"/>
              </a:ext>
            </a:extLst>
          </p:cNvPr>
          <p:cNvCxnSpPr/>
          <p:nvPr/>
        </p:nvCxnSpPr>
        <p:spPr>
          <a:xfrm>
            <a:off x="3359093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0" name="object-71">
            <a:extLst>
              <a:ext uri="{FF2B5EF4-FFF2-40B4-BE49-F238E27FC236}">
                <a16:creationId xmlns:a16="http://schemas.microsoft.com/office/drawing/2014/main" id="{404F5124-BB93-4BBD-85AC-CDD200896B8A}"/>
              </a:ext>
            </a:extLst>
          </p:cNvPr>
          <p:cNvSpPr>
            <a:spLocks noGrp="1"/>
          </p:cNvSpPr>
          <p:nvPr/>
        </p:nvSpPr>
        <p:spPr>
          <a:xfrm>
            <a:off x="3423034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1" name="line-72">
            <a:extLst>
              <a:ext uri="{FF2B5EF4-FFF2-40B4-BE49-F238E27FC236}">
                <a16:creationId xmlns:a16="http://schemas.microsoft.com/office/drawing/2014/main" id="{A6CFC02E-2645-41CE-93D6-436EA6FFCD54}"/>
              </a:ext>
            </a:extLst>
          </p:cNvPr>
          <p:cNvCxnSpPr/>
          <p:nvPr/>
        </p:nvCxnSpPr>
        <p:spPr>
          <a:xfrm>
            <a:off x="3455003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2" name="object-73">
            <a:extLst>
              <a:ext uri="{FF2B5EF4-FFF2-40B4-BE49-F238E27FC236}">
                <a16:creationId xmlns:a16="http://schemas.microsoft.com/office/drawing/2014/main" id="{CF54626D-7DDF-49C7-B18D-40A341E912A5}"/>
              </a:ext>
            </a:extLst>
          </p:cNvPr>
          <p:cNvSpPr>
            <a:spLocks noGrp="1"/>
          </p:cNvSpPr>
          <p:nvPr/>
        </p:nvSpPr>
        <p:spPr>
          <a:xfrm>
            <a:off x="3518943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3" name="line-74">
            <a:extLst>
              <a:ext uri="{FF2B5EF4-FFF2-40B4-BE49-F238E27FC236}">
                <a16:creationId xmlns:a16="http://schemas.microsoft.com/office/drawing/2014/main" id="{B0F4E28B-160D-4D81-9311-EB238F3467E7}"/>
              </a:ext>
            </a:extLst>
          </p:cNvPr>
          <p:cNvCxnSpPr/>
          <p:nvPr/>
        </p:nvCxnSpPr>
        <p:spPr>
          <a:xfrm>
            <a:off x="3550913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4" name="object-75">
            <a:extLst>
              <a:ext uri="{FF2B5EF4-FFF2-40B4-BE49-F238E27FC236}">
                <a16:creationId xmlns:a16="http://schemas.microsoft.com/office/drawing/2014/main" id="{3F873CD2-C1F1-46A4-89B8-E90E42D85A3E}"/>
              </a:ext>
            </a:extLst>
          </p:cNvPr>
          <p:cNvSpPr>
            <a:spLocks noGrp="1"/>
          </p:cNvSpPr>
          <p:nvPr/>
        </p:nvSpPr>
        <p:spPr>
          <a:xfrm>
            <a:off x="3614851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5" name="line-76">
            <a:extLst>
              <a:ext uri="{FF2B5EF4-FFF2-40B4-BE49-F238E27FC236}">
                <a16:creationId xmlns:a16="http://schemas.microsoft.com/office/drawing/2014/main" id="{8BA539E8-8698-4800-B373-AFCECFC451BE}"/>
              </a:ext>
            </a:extLst>
          </p:cNvPr>
          <p:cNvCxnSpPr/>
          <p:nvPr/>
        </p:nvCxnSpPr>
        <p:spPr>
          <a:xfrm>
            <a:off x="3646821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6" name="object-77">
            <a:extLst>
              <a:ext uri="{FF2B5EF4-FFF2-40B4-BE49-F238E27FC236}">
                <a16:creationId xmlns:a16="http://schemas.microsoft.com/office/drawing/2014/main" id="{B4B63C16-1B1D-4636-9F6F-4AF59E70A1AA}"/>
              </a:ext>
            </a:extLst>
          </p:cNvPr>
          <p:cNvSpPr>
            <a:spLocks noGrp="1"/>
          </p:cNvSpPr>
          <p:nvPr/>
        </p:nvSpPr>
        <p:spPr>
          <a:xfrm>
            <a:off x="3710761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7" name="line-78">
            <a:extLst>
              <a:ext uri="{FF2B5EF4-FFF2-40B4-BE49-F238E27FC236}">
                <a16:creationId xmlns:a16="http://schemas.microsoft.com/office/drawing/2014/main" id="{EEFAB0C4-2DE0-451E-AFA2-663A46E5FD7C}"/>
              </a:ext>
            </a:extLst>
          </p:cNvPr>
          <p:cNvCxnSpPr/>
          <p:nvPr/>
        </p:nvCxnSpPr>
        <p:spPr>
          <a:xfrm>
            <a:off x="3742731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8" name="object-79">
            <a:extLst>
              <a:ext uri="{FF2B5EF4-FFF2-40B4-BE49-F238E27FC236}">
                <a16:creationId xmlns:a16="http://schemas.microsoft.com/office/drawing/2014/main" id="{6A0719B4-9149-4E17-86FE-C93A17D44BDD}"/>
              </a:ext>
            </a:extLst>
          </p:cNvPr>
          <p:cNvSpPr>
            <a:spLocks noGrp="1"/>
          </p:cNvSpPr>
          <p:nvPr/>
        </p:nvSpPr>
        <p:spPr>
          <a:xfrm>
            <a:off x="3806671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9" name="line-80">
            <a:extLst>
              <a:ext uri="{FF2B5EF4-FFF2-40B4-BE49-F238E27FC236}">
                <a16:creationId xmlns:a16="http://schemas.microsoft.com/office/drawing/2014/main" id="{F9D1E78C-54AE-4098-8DA0-699867D1C748}"/>
              </a:ext>
            </a:extLst>
          </p:cNvPr>
          <p:cNvCxnSpPr/>
          <p:nvPr/>
        </p:nvCxnSpPr>
        <p:spPr>
          <a:xfrm>
            <a:off x="3838640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0" name="object-81">
            <a:extLst>
              <a:ext uri="{FF2B5EF4-FFF2-40B4-BE49-F238E27FC236}">
                <a16:creationId xmlns:a16="http://schemas.microsoft.com/office/drawing/2014/main" id="{98D381FB-3B9A-41F9-9E01-284403697069}"/>
              </a:ext>
            </a:extLst>
          </p:cNvPr>
          <p:cNvSpPr>
            <a:spLocks noGrp="1"/>
          </p:cNvSpPr>
          <p:nvPr/>
        </p:nvSpPr>
        <p:spPr>
          <a:xfrm>
            <a:off x="3902580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1" name="line-82">
            <a:extLst>
              <a:ext uri="{FF2B5EF4-FFF2-40B4-BE49-F238E27FC236}">
                <a16:creationId xmlns:a16="http://schemas.microsoft.com/office/drawing/2014/main" id="{428E4D5F-34F2-4783-885E-0D6A357D6577}"/>
              </a:ext>
            </a:extLst>
          </p:cNvPr>
          <p:cNvCxnSpPr/>
          <p:nvPr/>
        </p:nvCxnSpPr>
        <p:spPr>
          <a:xfrm>
            <a:off x="3934549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2" name="object-83">
            <a:extLst>
              <a:ext uri="{FF2B5EF4-FFF2-40B4-BE49-F238E27FC236}">
                <a16:creationId xmlns:a16="http://schemas.microsoft.com/office/drawing/2014/main" id="{298AA457-DAED-4DF9-B6BD-36201664597C}"/>
              </a:ext>
            </a:extLst>
          </p:cNvPr>
          <p:cNvSpPr>
            <a:spLocks noGrp="1"/>
          </p:cNvSpPr>
          <p:nvPr/>
        </p:nvSpPr>
        <p:spPr>
          <a:xfrm>
            <a:off x="3998489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3" name="line-84">
            <a:extLst>
              <a:ext uri="{FF2B5EF4-FFF2-40B4-BE49-F238E27FC236}">
                <a16:creationId xmlns:a16="http://schemas.microsoft.com/office/drawing/2014/main" id="{C596D9DE-8896-4CD1-B4CD-2161CEE9B7E5}"/>
              </a:ext>
            </a:extLst>
          </p:cNvPr>
          <p:cNvCxnSpPr/>
          <p:nvPr/>
        </p:nvCxnSpPr>
        <p:spPr>
          <a:xfrm>
            <a:off x="4030459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4" name="object-85">
            <a:extLst>
              <a:ext uri="{FF2B5EF4-FFF2-40B4-BE49-F238E27FC236}">
                <a16:creationId xmlns:a16="http://schemas.microsoft.com/office/drawing/2014/main" id="{EF896B9C-4D74-4788-9D4A-183FFE1A3179}"/>
              </a:ext>
            </a:extLst>
          </p:cNvPr>
          <p:cNvSpPr>
            <a:spLocks noGrp="1"/>
          </p:cNvSpPr>
          <p:nvPr/>
        </p:nvSpPr>
        <p:spPr>
          <a:xfrm>
            <a:off x="4094399" y="4075427"/>
            <a:ext cx="63939" cy="99886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317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" name="line-86">
            <a:extLst>
              <a:ext uri="{FF2B5EF4-FFF2-40B4-BE49-F238E27FC236}">
                <a16:creationId xmlns:a16="http://schemas.microsoft.com/office/drawing/2014/main" id="{F43026A9-1BEF-4EFD-8052-E9E79CAF1C1A}"/>
              </a:ext>
            </a:extLst>
          </p:cNvPr>
          <p:cNvCxnSpPr/>
          <p:nvPr/>
        </p:nvCxnSpPr>
        <p:spPr>
          <a:xfrm>
            <a:off x="4126369" y="3995519"/>
            <a:ext cx="0" cy="79909"/>
          </a:xfrm>
          <a:prstGeom prst="straightConnector1">
            <a:avLst/>
          </a:prstGeom>
          <a:ln w="16101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6" name="object-87">
            <a:extLst>
              <a:ext uri="{FF2B5EF4-FFF2-40B4-BE49-F238E27FC236}">
                <a16:creationId xmlns:a16="http://schemas.microsoft.com/office/drawing/2014/main" id="{B59A097C-2515-4D25-9A19-EF6988887AF9}"/>
              </a:ext>
            </a:extLst>
          </p:cNvPr>
          <p:cNvSpPr>
            <a:spLocks noGrp="1"/>
          </p:cNvSpPr>
          <p:nvPr/>
        </p:nvSpPr>
        <p:spPr>
          <a:xfrm>
            <a:off x="4585933" y="4035474"/>
            <a:ext cx="167841" cy="167807"/>
          </a:xfrm>
          <a:prstGeom prst="ellipse">
            <a:avLst/>
          </a:prstGeom>
          <a:solidFill>
            <a:srgbClr val="F6C28E"/>
          </a:solidFill>
          <a:ln w="13174">
            <a:solidFill>
              <a:srgbClr val="D8751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object-88">
            <a:extLst>
              <a:ext uri="{FF2B5EF4-FFF2-40B4-BE49-F238E27FC236}">
                <a16:creationId xmlns:a16="http://schemas.microsoft.com/office/drawing/2014/main" id="{311347C7-93E1-4654-8F4E-03017A26297A}"/>
              </a:ext>
            </a:extLst>
          </p:cNvPr>
          <p:cNvSpPr>
            <a:spLocks noGrp="1"/>
          </p:cNvSpPr>
          <p:nvPr/>
        </p:nvSpPr>
        <p:spPr>
          <a:xfrm>
            <a:off x="4585933" y="4035474"/>
            <a:ext cx="167841" cy="167807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93A11"/>
                </a:solidFill>
                <a:latin typeface="Futura"/>
                <a:ea typeface="Futura"/>
                <a:cs typeface="Futura"/>
              </a:rPr>
              <a:t>C</a:t>
            </a:r>
          </a:p>
        </p:txBody>
      </p:sp>
      <p:cxnSp>
        <p:nvCxnSpPr>
          <p:cNvPr id="108" name="line-89">
            <a:extLst>
              <a:ext uri="{FF2B5EF4-FFF2-40B4-BE49-F238E27FC236}">
                <a16:creationId xmlns:a16="http://schemas.microsoft.com/office/drawing/2014/main" id="{DE5501BD-D56E-4189-A515-E321C4681846}"/>
              </a:ext>
            </a:extLst>
          </p:cNvPr>
          <p:cNvCxnSpPr/>
          <p:nvPr/>
        </p:nvCxnSpPr>
        <p:spPr>
          <a:xfrm>
            <a:off x="4669856" y="4011502"/>
            <a:ext cx="0" cy="19978"/>
          </a:xfrm>
          <a:prstGeom prst="straightConnector1">
            <a:avLst/>
          </a:prstGeom>
          <a:ln w="16101">
            <a:solidFill>
              <a:srgbClr val="D8751C"/>
            </a:solidFill>
            <a:prstDash val="solid"/>
            <a:tailEnd type="triangle" w="med" len="med"/>
          </a:ln>
        </p:spPr>
      </p:cxnSp>
      <p:sp>
        <p:nvSpPr>
          <p:cNvPr id="109" name="object-90">
            <a:extLst>
              <a:ext uri="{FF2B5EF4-FFF2-40B4-BE49-F238E27FC236}">
                <a16:creationId xmlns:a16="http://schemas.microsoft.com/office/drawing/2014/main" id="{B5E608EE-0A77-4B92-BE36-E5F20F669447}"/>
              </a:ext>
            </a:extLst>
          </p:cNvPr>
          <p:cNvSpPr>
            <a:spLocks noGrp="1"/>
          </p:cNvSpPr>
          <p:nvPr/>
        </p:nvSpPr>
        <p:spPr>
          <a:xfrm>
            <a:off x="3061810" y="4262972"/>
            <a:ext cx="1255955" cy="182648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902" b="0" dirty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APOE4 RNA</a:t>
            </a:r>
          </a:p>
        </p:txBody>
      </p:sp>
      <p:cxnSp>
        <p:nvCxnSpPr>
          <p:cNvPr id="110" name="line-91">
            <a:extLst>
              <a:ext uri="{FF2B5EF4-FFF2-40B4-BE49-F238E27FC236}">
                <a16:creationId xmlns:a16="http://schemas.microsoft.com/office/drawing/2014/main" id="{A4D102E3-26BA-448E-AEBF-FB3BA038B94A}"/>
              </a:ext>
            </a:extLst>
          </p:cNvPr>
          <p:cNvCxnSpPr/>
          <p:nvPr/>
        </p:nvCxnSpPr>
        <p:spPr>
          <a:xfrm>
            <a:off x="4669856" y="4227253"/>
            <a:ext cx="0" cy="175798"/>
          </a:xfrm>
          <a:prstGeom prst="straightConnector1">
            <a:avLst/>
          </a:prstGeom>
          <a:ln w="16101">
            <a:solidFill>
              <a:srgbClr val="D8751C"/>
            </a:solidFill>
            <a:prstDash val="solid"/>
            <a:tailEnd type="triangle" w="med" len="med"/>
          </a:ln>
        </p:spPr>
      </p:cxnSp>
      <p:sp>
        <p:nvSpPr>
          <p:cNvPr id="111" name="object-92">
            <a:extLst>
              <a:ext uri="{FF2B5EF4-FFF2-40B4-BE49-F238E27FC236}">
                <a16:creationId xmlns:a16="http://schemas.microsoft.com/office/drawing/2014/main" id="{C647B270-C926-444A-BE27-D19277936F4E}"/>
              </a:ext>
            </a:extLst>
          </p:cNvPr>
          <p:cNvSpPr>
            <a:spLocks noGrp="1"/>
          </p:cNvSpPr>
          <p:nvPr/>
        </p:nvSpPr>
        <p:spPr>
          <a:xfrm>
            <a:off x="4585933" y="4435013"/>
            <a:ext cx="167841" cy="167807"/>
          </a:xfrm>
          <a:prstGeom prst="ellipse">
            <a:avLst/>
          </a:prstGeom>
          <a:solidFill>
            <a:srgbClr val="A9D9B9"/>
          </a:solidFill>
          <a:ln w="13174">
            <a:solidFill>
              <a:srgbClr val="24824E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object-93">
            <a:extLst>
              <a:ext uri="{FF2B5EF4-FFF2-40B4-BE49-F238E27FC236}">
                <a16:creationId xmlns:a16="http://schemas.microsoft.com/office/drawing/2014/main" id="{BAB287D2-5F07-456F-983E-911684F6BE60}"/>
              </a:ext>
            </a:extLst>
          </p:cNvPr>
          <p:cNvSpPr>
            <a:spLocks noGrp="1"/>
          </p:cNvSpPr>
          <p:nvPr/>
        </p:nvSpPr>
        <p:spPr>
          <a:xfrm>
            <a:off x="4585933" y="4435013"/>
            <a:ext cx="167841" cy="167807"/>
          </a:xfrm>
          <a:prstGeom prst="rect">
            <a:avLst/>
          </a:prstGeom>
          <a:noFill/>
          <a:ln w="13174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1E633B"/>
                </a:solidFill>
                <a:latin typeface="Futura"/>
                <a:ea typeface="Futura"/>
                <a:cs typeface="Futura"/>
              </a:rPr>
              <a:t>U</a:t>
            </a:r>
          </a:p>
        </p:txBody>
      </p:sp>
      <p:cxnSp>
        <p:nvCxnSpPr>
          <p:cNvPr id="113" name="line-94">
            <a:extLst>
              <a:ext uri="{FF2B5EF4-FFF2-40B4-BE49-F238E27FC236}">
                <a16:creationId xmlns:a16="http://schemas.microsoft.com/office/drawing/2014/main" id="{28E7093D-FEBD-4515-A598-24AEA84FEE5C}"/>
              </a:ext>
            </a:extLst>
          </p:cNvPr>
          <p:cNvCxnSpPr/>
          <p:nvPr/>
        </p:nvCxnSpPr>
        <p:spPr>
          <a:xfrm>
            <a:off x="4486029" y="4518916"/>
            <a:ext cx="95910" cy="0"/>
          </a:xfrm>
          <a:prstGeom prst="straightConnector1">
            <a:avLst/>
          </a:prstGeom>
          <a:ln w="21958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114" name="line-95">
            <a:extLst>
              <a:ext uri="{FF2B5EF4-FFF2-40B4-BE49-F238E27FC236}">
                <a16:creationId xmlns:a16="http://schemas.microsoft.com/office/drawing/2014/main" id="{51E11502-048E-4838-BAF8-20BF7C770870}"/>
              </a:ext>
            </a:extLst>
          </p:cNvPr>
          <p:cNvCxnSpPr/>
          <p:nvPr/>
        </p:nvCxnSpPr>
        <p:spPr>
          <a:xfrm>
            <a:off x="4757773" y="4518916"/>
            <a:ext cx="99906" cy="0"/>
          </a:xfrm>
          <a:prstGeom prst="straightConnector1">
            <a:avLst/>
          </a:prstGeom>
          <a:ln w="21958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18" name="object-99">
            <a:extLst>
              <a:ext uri="{FF2B5EF4-FFF2-40B4-BE49-F238E27FC236}">
                <a16:creationId xmlns:a16="http://schemas.microsoft.com/office/drawing/2014/main" id="{0B96AF52-C5D4-40AA-8B52-FCC87E0263EF}"/>
              </a:ext>
            </a:extLst>
          </p:cNvPr>
          <p:cNvSpPr>
            <a:spLocks noGrp="1"/>
          </p:cNvSpPr>
          <p:nvPr/>
        </p:nvSpPr>
        <p:spPr>
          <a:xfrm>
            <a:off x="5549913" y="3092712"/>
            <a:ext cx="180037" cy="150001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35566A"/>
                </a:solidFill>
                <a:latin typeface="Futura"/>
                <a:ea typeface="Futura"/>
                <a:cs typeface="Futura"/>
              </a:rPr>
              <a:t>5′</a:t>
            </a:r>
          </a:p>
        </p:txBody>
      </p:sp>
      <p:sp>
        <p:nvSpPr>
          <p:cNvPr id="119" name="object-100">
            <a:extLst>
              <a:ext uri="{FF2B5EF4-FFF2-40B4-BE49-F238E27FC236}">
                <a16:creationId xmlns:a16="http://schemas.microsoft.com/office/drawing/2014/main" id="{1CEE0D7A-30A8-4070-9511-32AD90C193EB}"/>
              </a:ext>
            </a:extLst>
          </p:cNvPr>
          <p:cNvSpPr>
            <a:spLocks noGrp="1"/>
          </p:cNvSpPr>
          <p:nvPr/>
        </p:nvSpPr>
        <p:spPr>
          <a:xfrm>
            <a:off x="7356281" y="3686711"/>
            <a:ext cx="180037" cy="150001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35566A"/>
                </a:solidFill>
                <a:latin typeface="Futura"/>
                <a:ea typeface="Futura"/>
                <a:cs typeface="Futura"/>
              </a:rPr>
              <a:t>3′</a:t>
            </a:r>
          </a:p>
        </p:txBody>
      </p:sp>
      <p:cxnSp>
        <p:nvCxnSpPr>
          <p:cNvPr id="401" name="Portrait connector 401"/>
          <p:cNvCxnSpPr/>
          <p:nvPr/>
        </p:nvCxnSpPr>
        <p:spPr>
          <a:xfrm>
            <a:off x="5609925" y="3398712"/>
            <a:ext cx="1716350" cy="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2" name="Portrait connector 402"/>
          <p:cNvCxnSpPr/>
          <p:nvPr/>
        </p:nvCxnSpPr>
        <p:spPr>
          <a:xfrm>
            <a:off x="7326275" y="3398712"/>
            <a:ext cx="120025" cy="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3" name="Portrait connector 403"/>
          <p:cNvCxnSpPr/>
          <p:nvPr/>
        </p:nvCxnSpPr>
        <p:spPr>
          <a:xfrm>
            <a:off x="7446299" y="3398712"/>
            <a:ext cx="0" cy="18600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4" name="Portrait connector 404"/>
          <p:cNvCxnSpPr/>
          <p:nvPr/>
        </p:nvCxnSpPr>
        <p:spPr>
          <a:xfrm flipH="1">
            <a:off x="5609925" y="3584712"/>
            <a:ext cx="1836374" cy="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5" name="Portrait connector 405"/>
          <p:cNvCxnSpPr/>
          <p:nvPr/>
        </p:nvCxnSpPr>
        <p:spPr>
          <a:xfrm>
            <a:off x="5609925" y="3584712"/>
            <a:ext cx="0" cy="18600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6" name="Portrait connector 406"/>
          <p:cNvCxnSpPr/>
          <p:nvPr/>
        </p:nvCxnSpPr>
        <p:spPr>
          <a:xfrm>
            <a:off x="5609925" y="3770385"/>
            <a:ext cx="1716350" cy="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20" name="object-101">
            <a:extLst>
              <a:ext uri="{FF2B5EF4-FFF2-40B4-BE49-F238E27FC236}">
                <a16:creationId xmlns:a16="http://schemas.microsoft.com/office/drawing/2014/main" id="{69A0EA10-3C32-4B7A-BC48-E48AFEEB2257}"/>
              </a:ext>
            </a:extLst>
          </p:cNvPr>
          <p:cNvSpPr>
            <a:spLocks noGrp="1"/>
          </p:cNvSpPr>
          <p:nvPr/>
        </p:nvSpPr>
        <p:spPr>
          <a:xfrm>
            <a:off x="5669937" y="3290711"/>
            <a:ext cx="564115" cy="216000"/>
          </a:xfrm>
          <a:prstGeom prst="roundRect">
            <a:avLst>
              <a:gd name="adj" fmla="val 22222"/>
            </a:avLst>
          </a:prstGeom>
          <a:solidFill>
            <a:srgbClr val="F6C7CF"/>
          </a:solidFill>
          <a:ln w="14684">
            <a:solidFill>
              <a:srgbClr val="CB3D5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object-102">
            <a:extLst>
              <a:ext uri="{FF2B5EF4-FFF2-40B4-BE49-F238E27FC236}">
                <a16:creationId xmlns:a16="http://schemas.microsoft.com/office/drawing/2014/main" id="{2CC0D623-2A14-459E-8601-E57591651B59}"/>
              </a:ext>
            </a:extLst>
          </p:cNvPr>
          <p:cNvSpPr>
            <a:spLocks noGrp="1"/>
          </p:cNvSpPr>
          <p:nvPr/>
        </p:nvSpPr>
        <p:spPr>
          <a:xfrm>
            <a:off x="5669937" y="3290711"/>
            <a:ext cx="564115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CB3D58"/>
                </a:solidFill>
                <a:latin typeface="Futura"/>
                <a:ea typeface="Futura"/>
                <a:cs typeface="Futura"/>
              </a:rPr>
              <a:t>mCherry</a:t>
            </a:r>
          </a:p>
        </p:txBody>
      </p:sp>
      <p:sp>
        <p:nvSpPr>
          <p:cNvPr id="122" name="object-103">
            <a:extLst>
              <a:ext uri="{FF2B5EF4-FFF2-40B4-BE49-F238E27FC236}">
                <a16:creationId xmlns:a16="http://schemas.microsoft.com/office/drawing/2014/main" id="{D94EA09B-C9AD-468C-A40F-037FC51A9793}"/>
              </a:ext>
            </a:extLst>
          </p:cNvPr>
          <p:cNvSpPr>
            <a:spLocks noGrp="1"/>
          </p:cNvSpPr>
          <p:nvPr/>
        </p:nvSpPr>
        <p:spPr>
          <a:xfrm>
            <a:off x="6306067" y="3290711"/>
            <a:ext cx="288059" cy="216000"/>
          </a:xfrm>
          <a:prstGeom prst="roundRect">
            <a:avLst>
              <a:gd name="adj" fmla="val 22222"/>
            </a:avLst>
          </a:prstGeom>
          <a:solidFill>
            <a:srgbClr val="E2E9EE"/>
          </a:solidFill>
          <a:ln w="14684">
            <a:solidFill>
              <a:srgbClr val="536C8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object-104">
            <a:extLst>
              <a:ext uri="{FF2B5EF4-FFF2-40B4-BE49-F238E27FC236}">
                <a16:creationId xmlns:a16="http://schemas.microsoft.com/office/drawing/2014/main" id="{65BB5679-9CFD-449B-B228-21E06A310D9B}"/>
              </a:ext>
            </a:extLst>
          </p:cNvPr>
          <p:cNvSpPr>
            <a:spLocks noGrp="1"/>
          </p:cNvSpPr>
          <p:nvPr/>
        </p:nvSpPr>
        <p:spPr>
          <a:xfrm>
            <a:off x="6306067" y="3290711"/>
            <a:ext cx="288059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536C80"/>
                </a:solidFill>
                <a:latin typeface="Futura"/>
                <a:ea typeface="Futura"/>
                <a:cs typeface="Futura"/>
              </a:rPr>
              <a:t>P2A</a:t>
            </a:r>
          </a:p>
        </p:txBody>
      </p:sp>
      <p:sp>
        <p:nvSpPr>
          <p:cNvPr id="124" name="object-105">
            <a:extLst>
              <a:ext uri="{FF2B5EF4-FFF2-40B4-BE49-F238E27FC236}">
                <a16:creationId xmlns:a16="http://schemas.microsoft.com/office/drawing/2014/main" id="{EC8C40A9-744C-4C1E-BD75-BBE458622C3A}"/>
              </a:ext>
            </a:extLst>
          </p:cNvPr>
          <p:cNvSpPr>
            <a:spLocks noGrp="1"/>
          </p:cNvSpPr>
          <p:nvPr/>
        </p:nvSpPr>
        <p:spPr>
          <a:xfrm>
            <a:off x="6666141" y="3290711"/>
            <a:ext cx="510104" cy="216000"/>
          </a:xfrm>
          <a:prstGeom prst="roundRect">
            <a:avLst>
              <a:gd name="adj" fmla="val 22222"/>
            </a:avLst>
          </a:prstGeom>
          <a:solidFill>
            <a:srgbClr val="BDE5CA"/>
          </a:solidFill>
          <a:ln w="14684">
            <a:solidFill>
              <a:srgbClr val="23855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object-106">
            <a:extLst>
              <a:ext uri="{FF2B5EF4-FFF2-40B4-BE49-F238E27FC236}">
                <a16:creationId xmlns:a16="http://schemas.microsoft.com/office/drawing/2014/main" id="{D6F36DDA-D14B-4E36-B4E8-443D85F510EE}"/>
              </a:ext>
            </a:extLst>
          </p:cNvPr>
          <p:cNvSpPr>
            <a:spLocks noGrp="1"/>
          </p:cNvSpPr>
          <p:nvPr/>
        </p:nvSpPr>
        <p:spPr>
          <a:xfrm>
            <a:off x="6666141" y="3290711"/>
            <a:ext cx="510104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238552"/>
                </a:solidFill>
                <a:latin typeface="Futura"/>
                <a:ea typeface="Futura"/>
                <a:cs typeface="Futura"/>
              </a:rPr>
              <a:t>EGFP</a:t>
            </a:r>
          </a:p>
        </p:txBody>
      </p:sp>
      <p:sp>
        <p:nvSpPr>
          <p:cNvPr id="126" name="object-107">
            <a:extLst>
              <a:ext uri="{FF2B5EF4-FFF2-40B4-BE49-F238E27FC236}">
                <a16:creationId xmlns:a16="http://schemas.microsoft.com/office/drawing/2014/main" id="{BCBA8277-E27A-4ED5-A8BF-FC319E5D533E}"/>
              </a:ext>
            </a:extLst>
          </p:cNvPr>
          <p:cNvSpPr>
            <a:spLocks noGrp="1"/>
          </p:cNvSpPr>
          <p:nvPr/>
        </p:nvSpPr>
        <p:spPr>
          <a:xfrm>
            <a:off x="5669937" y="3662385"/>
            <a:ext cx="676290" cy="216000"/>
          </a:xfrm>
          <a:prstGeom prst="roundRect">
            <a:avLst>
              <a:gd name="adj" fmla="val 22222"/>
            </a:avLst>
          </a:prstGeom>
          <a:solidFill>
            <a:srgbClr val="F8D3A9"/>
          </a:solidFill>
          <a:ln w="14684">
            <a:solidFill>
              <a:srgbClr val="B9571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object-108">
            <a:extLst>
              <a:ext uri="{FF2B5EF4-FFF2-40B4-BE49-F238E27FC236}">
                <a16:creationId xmlns:a16="http://schemas.microsoft.com/office/drawing/2014/main" id="{B7A8A2BC-2482-4934-B45A-BFD4C89E3275}"/>
              </a:ext>
            </a:extLst>
          </p:cNvPr>
          <p:cNvSpPr>
            <a:spLocks noGrp="1"/>
          </p:cNvSpPr>
          <p:nvPr/>
        </p:nvSpPr>
        <p:spPr>
          <a:xfrm>
            <a:off x="5669937" y="3662385"/>
            <a:ext cx="676290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902" b="0" dirty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CGA</a:t>
            </a:r>
          </a:p>
        </p:txBody>
      </p:sp>
      <p:sp>
        <p:nvSpPr>
          <p:cNvPr id="128" name="object-109">
            <a:extLst>
              <a:ext uri="{FF2B5EF4-FFF2-40B4-BE49-F238E27FC236}">
                <a16:creationId xmlns:a16="http://schemas.microsoft.com/office/drawing/2014/main" id="{1E94EA39-658C-48CE-A246-7267AB795DCC}"/>
              </a:ext>
            </a:extLst>
          </p:cNvPr>
          <p:cNvSpPr>
            <a:spLocks noGrp="1"/>
          </p:cNvSpPr>
          <p:nvPr/>
        </p:nvSpPr>
        <p:spPr>
          <a:xfrm>
            <a:off x="6400800" y="3662385"/>
            <a:ext cx="775445" cy="216000"/>
          </a:xfrm>
          <a:prstGeom prst="roundRect">
            <a:avLst>
              <a:gd name="adj" fmla="val 22222"/>
            </a:avLst>
          </a:prstGeom>
          <a:solidFill>
            <a:srgbClr val="DEE5EC"/>
          </a:solidFill>
          <a:ln w="14684">
            <a:solidFill>
              <a:srgbClr val="64778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object-110">
            <a:extLst>
              <a:ext uri="{FF2B5EF4-FFF2-40B4-BE49-F238E27FC236}">
                <a16:creationId xmlns:a16="http://schemas.microsoft.com/office/drawing/2014/main" id="{C4483716-60D1-4F38-ABA8-FF6BF3A42F41}"/>
              </a:ext>
            </a:extLst>
          </p:cNvPr>
          <p:cNvSpPr>
            <a:spLocks noGrp="1"/>
          </p:cNvSpPr>
          <p:nvPr/>
        </p:nvSpPr>
        <p:spPr>
          <a:xfrm>
            <a:off x="6400800" y="3662385"/>
            <a:ext cx="775445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pPr>
            <a:r>
              <a:rPr sz="902" b="0" dirty="0" err="1">
                <a:solidFill>
                  <a:srgbClr val="64778A"/>
                </a:solidFill>
                <a:latin typeface="Futura"/>
                <a:ea typeface="Futura"/>
                <a:cs typeface="Futura"/>
              </a:rPr>
              <a:t>ecDHFR</a:t>
            </a:r>
            <a:r>
              <a:rPr sz="902" b="0" dirty="0">
                <a:solidFill>
                  <a:srgbClr val="64778A"/>
                </a:solidFill>
                <a:latin typeface="Futura"/>
                <a:ea typeface="Futura"/>
                <a:cs typeface="Futura"/>
              </a:rPr>
              <a:t>-DD</a:t>
            </a:r>
          </a:p>
        </p:txBody>
      </p:sp>
      <p:sp>
        <p:nvSpPr>
          <p:cNvPr id="136" name="SAP application window">
            <a:extLst>
              <a:ext uri="{FF2B5EF4-FFF2-40B4-BE49-F238E27FC236}">
                <a16:creationId xmlns:a16="http://schemas.microsoft.com/office/drawing/2014/main" id="{4ABD7B73-2F4B-4195-8EC2-311F6F393519}"/>
              </a:ext>
            </a:extLst>
          </p:cNvPr>
          <p:cNvSpPr>
            <a:spLocks noGrp="1"/>
          </p:cNvSpPr>
          <p:nvPr/>
        </p:nvSpPr>
        <p:spPr>
          <a:xfrm>
            <a:off x="5549913" y="4353291"/>
            <a:ext cx="2112430" cy="504000"/>
          </a:xfrm>
          <a:prstGeom prst="roundRect">
            <a:avLst>
              <a:gd name="adj" fmla="val 5442"/>
            </a:avLst>
          </a:prstGeom>
          <a:solidFill>
            <a:srgbClr val="FFFFFF"/>
          </a:solidFill>
          <a:ln w="15961">
            <a:solidFill>
              <a:srgbClr val="B9571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object-117">
            <a:extLst>
              <a:ext uri="{FF2B5EF4-FFF2-40B4-BE49-F238E27FC236}">
                <a16:creationId xmlns:a16="http://schemas.microsoft.com/office/drawing/2014/main" id="{24A274A5-9532-42B0-9058-275620E35693}"/>
              </a:ext>
            </a:extLst>
          </p:cNvPr>
          <p:cNvSpPr>
            <a:spLocks noGrp="1"/>
          </p:cNvSpPr>
          <p:nvPr/>
        </p:nvSpPr>
        <p:spPr>
          <a:xfrm>
            <a:off x="5561916" y="4362291"/>
            <a:ext cx="2088425" cy="157499"/>
          </a:xfrm>
          <a:prstGeom prst="rect">
            <a:avLst/>
          </a:prstGeom>
          <a:solidFill>
            <a:srgbClr val="F5DDC5"/>
          </a:solidFill>
          <a:ln w="11492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object-118">
            <a:extLst>
              <a:ext uri="{FF2B5EF4-FFF2-40B4-BE49-F238E27FC236}">
                <a16:creationId xmlns:a16="http://schemas.microsoft.com/office/drawing/2014/main" id="{743EC5E2-1827-4456-ADF5-5300C7EDDB65}"/>
              </a:ext>
            </a:extLst>
          </p:cNvPr>
          <p:cNvSpPr>
            <a:spLocks noGrp="1"/>
          </p:cNvSpPr>
          <p:nvPr/>
        </p:nvSpPr>
        <p:spPr>
          <a:xfrm>
            <a:off x="5633930" y="4416291"/>
            <a:ext cx="36007" cy="27000"/>
          </a:xfrm>
          <a:prstGeom prst="ellipse">
            <a:avLst/>
          </a:prstGeom>
          <a:solidFill>
            <a:srgbClr val="B95712"/>
          </a:solidFill>
          <a:ln w="11492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object-119">
            <a:extLst>
              <a:ext uri="{FF2B5EF4-FFF2-40B4-BE49-F238E27FC236}">
                <a16:creationId xmlns:a16="http://schemas.microsoft.com/office/drawing/2014/main" id="{C838F005-4EA7-4854-84E1-914A18F2C7DB}"/>
              </a:ext>
            </a:extLst>
          </p:cNvPr>
          <p:cNvSpPr>
            <a:spLocks noGrp="1"/>
          </p:cNvSpPr>
          <p:nvPr/>
        </p:nvSpPr>
        <p:spPr>
          <a:xfrm>
            <a:off x="5717948" y="4416291"/>
            <a:ext cx="36007" cy="27000"/>
          </a:xfrm>
          <a:prstGeom prst="ellipse">
            <a:avLst/>
          </a:prstGeom>
          <a:solidFill>
            <a:srgbClr val="C08C5D"/>
          </a:solidFill>
          <a:ln w="11492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object-120">
            <a:extLst>
              <a:ext uri="{FF2B5EF4-FFF2-40B4-BE49-F238E27FC236}">
                <a16:creationId xmlns:a16="http://schemas.microsoft.com/office/drawing/2014/main" id="{C1EE614E-8034-4A0E-8CF0-3CEFAB2424B2}"/>
              </a:ext>
            </a:extLst>
          </p:cNvPr>
          <p:cNvSpPr>
            <a:spLocks noGrp="1"/>
          </p:cNvSpPr>
          <p:nvPr/>
        </p:nvSpPr>
        <p:spPr>
          <a:xfrm>
            <a:off x="5801965" y="4416291"/>
            <a:ext cx="36007" cy="27000"/>
          </a:xfrm>
          <a:prstGeom prst="ellipse">
            <a:avLst/>
          </a:prstGeom>
          <a:solidFill>
            <a:srgbClr val="C08C5D"/>
          </a:solidFill>
          <a:ln w="11492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object-121">
            <a:extLst>
              <a:ext uri="{FF2B5EF4-FFF2-40B4-BE49-F238E27FC236}">
                <a16:creationId xmlns:a16="http://schemas.microsoft.com/office/drawing/2014/main" id="{49BFF26C-AC06-48A1-AAC1-A8FC871EB812}"/>
              </a:ext>
            </a:extLst>
          </p:cNvPr>
          <p:cNvSpPr>
            <a:spLocks noGrp="1"/>
          </p:cNvSpPr>
          <p:nvPr/>
        </p:nvSpPr>
        <p:spPr>
          <a:xfrm>
            <a:off x="5885982" y="4366791"/>
            <a:ext cx="1464299" cy="143999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052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052" b="1">
                <a:solidFill>
                  <a:srgbClr val="B95712"/>
                </a:solidFill>
                <a:latin typeface="Futura"/>
                <a:ea typeface="Futura"/>
                <a:cs typeface="Futura"/>
              </a:rPr>
              <a:t>SAP</a:t>
            </a:r>
          </a:p>
        </p:txBody>
      </p:sp>
      <p:cxnSp>
        <p:nvCxnSpPr>
          <p:cNvPr id="142" name="line-122">
            <a:extLst>
              <a:ext uri="{FF2B5EF4-FFF2-40B4-BE49-F238E27FC236}">
                <a16:creationId xmlns:a16="http://schemas.microsoft.com/office/drawing/2014/main" id="{839F53E6-A229-4BAA-9252-4FC7DD9FB50B}"/>
              </a:ext>
            </a:extLst>
          </p:cNvPr>
          <p:cNvCxnSpPr/>
          <p:nvPr/>
        </p:nvCxnSpPr>
        <p:spPr>
          <a:xfrm>
            <a:off x="6438094" y="4537791"/>
            <a:ext cx="0" cy="265500"/>
          </a:xfrm>
          <a:prstGeom prst="straightConnector1">
            <a:avLst/>
          </a:prstGeom>
          <a:ln w="14045">
            <a:solidFill>
              <a:srgbClr val="E2C4A7"/>
            </a:solidFill>
            <a:prstDash val="solid"/>
            <a:tailEnd type="none" w="med" len="med"/>
          </a:ln>
        </p:spPr>
      </p:cxnSp>
      <p:sp>
        <p:nvSpPr>
          <p:cNvPr id="151" name="object-131">
            <a:extLst>
              <a:ext uri="{FF2B5EF4-FFF2-40B4-BE49-F238E27FC236}">
                <a16:creationId xmlns:a16="http://schemas.microsoft.com/office/drawing/2014/main" id="{03DA6429-412D-4AC7-B39E-9E0DB8215104}"/>
              </a:ext>
            </a:extLst>
          </p:cNvPr>
          <p:cNvSpPr>
            <a:spLocks noGrp="1"/>
          </p:cNvSpPr>
          <p:nvPr/>
        </p:nvSpPr>
        <p:spPr>
          <a:xfrm>
            <a:off x="6522111" y="4596291"/>
            <a:ext cx="294060" cy="175500"/>
          </a:xfrm>
          <a:prstGeom prst="roundRect">
            <a:avLst>
              <a:gd name="adj" fmla="val 20513"/>
            </a:avLst>
          </a:prstGeom>
          <a:solidFill>
            <a:srgbClr val="EAF0F5"/>
          </a:solidFill>
          <a:ln w="11492">
            <a:solidFill>
              <a:srgbClr val="6D849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object-132">
            <a:extLst>
              <a:ext uri="{FF2B5EF4-FFF2-40B4-BE49-F238E27FC236}">
                <a16:creationId xmlns:a16="http://schemas.microsoft.com/office/drawing/2014/main" id="{35B7F667-24E3-4BD6-A947-8CDECBCA0FBC}"/>
              </a:ext>
            </a:extLst>
          </p:cNvPr>
          <p:cNvSpPr>
            <a:spLocks noGrp="1"/>
          </p:cNvSpPr>
          <p:nvPr/>
        </p:nvSpPr>
        <p:spPr>
          <a:xfrm>
            <a:off x="6522111" y="4609790"/>
            <a:ext cx="294060" cy="135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496274"/>
                </a:solidFill>
                <a:latin typeface="Futura"/>
                <a:ea typeface="Futura"/>
                <a:cs typeface="Futura"/>
              </a:rPr>
              <a:t>FCS</a:t>
            </a:r>
          </a:p>
        </p:txBody>
      </p:sp>
      <p:cxnSp>
        <p:nvCxnSpPr>
          <p:cNvPr id="153" name="line-133">
            <a:extLst>
              <a:ext uri="{FF2B5EF4-FFF2-40B4-BE49-F238E27FC236}">
                <a16:creationId xmlns:a16="http://schemas.microsoft.com/office/drawing/2014/main" id="{791F3F2D-2438-4FFE-BC82-4FB5D1B398C3}"/>
              </a:ext>
            </a:extLst>
          </p:cNvPr>
          <p:cNvCxnSpPr/>
          <p:nvPr/>
        </p:nvCxnSpPr>
        <p:spPr>
          <a:xfrm>
            <a:off x="6870182" y="4686291"/>
            <a:ext cx="126026" cy="0"/>
          </a:xfrm>
          <a:prstGeom prst="straightConnector1">
            <a:avLst/>
          </a:prstGeom>
          <a:ln w="14684">
            <a:solidFill>
              <a:srgbClr val="B95712"/>
            </a:solidFill>
            <a:prstDash val="solid"/>
            <a:tailEnd type="triangle" w="med" len="med"/>
          </a:ln>
        </p:spPr>
      </p:cxnSp>
      <p:sp>
        <p:nvSpPr>
          <p:cNvPr id="154" name="object-134">
            <a:extLst>
              <a:ext uri="{FF2B5EF4-FFF2-40B4-BE49-F238E27FC236}">
                <a16:creationId xmlns:a16="http://schemas.microsoft.com/office/drawing/2014/main" id="{9C49A07B-9025-47A5-9CD7-F365254C0ECB}"/>
              </a:ext>
            </a:extLst>
          </p:cNvPr>
          <p:cNvSpPr>
            <a:spLocks noGrp="1"/>
          </p:cNvSpPr>
          <p:nvPr/>
        </p:nvSpPr>
        <p:spPr>
          <a:xfrm>
            <a:off x="7044217" y="4609790"/>
            <a:ext cx="570116" cy="143999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RAS / RES</a:t>
            </a:r>
          </a:p>
        </p:txBody>
      </p:sp>
      <p:sp>
        <p:nvSpPr>
          <p:cNvPr id="2036" name="CONTROL 2036"/>
          <p:cNvSpPr/>
          <p:nvPr/>
        </p:nvSpPr>
        <p:spPr>
          <a:xfrm>
            <a:off x="407314" y="5549657"/>
            <a:ext cx="954643" cy="254545"/>
          </a:xfrm>
          <a:prstGeom prst="roundRect">
            <a:avLst>
              <a:gd name="adj" fmla="val 30000"/>
            </a:avLst>
          </a:prstGeom>
          <a:solidFill>
            <a:srgbClr val="7943B4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3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CONTROL</a:t>
            </a:r>
          </a:p>
        </p:txBody>
      </p:sp>
      <p:sp>
        <p:nvSpPr>
          <p:cNvPr id="2037" name="G.M.A.C. 2037"/>
          <p:cNvSpPr/>
          <p:nvPr/>
        </p:nvSpPr>
        <p:spPr>
          <a:xfrm>
            <a:off x="1438329" y="5549657"/>
            <a:ext cx="929186" cy="254545"/>
          </a:xfrm>
          <a:prstGeom prst="roundRect">
            <a:avLst>
              <a:gd name="adj" fmla="val 30000"/>
            </a:avLst>
          </a:prstGeom>
          <a:solidFill>
            <a:srgbClr val="E6D9F3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3" b="1">
                <a:solidFill>
                  <a:srgbClr val="7943B4"/>
                </a:solidFill>
                <a:latin typeface="Georgia"/>
                <a:ea typeface="Georgia"/>
                <a:cs typeface="Georgia"/>
              </a:rPr>
              <a:t>G.M.A.C.</a:t>
            </a:r>
          </a:p>
        </p:txBody>
      </p:sp>
      <p:sp>
        <p:nvSpPr>
          <p:cNvPr id="2038" name="GFA 2038"/>
          <p:cNvSpPr/>
          <p:nvPr/>
        </p:nvSpPr>
        <p:spPr>
          <a:xfrm>
            <a:off x="407314" y="5931514"/>
            <a:ext cx="1705629" cy="190929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7943B4"/>
                </a:solidFill>
                <a:latin typeface="Futura"/>
                <a:ea typeface="Futura"/>
                <a:cs typeface="Futura"/>
              </a:rPr>
              <a:t>GFA</a:t>
            </a:r>
          </a:p>
        </p:txBody>
      </p:sp>
      <p:cxnSp>
        <p:nvCxnSpPr>
          <p:cNvPr id="168" name="line-148">
            <a:extLst>
              <a:ext uri="{FF2B5EF4-FFF2-40B4-BE49-F238E27FC236}">
                <a16:creationId xmlns:a16="http://schemas.microsoft.com/office/drawing/2014/main" id="{C581806F-EDB7-4091-B112-C169C01B62C5}"/>
              </a:ext>
            </a:extLst>
          </p:cNvPr>
          <p:cNvCxnSpPr/>
          <p:nvPr/>
        </p:nvCxnSpPr>
        <p:spPr>
          <a:xfrm>
            <a:off x="432771" y="6669254"/>
            <a:ext cx="1654714" cy="0"/>
          </a:xfrm>
          <a:prstGeom prst="straightConnector1">
            <a:avLst/>
          </a:prstGeom>
          <a:ln w="2820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70" name="object-150">
            <a:extLst>
              <a:ext uri="{FF2B5EF4-FFF2-40B4-BE49-F238E27FC236}">
                <a16:creationId xmlns:a16="http://schemas.microsoft.com/office/drawing/2014/main" id="{4CB56688-CB72-4B7F-B020-3F85DA5053F7}"/>
              </a:ext>
            </a:extLst>
          </p:cNvPr>
          <p:cNvSpPr>
            <a:spLocks noGrp="1"/>
          </p:cNvSpPr>
          <p:nvPr/>
        </p:nvSpPr>
        <p:spPr>
          <a:xfrm>
            <a:off x="500116" y="6552388"/>
            <a:ext cx="683051" cy="227237"/>
          </a:xfrm>
          <a:prstGeom prst="roundRect">
            <a:avLst>
              <a:gd name="adj" fmla="val 22857"/>
            </a:avLst>
          </a:prstGeom>
          <a:solidFill>
            <a:srgbClr val="DDC9F0"/>
          </a:solidFill>
          <a:ln w="18804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object-151">
            <a:extLst>
              <a:ext uri="{FF2B5EF4-FFF2-40B4-BE49-F238E27FC236}">
                <a16:creationId xmlns:a16="http://schemas.microsoft.com/office/drawing/2014/main" id="{7BEE0E5A-F560-457C-B939-D046F5207E29}"/>
              </a:ext>
            </a:extLst>
          </p:cNvPr>
          <p:cNvSpPr>
            <a:spLocks noGrp="1"/>
          </p:cNvSpPr>
          <p:nvPr/>
        </p:nvSpPr>
        <p:spPr>
          <a:xfrm>
            <a:off x="500116" y="6552388"/>
            <a:ext cx="683051" cy="227237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5D338B"/>
                </a:solidFill>
                <a:latin typeface="Futura"/>
                <a:ea typeface="Futura"/>
                <a:cs typeface="Futura"/>
              </a:rPr>
              <a:t>gfaABC1D</a:t>
            </a:r>
          </a:p>
        </p:txBody>
      </p:sp>
      <p:sp>
        <p:nvSpPr>
          <p:cNvPr id="172" name="object-152">
            <a:extLst>
              <a:ext uri="{FF2B5EF4-FFF2-40B4-BE49-F238E27FC236}">
                <a16:creationId xmlns:a16="http://schemas.microsoft.com/office/drawing/2014/main" id="{CE0E4D17-BADB-439A-B822-BDF4E0506BBF}"/>
              </a:ext>
            </a:extLst>
          </p:cNvPr>
          <p:cNvSpPr>
            <a:spLocks noGrp="1"/>
          </p:cNvSpPr>
          <p:nvPr/>
        </p:nvSpPr>
        <p:spPr>
          <a:xfrm>
            <a:off x="1414056" y="6565375"/>
            <a:ext cx="529124" cy="207760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880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object-153">
            <a:extLst>
              <a:ext uri="{FF2B5EF4-FFF2-40B4-BE49-F238E27FC236}">
                <a16:creationId xmlns:a16="http://schemas.microsoft.com/office/drawing/2014/main" id="{59418B45-E50C-4462-9983-C9295CFFA32C}"/>
              </a:ext>
            </a:extLst>
          </p:cNvPr>
          <p:cNvSpPr>
            <a:spLocks noGrp="1"/>
          </p:cNvSpPr>
          <p:nvPr/>
        </p:nvSpPr>
        <p:spPr>
          <a:xfrm>
            <a:off x="1414056" y="6565375"/>
            <a:ext cx="529124" cy="207760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cxnSp>
        <p:nvCxnSpPr>
          <p:cNvPr id="174" name="line-154">
            <a:extLst>
              <a:ext uri="{FF2B5EF4-FFF2-40B4-BE49-F238E27FC236}">
                <a16:creationId xmlns:a16="http://schemas.microsoft.com/office/drawing/2014/main" id="{9C39377C-32B7-49B4-8B4B-29A13E4C3AAA}"/>
              </a:ext>
            </a:extLst>
          </p:cNvPr>
          <p:cNvCxnSpPr/>
          <p:nvPr/>
        </p:nvCxnSpPr>
        <p:spPr>
          <a:xfrm flipV="1">
            <a:off x="1149494" y="6435524"/>
            <a:ext cx="0" cy="90896"/>
          </a:xfrm>
          <a:prstGeom prst="straightConnector1">
            <a:avLst/>
          </a:prstGeom>
          <a:ln w="2350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75" name="line-155">
            <a:extLst>
              <a:ext uri="{FF2B5EF4-FFF2-40B4-BE49-F238E27FC236}">
                <a16:creationId xmlns:a16="http://schemas.microsoft.com/office/drawing/2014/main" id="{9DA64D8C-DDA5-49AC-BFA7-A385A3E82980}"/>
              </a:ext>
            </a:extLst>
          </p:cNvPr>
          <p:cNvCxnSpPr/>
          <p:nvPr/>
        </p:nvCxnSpPr>
        <p:spPr>
          <a:xfrm>
            <a:off x="1149494" y="6435524"/>
            <a:ext cx="235700" cy="0"/>
          </a:xfrm>
          <a:prstGeom prst="straightConnector1">
            <a:avLst/>
          </a:prstGeom>
          <a:ln w="23505">
            <a:solidFill>
              <a:srgbClr val="7845A9"/>
            </a:solidFill>
            <a:prstDash val="solid"/>
            <a:tailEnd type="triangle" w="med" len="med"/>
          </a:ln>
        </p:spPr>
      </p:cxnSp>
      <p:sp>
        <p:nvSpPr>
          <p:cNvPr id="2039" name="line 2039"/>
          <p:cNvSpPr/>
          <p:nvPr/>
        </p:nvSpPr>
        <p:spPr>
          <a:xfrm>
            <a:off x="2176586" y="5931514"/>
            <a:ext cx="0" cy="1234671"/>
          </a:xfrm>
          <a:prstGeom prst="line">
            <a:avLst/>
          </a:prstGeom>
          <a:noFill/>
          <a:ln w="7637">
            <a:solidFill>
              <a:srgbClr val="DCC8E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0" name="MRE 2040"/>
          <p:cNvSpPr/>
          <p:nvPr/>
        </p:nvSpPr>
        <p:spPr>
          <a:xfrm>
            <a:off x="2240229" y="5931514"/>
            <a:ext cx="1705629" cy="190929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7943B4"/>
                </a:solidFill>
                <a:latin typeface="Futura"/>
                <a:ea typeface="Futura"/>
                <a:cs typeface="Futura"/>
              </a:rPr>
              <a:t>MRE</a:t>
            </a:r>
          </a:p>
        </p:txBody>
      </p:sp>
      <p:sp>
        <p:nvSpPr>
          <p:cNvPr id="180" name="object-160">
            <a:extLst>
              <a:ext uri="{FF2B5EF4-FFF2-40B4-BE49-F238E27FC236}">
                <a16:creationId xmlns:a16="http://schemas.microsoft.com/office/drawing/2014/main" id="{37A0D26A-A2DF-40D8-BADC-9F24A85DF15F}"/>
              </a:ext>
            </a:extLst>
          </p:cNvPr>
          <p:cNvSpPr>
            <a:spLocks noGrp="1"/>
          </p:cNvSpPr>
          <p:nvPr/>
        </p:nvSpPr>
        <p:spPr>
          <a:xfrm>
            <a:off x="3093043" y="6198328"/>
            <a:ext cx="672229" cy="171312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miRNA</a:t>
            </a:r>
          </a:p>
        </p:txBody>
      </p:sp>
      <p:cxnSp>
        <p:nvCxnSpPr>
          <p:cNvPr id="181" name="line-161">
            <a:extLst>
              <a:ext uri="{FF2B5EF4-FFF2-40B4-BE49-F238E27FC236}">
                <a16:creationId xmlns:a16="http://schemas.microsoft.com/office/drawing/2014/main" id="{E59E1F1C-15DF-49CC-98A3-5AFA3BFAAD5F}"/>
              </a:ext>
            </a:extLst>
          </p:cNvPr>
          <p:cNvCxnSpPr/>
          <p:nvPr/>
        </p:nvCxnSpPr>
        <p:spPr>
          <a:xfrm>
            <a:off x="3238771" y="6452125"/>
            <a:ext cx="413679" cy="0"/>
          </a:xfrm>
          <a:prstGeom prst="straightConnector1">
            <a:avLst/>
          </a:prstGeom>
          <a:ln w="37607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82" name="line-162">
            <a:extLst>
              <a:ext uri="{FF2B5EF4-FFF2-40B4-BE49-F238E27FC236}">
                <a16:creationId xmlns:a16="http://schemas.microsoft.com/office/drawing/2014/main" id="{C88225F3-9072-48F3-A17B-AC2673BD35E0}"/>
              </a:ext>
            </a:extLst>
          </p:cNvPr>
          <p:cNvCxnSpPr/>
          <p:nvPr/>
        </p:nvCxnSpPr>
        <p:spPr>
          <a:xfrm>
            <a:off x="3257574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3" name="line-163">
            <a:extLst>
              <a:ext uri="{FF2B5EF4-FFF2-40B4-BE49-F238E27FC236}">
                <a16:creationId xmlns:a16="http://schemas.microsoft.com/office/drawing/2014/main" id="{3D9C46A4-10DC-457A-935F-81299E53A98A}"/>
              </a:ext>
            </a:extLst>
          </p:cNvPr>
          <p:cNvCxnSpPr/>
          <p:nvPr/>
        </p:nvCxnSpPr>
        <p:spPr>
          <a:xfrm>
            <a:off x="3309285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4" name="line-164">
            <a:extLst>
              <a:ext uri="{FF2B5EF4-FFF2-40B4-BE49-F238E27FC236}">
                <a16:creationId xmlns:a16="http://schemas.microsoft.com/office/drawing/2014/main" id="{E3F67611-2382-40C4-A227-8267E86B2B5F}"/>
              </a:ext>
            </a:extLst>
          </p:cNvPr>
          <p:cNvCxnSpPr/>
          <p:nvPr/>
        </p:nvCxnSpPr>
        <p:spPr>
          <a:xfrm>
            <a:off x="3360994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5" name="line-165">
            <a:extLst>
              <a:ext uri="{FF2B5EF4-FFF2-40B4-BE49-F238E27FC236}">
                <a16:creationId xmlns:a16="http://schemas.microsoft.com/office/drawing/2014/main" id="{287CF73F-1A20-4C23-9398-B0C57311934C}"/>
              </a:ext>
            </a:extLst>
          </p:cNvPr>
          <p:cNvCxnSpPr/>
          <p:nvPr/>
        </p:nvCxnSpPr>
        <p:spPr>
          <a:xfrm>
            <a:off x="3412704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6" name="line-166">
            <a:extLst>
              <a:ext uri="{FF2B5EF4-FFF2-40B4-BE49-F238E27FC236}">
                <a16:creationId xmlns:a16="http://schemas.microsoft.com/office/drawing/2014/main" id="{2D9ADFB1-4B54-4C8B-A235-3781AF58E681}"/>
              </a:ext>
            </a:extLst>
          </p:cNvPr>
          <p:cNvCxnSpPr/>
          <p:nvPr/>
        </p:nvCxnSpPr>
        <p:spPr>
          <a:xfrm>
            <a:off x="3464414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7" name="line-167">
            <a:extLst>
              <a:ext uri="{FF2B5EF4-FFF2-40B4-BE49-F238E27FC236}">
                <a16:creationId xmlns:a16="http://schemas.microsoft.com/office/drawing/2014/main" id="{C312A0CC-5620-4547-8613-C54439086B3E}"/>
              </a:ext>
            </a:extLst>
          </p:cNvPr>
          <p:cNvCxnSpPr/>
          <p:nvPr/>
        </p:nvCxnSpPr>
        <p:spPr>
          <a:xfrm>
            <a:off x="3516124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8" name="line-168">
            <a:extLst>
              <a:ext uri="{FF2B5EF4-FFF2-40B4-BE49-F238E27FC236}">
                <a16:creationId xmlns:a16="http://schemas.microsoft.com/office/drawing/2014/main" id="{111C6DAC-A839-46C6-ABE4-23B225ACD7B8}"/>
              </a:ext>
            </a:extLst>
          </p:cNvPr>
          <p:cNvCxnSpPr/>
          <p:nvPr/>
        </p:nvCxnSpPr>
        <p:spPr>
          <a:xfrm>
            <a:off x="3567833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9" name="line-169">
            <a:extLst>
              <a:ext uri="{FF2B5EF4-FFF2-40B4-BE49-F238E27FC236}">
                <a16:creationId xmlns:a16="http://schemas.microsoft.com/office/drawing/2014/main" id="{650AF0FA-0B72-4305-93B6-386D4E95D850}"/>
              </a:ext>
            </a:extLst>
          </p:cNvPr>
          <p:cNvCxnSpPr/>
          <p:nvPr/>
        </p:nvCxnSpPr>
        <p:spPr>
          <a:xfrm>
            <a:off x="3619543" y="6464815"/>
            <a:ext cx="0" cy="88827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90" name="line-170">
            <a:extLst>
              <a:ext uri="{FF2B5EF4-FFF2-40B4-BE49-F238E27FC236}">
                <a16:creationId xmlns:a16="http://schemas.microsoft.com/office/drawing/2014/main" id="{94E02F9D-6670-4811-A4F1-7CEFBDDABFAD}"/>
              </a:ext>
            </a:extLst>
          </p:cNvPr>
          <p:cNvCxnSpPr/>
          <p:nvPr/>
        </p:nvCxnSpPr>
        <p:spPr>
          <a:xfrm>
            <a:off x="2265686" y="6686888"/>
            <a:ext cx="1654714" cy="0"/>
          </a:xfrm>
          <a:prstGeom prst="straightConnector1">
            <a:avLst/>
          </a:prstGeom>
          <a:ln w="2820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92" name="object-172">
            <a:extLst>
              <a:ext uri="{FF2B5EF4-FFF2-40B4-BE49-F238E27FC236}">
                <a16:creationId xmlns:a16="http://schemas.microsoft.com/office/drawing/2014/main" id="{EC4DC564-353C-46A5-8A23-53F7555DFA6D}"/>
              </a:ext>
            </a:extLst>
          </p:cNvPr>
          <p:cNvSpPr>
            <a:spLocks noGrp="1"/>
          </p:cNvSpPr>
          <p:nvPr/>
        </p:nvSpPr>
        <p:spPr>
          <a:xfrm>
            <a:off x="2331498" y="6585370"/>
            <a:ext cx="517099" cy="203037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880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object-173">
            <a:extLst>
              <a:ext uri="{FF2B5EF4-FFF2-40B4-BE49-F238E27FC236}">
                <a16:creationId xmlns:a16="http://schemas.microsoft.com/office/drawing/2014/main" id="{ECBB4225-CA0A-4177-8706-61FB8DEEC9C3}"/>
              </a:ext>
            </a:extLst>
          </p:cNvPr>
          <p:cNvSpPr>
            <a:spLocks noGrp="1"/>
          </p:cNvSpPr>
          <p:nvPr/>
        </p:nvSpPr>
        <p:spPr>
          <a:xfrm>
            <a:off x="2331498" y="6585370"/>
            <a:ext cx="517099" cy="203037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194" name="object-174">
            <a:extLst>
              <a:ext uri="{FF2B5EF4-FFF2-40B4-BE49-F238E27FC236}">
                <a16:creationId xmlns:a16="http://schemas.microsoft.com/office/drawing/2014/main" id="{701C9BC3-2C9F-47EB-A828-9FAF7DBC0D59}"/>
              </a:ext>
            </a:extLst>
          </p:cNvPr>
          <p:cNvSpPr>
            <a:spLocks noGrp="1"/>
          </p:cNvSpPr>
          <p:nvPr/>
        </p:nvSpPr>
        <p:spPr>
          <a:xfrm>
            <a:off x="2956717" y="6617091"/>
            <a:ext cx="225643" cy="139587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8804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95" name="line-175">
            <a:extLst>
              <a:ext uri="{FF2B5EF4-FFF2-40B4-BE49-F238E27FC236}">
                <a16:creationId xmlns:a16="http://schemas.microsoft.com/office/drawing/2014/main" id="{C5AE7F35-705D-44C3-A9E7-3DB17B9B67CA}"/>
              </a:ext>
            </a:extLst>
          </p:cNvPr>
          <p:cNvCxnSpPr/>
          <p:nvPr/>
        </p:nvCxnSpPr>
        <p:spPr>
          <a:xfrm>
            <a:off x="2994324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6" name="line-176">
            <a:extLst>
              <a:ext uri="{FF2B5EF4-FFF2-40B4-BE49-F238E27FC236}">
                <a16:creationId xmlns:a16="http://schemas.microsoft.com/office/drawing/2014/main" id="{A934E867-E5F6-4F36-9FB1-36DFFDD00B63}"/>
              </a:ext>
            </a:extLst>
          </p:cNvPr>
          <p:cNvCxnSpPr/>
          <p:nvPr/>
        </p:nvCxnSpPr>
        <p:spPr>
          <a:xfrm>
            <a:off x="3041332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7" name="line-177">
            <a:extLst>
              <a:ext uri="{FF2B5EF4-FFF2-40B4-BE49-F238E27FC236}">
                <a16:creationId xmlns:a16="http://schemas.microsoft.com/office/drawing/2014/main" id="{B72FB12E-D2FF-49E2-9ACF-A6825FC00A7F}"/>
              </a:ext>
            </a:extLst>
          </p:cNvPr>
          <p:cNvCxnSpPr/>
          <p:nvPr/>
        </p:nvCxnSpPr>
        <p:spPr>
          <a:xfrm>
            <a:off x="3088342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8" name="line-178">
            <a:extLst>
              <a:ext uri="{FF2B5EF4-FFF2-40B4-BE49-F238E27FC236}">
                <a16:creationId xmlns:a16="http://schemas.microsoft.com/office/drawing/2014/main" id="{BA309D0C-3B53-453A-BB8B-1A23069C9E6D}"/>
              </a:ext>
            </a:extLst>
          </p:cNvPr>
          <p:cNvCxnSpPr/>
          <p:nvPr/>
        </p:nvCxnSpPr>
        <p:spPr>
          <a:xfrm>
            <a:off x="3135350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199" name="object-179">
            <a:extLst>
              <a:ext uri="{FF2B5EF4-FFF2-40B4-BE49-F238E27FC236}">
                <a16:creationId xmlns:a16="http://schemas.microsoft.com/office/drawing/2014/main" id="{AC9D8ED3-8C09-4732-B9B5-B2A451830D6D}"/>
              </a:ext>
            </a:extLst>
          </p:cNvPr>
          <p:cNvSpPr>
            <a:spLocks noGrp="1"/>
          </p:cNvSpPr>
          <p:nvPr/>
        </p:nvSpPr>
        <p:spPr>
          <a:xfrm>
            <a:off x="3252874" y="6617091"/>
            <a:ext cx="225643" cy="139587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8804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00" name="line-180">
            <a:extLst>
              <a:ext uri="{FF2B5EF4-FFF2-40B4-BE49-F238E27FC236}">
                <a16:creationId xmlns:a16="http://schemas.microsoft.com/office/drawing/2014/main" id="{1D8D4541-B357-45CA-8482-68C9CCC0AB7C}"/>
              </a:ext>
            </a:extLst>
          </p:cNvPr>
          <p:cNvCxnSpPr/>
          <p:nvPr/>
        </p:nvCxnSpPr>
        <p:spPr>
          <a:xfrm>
            <a:off x="3290481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1" name="line-181">
            <a:extLst>
              <a:ext uri="{FF2B5EF4-FFF2-40B4-BE49-F238E27FC236}">
                <a16:creationId xmlns:a16="http://schemas.microsoft.com/office/drawing/2014/main" id="{81F5FD40-C79D-4240-A60D-84212BFFE8D0}"/>
              </a:ext>
            </a:extLst>
          </p:cNvPr>
          <p:cNvCxnSpPr/>
          <p:nvPr/>
        </p:nvCxnSpPr>
        <p:spPr>
          <a:xfrm>
            <a:off x="3337489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2" name="line-182">
            <a:extLst>
              <a:ext uri="{FF2B5EF4-FFF2-40B4-BE49-F238E27FC236}">
                <a16:creationId xmlns:a16="http://schemas.microsoft.com/office/drawing/2014/main" id="{5294DBF3-70F4-4398-886A-DAB3AC9B0D6A}"/>
              </a:ext>
            </a:extLst>
          </p:cNvPr>
          <p:cNvCxnSpPr/>
          <p:nvPr/>
        </p:nvCxnSpPr>
        <p:spPr>
          <a:xfrm>
            <a:off x="3384498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3" name="line-183">
            <a:extLst>
              <a:ext uri="{FF2B5EF4-FFF2-40B4-BE49-F238E27FC236}">
                <a16:creationId xmlns:a16="http://schemas.microsoft.com/office/drawing/2014/main" id="{13C949FB-5D96-45B9-A8FA-FE476A81FACE}"/>
              </a:ext>
            </a:extLst>
          </p:cNvPr>
          <p:cNvCxnSpPr/>
          <p:nvPr/>
        </p:nvCxnSpPr>
        <p:spPr>
          <a:xfrm>
            <a:off x="3431507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204" name="object-184">
            <a:extLst>
              <a:ext uri="{FF2B5EF4-FFF2-40B4-BE49-F238E27FC236}">
                <a16:creationId xmlns:a16="http://schemas.microsoft.com/office/drawing/2014/main" id="{0B3758BC-EC37-41AF-9E77-FD794C0227FB}"/>
              </a:ext>
            </a:extLst>
          </p:cNvPr>
          <p:cNvSpPr>
            <a:spLocks noGrp="1"/>
          </p:cNvSpPr>
          <p:nvPr/>
        </p:nvSpPr>
        <p:spPr>
          <a:xfrm>
            <a:off x="3549030" y="6617091"/>
            <a:ext cx="225643" cy="139587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8804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05" name="line-185">
            <a:extLst>
              <a:ext uri="{FF2B5EF4-FFF2-40B4-BE49-F238E27FC236}">
                <a16:creationId xmlns:a16="http://schemas.microsoft.com/office/drawing/2014/main" id="{0B1B244D-ADCE-436D-8B28-922DA01156D7}"/>
              </a:ext>
            </a:extLst>
          </p:cNvPr>
          <p:cNvCxnSpPr/>
          <p:nvPr/>
        </p:nvCxnSpPr>
        <p:spPr>
          <a:xfrm>
            <a:off x="3586637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6" name="line-186">
            <a:extLst>
              <a:ext uri="{FF2B5EF4-FFF2-40B4-BE49-F238E27FC236}">
                <a16:creationId xmlns:a16="http://schemas.microsoft.com/office/drawing/2014/main" id="{65EB8035-FB14-4477-9126-D066EE1B3A1B}"/>
              </a:ext>
            </a:extLst>
          </p:cNvPr>
          <p:cNvCxnSpPr/>
          <p:nvPr/>
        </p:nvCxnSpPr>
        <p:spPr>
          <a:xfrm>
            <a:off x="3633646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7" name="line-187">
            <a:extLst>
              <a:ext uri="{FF2B5EF4-FFF2-40B4-BE49-F238E27FC236}">
                <a16:creationId xmlns:a16="http://schemas.microsoft.com/office/drawing/2014/main" id="{F1F9A0EC-5656-41D1-8E81-14A02CA8E0C6}"/>
              </a:ext>
            </a:extLst>
          </p:cNvPr>
          <p:cNvCxnSpPr/>
          <p:nvPr/>
        </p:nvCxnSpPr>
        <p:spPr>
          <a:xfrm>
            <a:off x="3680655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8" name="line-188">
            <a:extLst>
              <a:ext uri="{FF2B5EF4-FFF2-40B4-BE49-F238E27FC236}">
                <a16:creationId xmlns:a16="http://schemas.microsoft.com/office/drawing/2014/main" id="{014F0266-6C01-4277-BCF8-66B63108DE55}"/>
              </a:ext>
            </a:extLst>
          </p:cNvPr>
          <p:cNvCxnSpPr/>
          <p:nvPr/>
        </p:nvCxnSpPr>
        <p:spPr>
          <a:xfrm>
            <a:off x="3727665" y="6566334"/>
            <a:ext cx="0" cy="5710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209" name="object-189">
            <a:extLst>
              <a:ext uri="{FF2B5EF4-FFF2-40B4-BE49-F238E27FC236}">
                <a16:creationId xmlns:a16="http://schemas.microsoft.com/office/drawing/2014/main" id="{1DD1BB28-DEDC-449E-99B1-2E9A48CBC39D}"/>
              </a:ext>
            </a:extLst>
          </p:cNvPr>
          <p:cNvSpPr>
            <a:spLocks noGrp="1"/>
          </p:cNvSpPr>
          <p:nvPr/>
        </p:nvSpPr>
        <p:spPr>
          <a:xfrm>
            <a:off x="2956717" y="6845510"/>
            <a:ext cx="817956" cy="171312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3′ UTR</a:t>
            </a:r>
          </a:p>
        </p:txBody>
      </p:sp>
      <p:sp>
        <p:nvSpPr>
          <p:cNvPr id="302" name="Unified component 302"/>
          <p:cNvSpPr>
            <a:spLocks noGrp="1"/>
          </p:cNvSpPr>
          <p:nvPr/>
        </p:nvSpPr>
        <p:spPr>
          <a:xfrm>
            <a:off x="2275087" y="6845510"/>
            <a:ext cx="629919" cy="171312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mRNA</a:t>
            </a:r>
          </a:p>
        </p:txBody>
      </p:sp>
      <p:sp>
        <p:nvSpPr>
          <p:cNvPr id="2041" name="line 2041"/>
          <p:cNvSpPr/>
          <p:nvPr/>
        </p:nvSpPr>
        <p:spPr>
          <a:xfrm>
            <a:off x="4009500" y="5931514"/>
            <a:ext cx="0" cy="1234671"/>
          </a:xfrm>
          <a:prstGeom prst="line">
            <a:avLst/>
          </a:prstGeom>
          <a:noFill/>
          <a:ln w="7637">
            <a:solidFill>
              <a:srgbClr val="DCC8E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2" name="ASO 2042"/>
          <p:cNvSpPr/>
          <p:nvPr/>
        </p:nvSpPr>
        <p:spPr>
          <a:xfrm>
            <a:off x="4073143" y="5931514"/>
            <a:ext cx="1705629" cy="190929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7943B4"/>
                </a:solidFill>
                <a:latin typeface="Futura"/>
                <a:ea typeface="Futura"/>
                <a:cs typeface="Futura"/>
              </a:rPr>
              <a:t>ASO</a:t>
            </a:r>
          </a:p>
        </p:txBody>
      </p:sp>
      <p:sp>
        <p:nvSpPr>
          <p:cNvPr id="210" name="object-190">
            <a:extLst>
              <a:ext uri="{FF2B5EF4-FFF2-40B4-BE49-F238E27FC236}">
                <a16:creationId xmlns:a16="http://schemas.microsoft.com/office/drawing/2014/main" id="{B940B8D5-ADC2-4CA0-AE6E-F6973849CD18}"/>
              </a:ext>
            </a:extLst>
          </p:cNvPr>
          <p:cNvSpPr>
            <a:spLocks noGrp="1"/>
          </p:cNvSpPr>
          <p:nvPr/>
        </p:nvSpPr>
        <p:spPr>
          <a:xfrm>
            <a:off x="4126489" y="6199789"/>
            <a:ext cx="836653" cy="169389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Gapmer ASO</a:t>
            </a:r>
          </a:p>
        </p:txBody>
      </p:sp>
      <p:sp>
        <p:nvSpPr>
          <p:cNvPr id="211" name="object-191">
            <a:extLst>
              <a:ext uri="{FF2B5EF4-FFF2-40B4-BE49-F238E27FC236}">
                <a16:creationId xmlns:a16="http://schemas.microsoft.com/office/drawing/2014/main" id="{2016D28B-3117-4BB8-8A2F-834C6314C4F2}"/>
              </a:ext>
            </a:extLst>
          </p:cNvPr>
          <p:cNvSpPr>
            <a:spLocks noGrp="1"/>
          </p:cNvSpPr>
          <p:nvPr/>
        </p:nvSpPr>
        <p:spPr>
          <a:xfrm>
            <a:off x="4191562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object-192">
            <a:extLst>
              <a:ext uri="{FF2B5EF4-FFF2-40B4-BE49-F238E27FC236}">
                <a16:creationId xmlns:a16="http://schemas.microsoft.com/office/drawing/2014/main" id="{8B9929CF-8EAA-4771-9363-6B5A9131FCFC}"/>
              </a:ext>
            </a:extLst>
          </p:cNvPr>
          <p:cNvSpPr>
            <a:spLocks noGrp="1"/>
          </p:cNvSpPr>
          <p:nvPr/>
        </p:nvSpPr>
        <p:spPr>
          <a:xfrm>
            <a:off x="4256635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object-193">
            <a:extLst>
              <a:ext uri="{FF2B5EF4-FFF2-40B4-BE49-F238E27FC236}">
                <a16:creationId xmlns:a16="http://schemas.microsoft.com/office/drawing/2014/main" id="{83DFC55D-D4DB-431F-AA68-1311F16ED2DB}"/>
              </a:ext>
            </a:extLst>
          </p:cNvPr>
          <p:cNvSpPr>
            <a:spLocks noGrp="1"/>
          </p:cNvSpPr>
          <p:nvPr/>
        </p:nvSpPr>
        <p:spPr>
          <a:xfrm>
            <a:off x="4321708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object-194">
            <a:extLst>
              <a:ext uri="{FF2B5EF4-FFF2-40B4-BE49-F238E27FC236}">
                <a16:creationId xmlns:a16="http://schemas.microsoft.com/office/drawing/2014/main" id="{0DE63457-0372-4593-99D0-16798F1B7393}"/>
              </a:ext>
            </a:extLst>
          </p:cNvPr>
          <p:cNvSpPr>
            <a:spLocks noGrp="1"/>
          </p:cNvSpPr>
          <p:nvPr/>
        </p:nvSpPr>
        <p:spPr>
          <a:xfrm>
            <a:off x="4386780" y="6463284"/>
            <a:ext cx="55777" cy="62737"/>
          </a:xfrm>
          <a:prstGeom prst="rect">
            <a:avLst/>
          </a:prstGeom>
          <a:solidFill>
            <a:srgbClr val="C599E4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object-195">
            <a:extLst>
              <a:ext uri="{FF2B5EF4-FFF2-40B4-BE49-F238E27FC236}">
                <a16:creationId xmlns:a16="http://schemas.microsoft.com/office/drawing/2014/main" id="{7E3A4963-B791-450F-8924-727FEE4E8BFC}"/>
              </a:ext>
            </a:extLst>
          </p:cNvPr>
          <p:cNvSpPr>
            <a:spLocks noGrp="1"/>
          </p:cNvSpPr>
          <p:nvPr/>
        </p:nvSpPr>
        <p:spPr>
          <a:xfrm>
            <a:off x="4451854" y="6463284"/>
            <a:ext cx="55777" cy="62737"/>
          </a:xfrm>
          <a:prstGeom prst="rect">
            <a:avLst/>
          </a:prstGeom>
          <a:solidFill>
            <a:srgbClr val="C599E4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object-196">
            <a:extLst>
              <a:ext uri="{FF2B5EF4-FFF2-40B4-BE49-F238E27FC236}">
                <a16:creationId xmlns:a16="http://schemas.microsoft.com/office/drawing/2014/main" id="{1C2864D4-8919-43ED-B2B2-1F053DDE5727}"/>
              </a:ext>
            </a:extLst>
          </p:cNvPr>
          <p:cNvSpPr>
            <a:spLocks noGrp="1"/>
          </p:cNvSpPr>
          <p:nvPr/>
        </p:nvSpPr>
        <p:spPr>
          <a:xfrm>
            <a:off x="4516927" y="6463284"/>
            <a:ext cx="55777" cy="62737"/>
          </a:xfrm>
          <a:prstGeom prst="rect">
            <a:avLst/>
          </a:prstGeom>
          <a:solidFill>
            <a:srgbClr val="C599E4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object-197">
            <a:extLst>
              <a:ext uri="{FF2B5EF4-FFF2-40B4-BE49-F238E27FC236}">
                <a16:creationId xmlns:a16="http://schemas.microsoft.com/office/drawing/2014/main" id="{86BE5EA2-C3A4-4587-B635-F6A015BFD32D}"/>
              </a:ext>
            </a:extLst>
          </p:cNvPr>
          <p:cNvSpPr>
            <a:spLocks noGrp="1"/>
          </p:cNvSpPr>
          <p:nvPr/>
        </p:nvSpPr>
        <p:spPr>
          <a:xfrm>
            <a:off x="4582000" y="6463284"/>
            <a:ext cx="55777" cy="62737"/>
          </a:xfrm>
          <a:prstGeom prst="rect">
            <a:avLst/>
          </a:prstGeom>
          <a:solidFill>
            <a:srgbClr val="C599E4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object-198">
            <a:extLst>
              <a:ext uri="{FF2B5EF4-FFF2-40B4-BE49-F238E27FC236}">
                <a16:creationId xmlns:a16="http://schemas.microsoft.com/office/drawing/2014/main" id="{9134E572-4A7F-4C8B-A19A-23D448B69259}"/>
              </a:ext>
            </a:extLst>
          </p:cNvPr>
          <p:cNvSpPr>
            <a:spLocks noGrp="1"/>
          </p:cNvSpPr>
          <p:nvPr/>
        </p:nvSpPr>
        <p:spPr>
          <a:xfrm>
            <a:off x="4647073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object-199">
            <a:extLst>
              <a:ext uri="{FF2B5EF4-FFF2-40B4-BE49-F238E27FC236}">
                <a16:creationId xmlns:a16="http://schemas.microsoft.com/office/drawing/2014/main" id="{EE1C1BF2-667C-437D-B192-58BEC96F28ED}"/>
              </a:ext>
            </a:extLst>
          </p:cNvPr>
          <p:cNvSpPr>
            <a:spLocks noGrp="1"/>
          </p:cNvSpPr>
          <p:nvPr/>
        </p:nvSpPr>
        <p:spPr>
          <a:xfrm>
            <a:off x="4712147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object-200">
            <a:extLst>
              <a:ext uri="{FF2B5EF4-FFF2-40B4-BE49-F238E27FC236}">
                <a16:creationId xmlns:a16="http://schemas.microsoft.com/office/drawing/2014/main" id="{3A50F6A8-9057-466F-BFA5-8BDCC2FAABA4}"/>
              </a:ext>
            </a:extLst>
          </p:cNvPr>
          <p:cNvSpPr>
            <a:spLocks noGrp="1"/>
          </p:cNvSpPr>
          <p:nvPr/>
        </p:nvSpPr>
        <p:spPr>
          <a:xfrm>
            <a:off x="4777219" y="6463284"/>
            <a:ext cx="55777" cy="62737"/>
          </a:xfrm>
          <a:prstGeom prst="rect">
            <a:avLst/>
          </a:prstGeom>
          <a:solidFill>
            <a:srgbClr val="7845A9"/>
          </a:solidFill>
          <a:ln w="16923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21" name="line-201">
            <a:extLst>
              <a:ext uri="{FF2B5EF4-FFF2-40B4-BE49-F238E27FC236}">
                <a16:creationId xmlns:a16="http://schemas.microsoft.com/office/drawing/2014/main" id="{5BFAF948-3CBE-4D78-80E0-DBC56163887A}"/>
              </a:ext>
            </a:extLst>
          </p:cNvPr>
          <p:cNvCxnSpPr/>
          <p:nvPr/>
        </p:nvCxnSpPr>
        <p:spPr>
          <a:xfrm>
            <a:off x="4098600" y="6689134"/>
            <a:ext cx="1654714" cy="0"/>
          </a:xfrm>
          <a:prstGeom prst="straightConnector1">
            <a:avLst/>
          </a:prstGeom>
          <a:ln w="2820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23" name="object-203">
            <a:extLst>
              <a:ext uri="{FF2B5EF4-FFF2-40B4-BE49-F238E27FC236}">
                <a16:creationId xmlns:a16="http://schemas.microsoft.com/office/drawing/2014/main" id="{858D7FEB-8F1D-4198-8DA0-87072398ED88}"/>
              </a:ext>
            </a:extLst>
          </p:cNvPr>
          <p:cNvSpPr>
            <a:spLocks noGrp="1"/>
          </p:cNvSpPr>
          <p:nvPr/>
        </p:nvSpPr>
        <p:spPr>
          <a:xfrm>
            <a:off x="4154377" y="6613850"/>
            <a:ext cx="687914" cy="150568"/>
          </a:xfrm>
          <a:prstGeom prst="roundRect">
            <a:avLst>
              <a:gd name="adj" fmla="val 33333"/>
            </a:avLst>
          </a:prstGeom>
          <a:solidFill>
            <a:srgbClr val="E9D8F5"/>
          </a:solidFill>
          <a:ln w="16923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24" name="line-204">
            <a:extLst>
              <a:ext uri="{FF2B5EF4-FFF2-40B4-BE49-F238E27FC236}">
                <a16:creationId xmlns:a16="http://schemas.microsoft.com/office/drawing/2014/main" id="{92F22011-0FB3-4770-815C-949A2F35F6B0}"/>
              </a:ext>
            </a:extLst>
          </p:cNvPr>
          <p:cNvCxnSpPr/>
          <p:nvPr/>
        </p:nvCxnSpPr>
        <p:spPr>
          <a:xfrm>
            <a:off x="4219451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5" name="line-205">
            <a:extLst>
              <a:ext uri="{FF2B5EF4-FFF2-40B4-BE49-F238E27FC236}">
                <a16:creationId xmlns:a16="http://schemas.microsoft.com/office/drawing/2014/main" id="{16CF1DF7-CD47-444A-8699-AE5AFBC68ABB}"/>
              </a:ext>
            </a:extLst>
          </p:cNvPr>
          <p:cNvCxnSpPr/>
          <p:nvPr/>
        </p:nvCxnSpPr>
        <p:spPr>
          <a:xfrm>
            <a:off x="4284524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6" name="line-206">
            <a:extLst>
              <a:ext uri="{FF2B5EF4-FFF2-40B4-BE49-F238E27FC236}">
                <a16:creationId xmlns:a16="http://schemas.microsoft.com/office/drawing/2014/main" id="{417970AE-9340-476F-9A63-5F64FB11D3CE}"/>
              </a:ext>
            </a:extLst>
          </p:cNvPr>
          <p:cNvCxnSpPr/>
          <p:nvPr/>
        </p:nvCxnSpPr>
        <p:spPr>
          <a:xfrm>
            <a:off x="4349596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7" name="line-207">
            <a:extLst>
              <a:ext uri="{FF2B5EF4-FFF2-40B4-BE49-F238E27FC236}">
                <a16:creationId xmlns:a16="http://schemas.microsoft.com/office/drawing/2014/main" id="{277F6F72-FA04-4685-BBC2-B67E3B0ECFB5}"/>
              </a:ext>
            </a:extLst>
          </p:cNvPr>
          <p:cNvCxnSpPr/>
          <p:nvPr/>
        </p:nvCxnSpPr>
        <p:spPr>
          <a:xfrm>
            <a:off x="4414670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8" name="line-208">
            <a:extLst>
              <a:ext uri="{FF2B5EF4-FFF2-40B4-BE49-F238E27FC236}">
                <a16:creationId xmlns:a16="http://schemas.microsoft.com/office/drawing/2014/main" id="{D3D141BF-A8A3-4850-8734-4DC7739AD254}"/>
              </a:ext>
            </a:extLst>
          </p:cNvPr>
          <p:cNvCxnSpPr/>
          <p:nvPr/>
        </p:nvCxnSpPr>
        <p:spPr>
          <a:xfrm>
            <a:off x="4479742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9" name="line-209">
            <a:extLst>
              <a:ext uri="{FF2B5EF4-FFF2-40B4-BE49-F238E27FC236}">
                <a16:creationId xmlns:a16="http://schemas.microsoft.com/office/drawing/2014/main" id="{669306D6-1A8F-4D9F-BFCD-0D3B79FCCCB6}"/>
              </a:ext>
            </a:extLst>
          </p:cNvPr>
          <p:cNvCxnSpPr/>
          <p:nvPr/>
        </p:nvCxnSpPr>
        <p:spPr>
          <a:xfrm>
            <a:off x="4544816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0" name="line-210">
            <a:extLst>
              <a:ext uri="{FF2B5EF4-FFF2-40B4-BE49-F238E27FC236}">
                <a16:creationId xmlns:a16="http://schemas.microsoft.com/office/drawing/2014/main" id="{5DAC1218-C091-4C02-BCD4-EF76ACD13D93}"/>
              </a:ext>
            </a:extLst>
          </p:cNvPr>
          <p:cNvCxnSpPr/>
          <p:nvPr/>
        </p:nvCxnSpPr>
        <p:spPr>
          <a:xfrm>
            <a:off x="4609888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1" name="line-211">
            <a:extLst>
              <a:ext uri="{FF2B5EF4-FFF2-40B4-BE49-F238E27FC236}">
                <a16:creationId xmlns:a16="http://schemas.microsoft.com/office/drawing/2014/main" id="{282B695B-AE9D-4807-8427-09DA4F34E561}"/>
              </a:ext>
            </a:extLst>
          </p:cNvPr>
          <p:cNvCxnSpPr/>
          <p:nvPr/>
        </p:nvCxnSpPr>
        <p:spPr>
          <a:xfrm>
            <a:off x="4674962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2" name="line-212">
            <a:extLst>
              <a:ext uri="{FF2B5EF4-FFF2-40B4-BE49-F238E27FC236}">
                <a16:creationId xmlns:a16="http://schemas.microsoft.com/office/drawing/2014/main" id="{CDA01A62-F52A-49C8-8448-C49FE7A4FCF0}"/>
              </a:ext>
            </a:extLst>
          </p:cNvPr>
          <p:cNvCxnSpPr/>
          <p:nvPr/>
        </p:nvCxnSpPr>
        <p:spPr>
          <a:xfrm>
            <a:off x="4740035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3" name="line-213">
            <a:extLst>
              <a:ext uri="{FF2B5EF4-FFF2-40B4-BE49-F238E27FC236}">
                <a16:creationId xmlns:a16="http://schemas.microsoft.com/office/drawing/2014/main" id="{C5AD6824-7FF2-47E9-BD76-51F0C1FB68A6}"/>
              </a:ext>
            </a:extLst>
          </p:cNvPr>
          <p:cNvCxnSpPr/>
          <p:nvPr/>
        </p:nvCxnSpPr>
        <p:spPr>
          <a:xfrm>
            <a:off x="4805107" y="6532292"/>
            <a:ext cx="0" cy="138021"/>
          </a:xfrm>
          <a:prstGeom prst="straightConnector1">
            <a:avLst/>
          </a:prstGeom>
          <a:ln w="20683">
            <a:solidFill>
              <a:srgbClr val="9869BE"/>
            </a:solidFill>
            <a:prstDash val="solid"/>
            <a:tailEnd type="none" w="med" len="med"/>
          </a:ln>
        </p:spPr>
      </p:cxnSp>
      <p:sp>
        <p:nvSpPr>
          <p:cNvPr id="234" name="object-214">
            <a:extLst>
              <a:ext uri="{FF2B5EF4-FFF2-40B4-BE49-F238E27FC236}">
                <a16:creationId xmlns:a16="http://schemas.microsoft.com/office/drawing/2014/main" id="{B54AB139-AD48-4C34-888D-BB00BEA23A3F}"/>
              </a:ext>
            </a:extLst>
          </p:cNvPr>
          <p:cNvSpPr>
            <a:spLocks noGrp="1"/>
          </p:cNvSpPr>
          <p:nvPr/>
        </p:nvSpPr>
        <p:spPr>
          <a:xfrm>
            <a:off x="4172970" y="6845973"/>
            <a:ext cx="669323" cy="169389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7845A9"/>
                </a:solidFill>
                <a:latin typeface="Futura"/>
                <a:ea typeface="Futura"/>
                <a:cs typeface="Futura"/>
              </a:rPr>
              <a:t>RNA tag</a:t>
            </a:r>
          </a:p>
        </p:txBody>
      </p:sp>
      <p:sp>
        <p:nvSpPr>
          <p:cNvPr id="235" name="object-215">
            <a:extLst>
              <a:ext uri="{FF2B5EF4-FFF2-40B4-BE49-F238E27FC236}">
                <a16:creationId xmlns:a16="http://schemas.microsoft.com/office/drawing/2014/main" id="{A637093C-88F9-42BE-9EDE-0491CFA117C0}"/>
              </a:ext>
            </a:extLst>
          </p:cNvPr>
          <p:cNvSpPr>
            <a:spLocks noGrp="1"/>
          </p:cNvSpPr>
          <p:nvPr/>
        </p:nvSpPr>
        <p:spPr>
          <a:xfrm>
            <a:off x="5056105" y="6845973"/>
            <a:ext cx="622842" cy="169389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mRNA</a:t>
            </a:r>
          </a:p>
        </p:txBody>
      </p:sp>
      <p:sp>
        <p:nvSpPr>
          <p:cNvPr id="236" name="object-216">
            <a:extLst>
              <a:ext uri="{FF2B5EF4-FFF2-40B4-BE49-F238E27FC236}">
                <a16:creationId xmlns:a16="http://schemas.microsoft.com/office/drawing/2014/main" id="{C53BE14B-5940-4262-8CCB-2CF2578C1A9D}"/>
              </a:ext>
            </a:extLst>
          </p:cNvPr>
          <p:cNvSpPr>
            <a:spLocks noGrp="1"/>
          </p:cNvSpPr>
          <p:nvPr/>
        </p:nvSpPr>
        <p:spPr>
          <a:xfrm>
            <a:off x="5032864" y="6331536"/>
            <a:ext cx="673970" cy="250946"/>
          </a:xfrm>
          <a:prstGeom prst="ellipse">
            <a:avLst/>
          </a:prstGeom>
          <a:solidFill>
            <a:srgbClr val="C9AFDF"/>
          </a:solidFill>
          <a:ln w="18804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object-217">
            <a:extLst>
              <a:ext uri="{FF2B5EF4-FFF2-40B4-BE49-F238E27FC236}">
                <a16:creationId xmlns:a16="http://schemas.microsoft.com/office/drawing/2014/main" id="{46D980F0-F360-4EB7-A16F-DA52331DED5E}"/>
              </a:ext>
            </a:extLst>
          </p:cNvPr>
          <p:cNvSpPr>
            <a:spLocks noGrp="1"/>
          </p:cNvSpPr>
          <p:nvPr/>
        </p:nvSpPr>
        <p:spPr>
          <a:xfrm>
            <a:off x="5032864" y="6350357"/>
            <a:ext cx="673970" cy="200756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5D338B"/>
                </a:solidFill>
                <a:latin typeface="Futura"/>
                <a:ea typeface="Futura"/>
                <a:cs typeface="Futura"/>
              </a:rPr>
              <a:t>RNase H1</a:t>
            </a:r>
          </a:p>
        </p:txBody>
      </p:sp>
      <p:cxnSp>
        <p:nvCxnSpPr>
          <p:cNvPr id="238" name="line-218">
            <a:extLst>
              <a:ext uri="{FF2B5EF4-FFF2-40B4-BE49-F238E27FC236}">
                <a16:creationId xmlns:a16="http://schemas.microsoft.com/office/drawing/2014/main" id="{4171B803-2381-4ACB-8C2F-341DA92CD307}"/>
              </a:ext>
            </a:extLst>
          </p:cNvPr>
          <p:cNvCxnSpPr/>
          <p:nvPr/>
        </p:nvCxnSpPr>
        <p:spPr>
          <a:xfrm flipH="1">
            <a:off x="4963143" y="6551114"/>
            <a:ext cx="106906" cy="50190"/>
          </a:xfrm>
          <a:prstGeom prst="straightConnector1">
            <a:avLst/>
          </a:prstGeom>
          <a:ln w="2162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39" name="line-219">
            <a:extLst>
              <a:ext uri="{FF2B5EF4-FFF2-40B4-BE49-F238E27FC236}">
                <a16:creationId xmlns:a16="http://schemas.microsoft.com/office/drawing/2014/main" id="{F34E87DA-E07F-4A70-B3DB-88614EFF0BAE}"/>
              </a:ext>
            </a:extLst>
          </p:cNvPr>
          <p:cNvCxnSpPr/>
          <p:nvPr/>
        </p:nvCxnSpPr>
        <p:spPr>
          <a:xfrm flipH="1">
            <a:off x="4516927" y="6601303"/>
            <a:ext cx="446215" cy="87831"/>
          </a:xfrm>
          <a:prstGeom prst="straightConnector1">
            <a:avLst/>
          </a:prstGeom>
          <a:ln w="21625">
            <a:solidFill>
              <a:srgbClr val="7845A9"/>
            </a:solidFill>
            <a:prstDash val="solid"/>
            <a:tailEnd type="triangle" w="med" len="med"/>
          </a:ln>
        </p:spPr>
      </p:cxnSp>
      <p:cxnSp>
        <p:nvCxnSpPr>
          <p:cNvPr id="240" name="line-220">
            <a:extLst>
              <a:ext uri="{FF2B5EF4-FFF2-40B4-BE49-F238E27FC236}">
                <a16:creationId xmlns:a16="http://schemas.microsoft.com/office/drawing/2014/main" id="{A76D8C1C-55E6-4A1B-B43D-3CF0118D12A1}"/>
              </a:ext>
            </a:extLst>
          </p:cNvPr>
          <p:cNvCxnSpPr/>
          <p:nvPr/>
        </p:nvCxnSpPr>
        <p:spPr>
          <a:xfrm>
            <a:off x="4489039" y="6657764"/>
            <a:ext cx="37184" cy="87831"/>
          </a:xfrm>
          <a:prstGeom prst="straightConnector1">
            <a:avLst/>
          </a:prstGeom>
          <a:ln w="56411">
            <a:solidFill>
              <a:srgbClr val="FFFFFF"/>
            </a:solidFill>
            <a:prstDash val="solid"/>
            <a:tailEnd type="none" w="med" len="med"/>
          </a:ln>
        </p:spPr>
      </p:cxnSp>
      <p:cxnSp>
        <p:nvCxnSpPr>
          <p:cNvPr id="241" name="line-221">
            <a:extLst>
              <a:ext uri="{FF2B5EF4-FFF2-40B4-BE49-F238E27FC236}">
                <a16:creationId xmlns:a16="http://schemas.microsoft.com/office/drawing/2014/main" id="{BFA4EE48-8B48-42C2-8336-6CEEEF953802}"/>
              </a:ext>
            </a:extLst>
          </p:cNvPr>
          <p:cNvCxnSpPr/>
          <p:nvPr/>
        </p:nvCxnSpPr>
        <p:spPr>
          <a:xfrm>
            <a:off x="4475095" y="6657764"/>
            <a:ext cx="27888" cy="25094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42" name="line-222">
            <a:extLst>
              <a:ext uri="{FF2B5EF4-FFF2-40B4-BE49-F238E27FC236}">
                <a16:creationId xmlns:a16="http://schemas.microsoft.com/office/drawing/2014/main" id="{23A5CD67-86C3-4697-AD71-F2356E63A301}"/>
              </a:ext>
            </a:extLst>
          </p:cNvPr>
          <p:cNvCxnSpPr/>
          <p:nvPr/>
        </p:nvCxnSpPr>
        <p:spPr>
          <a:xfrm>
            <a:off x="4521576" y="6714228"/>
            <a:ext cx="27888" cy="31367"/>
          </a:xfrm>
          <a:prstGeom prst="straightConnector1">
            <a:avLst/>
          </a:prstGeom>
          <a:ln w="20683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300" name="Unified component 300"/>
          <p:cNvSpPr>
            <a:spLocks noGrp="1"/>
          </p:cNvSpPr>
          <p:nvPr/>
        </p:nvSpPr>
        <p:spPr>
          <a:xfrm>
            <a:off x="5111881" y="6588756"/>
            <a:ext cx="511288" cy="20075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8804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Unified component 301"/>
          <p:cNvSpPr>
            <a:spLocks noGrp="1"/>
          </p:cNvSpPr>
          <p:nvPr/>
        </p:nvSpPr>
        <p:spPr>
          <a:xfrm>
            <a:off x="5111881" y="6588756"/>
            <a:ext cx="511288" cy="200756"/>
          </a:xfrm>
          <a:prstGeom prst="rect">
            <a:avLst/>
          </a:prstGeom>
          <a:noFill/>
          <a:ln w="16923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2043" name="line 2043"/>
          <p:cNvSpPr/>
          <p:nvPr/>
        </p:nvSpPr>
        <p:spPr>
          <a:xfrm>
            <a:off x="5842414" y="5931514"/>
            <a:ext cx="0" cy="1234671"/>
          </a:xfrm>
          <a:prstGeom prst="line">
            <a:avLst/>
          </a:prstGeom>
          <a:noFill/>
          <a:ln w="7637">
            <a:solidFill>
              <a:srgbClr val="DCC8E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4" name="Cre–loxP 2044"/>
          <p:cNvSpPr/>
          <p:nvPr/>
        </p:nvSpPr>
        <p:spPr>
          <a:xfrm>
            <a:off x="5906057" y="5931514"/>
            <a:ext cx="1705629" cy="190929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7943B4"/>
                </a:solidFill>
                <a:latin typeface="Futura"/>
                <a:ea typeface="Futura"/>
                <a:cs typeface="Futura"/>
              </a:rPr>
              <a:t>Cre–loxP</a:t>
            </a:r>
          </a:p>
        </p:txBody>
      </p:sp>
      <p:cxnSp>
        <p:nvCxnSpPr>
          <p:cNvPr id="243" name="line-223">
            <a:extLst>
              <a:ext uri="{FF2B5EF4-FFF2-40B4-BE49-F238E27FC236}">
                <a16:creationId xmlns:a16="http://schemas.microsoft.com/office/drawing/2014/main" id="{C17E362D-5F8B-47DA-945E-5418850CE37A}"/>
              </a:ext>
            </a:extLst>
          </p:cNvPr>
          <p:cNvCxnSpPr/>
          <p:nvPr/>
        </p:nvCxnSpPr>
        <p:spPr>
          <a:xfrm>
            <a:off x="6143219" y="6377161"/>
            <a:ext cx="1238569" cy="0"/>
          </a:xfrm>
          <a:prstGeom prst="straightConnector1">
            <a:avLst/>
          </a:prstGeom>
          <a:ln w="21236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44" name="path-224">
            <a:extLst>
              <a:ext uri="{FF2B5EF4-FFF2-40B4-BE49-F238E27FC236}">
                <a16:creationId xmlns:a16="http://schemas.microsoft.com/office/drawing/2014/main" id="{2BFFD808-FFDC-4C32-AFAD-82250B834B39}"/>
              </a:ext>
            </a:extLst>
          </p:cNvPr>
          <p:cNvSpPr>
            <a:spLocks noGrp="1"/>
          </p:cNvSpPr>
          <p:nvPr/>
        </p:nvSpPr>
        <p:spPr>
          <a:xfrm>
            <a:off x="6223127" y="6318332"/>
            <a:ext cx="83540" cy="117658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15572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path-225">
            <a:extLst>
              <a:ext uri="{FF2B5EF4-FFF2-40B4-BE49-F238E27FC236}">
                <a16:creationId xmlns:a16="http://schemas.microsoft.com/office/drawing/2014/main" id="{D1566BE7-9E1F-4603-9F17-7A4C628E4715}"/>
              </a:ext>
            </a:extLst>
          </p:cNvPr>
          <p:cNvSpPr>
            <a:spLocks noGrp="1"/>
          </p:cNvSpPr>
          <p:nvPr/>
        </p:nvSpPr>
        <p:spPr>
          <a:xfrm>
            <a:off x="7196547" y="6318332"/>
            <a:ext cx="83540" cy="117658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15572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object-226">
            <a:extLst>
              <a:ext uri="{FF2B5EF4-FFF2-40B4-BE49-F238E27FC236}">
                <a16:creationId xmlns:a16="http://schemas.microsoft.com/office/drawing/2014/main" id="{3123ECFD-5790-41C9-B7E3-B547CB5CFE1E}"/>
              </a:ext>
            </a:extLst>
          </p:cNvPr>
          <p:cNvSpPr>
            <a:spLocks noGrp="1"/>
          </p:cNvSpPr>
          <p:nvPr/>
        </p:nvSpPr>
        <p:spPr>
          <a:xfrm>
            <a:off x="6524598" y="6298721"/>
            <a:ext cx="399538" cy="156878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4158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object-227">
            <a:extLst>
              <a:ext uri="{FF2B5EF4-FFF2-40B4-BE49-F238E27FC236}">
                <a16:creationId xmlns:a16="http://schemas.microsoft.com/office/drawing/2014/main" id="{191F3EB9-1F7B-4C47-A08F-13BA857ABC34}"/>
              </a:ext>
            </a:extLst>
          </p:cNvPr>
          <p:cNvSpPr>
            <a:spLocks noGrp="1"/>
          </p:cNvSpPr>
          <p:nvPr/>
        </p:nvSpPr>
        <p:spPr>
          <a:xfrm>
            <a:off x="6507981" y="6278355"/>
            <a:ext cx="432771" cy="197612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248" name="object-228">
            <a:extLst>
              <a:ext uri="{FF2B5EF4-FFF2-40B4-BE49-F238E27FC236}">
                <a16:creationId xmlns:a16="http://schemas.microsoft.com/office/drawing/2014/main" id="{F4916CDA-4F09-429D-BA9F-D942D194D578}"/>
              </a:ext>
            </a:extLst>
          </p:cNvPr>
          <p:cNvSpPr>
            <a:spLocks noGrp="1"/>
          </p:cNvSpPr>
          <p:nvPr/>
        </p:nvSpPr>
        <p:spPr>
          <a:xfrm>
            <a:off x="6121234" y="6121478"/>
            <a:ext cx="305486" cy="197612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loxP</a:t>
            </a:r>
          </a:p>
        </p:txBody>
      </p:sp>
      <p:sp>
        <p:nvSpPr>
          <p:cNvPr id="249" name="object-229">
            <a:extLst>
              <a:ext uri="{FF2B5EF4-FFF2-40B4-BE49-F238E27FC236}">
                <a16:creationId xmlns:a16="http://schemas.microsoft.com/office/drawing/2014/main" id="{4D86BFB5-810B-4934-A497-570C4951C33B}"/>
              </a:ext>
            </a:extLst>
          </p:cNvPr>
          <p:cNvSpPr>
            <a:spLocks noGrp="1"/>
          </p:cNvSpPr>
          <p:nvPr/>
        </p:nvSpPr>
        <p:spPr>
          <a:xfrm>
            <a:off x="7091023" y="6121478"/>
            <a:ext cx="305486" cy="197612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loxP</a:t>
            </a:r>
          </a:p>
        </p:txBody>
      </p:sp>
      <p:cxnSp>
        <p:nvCxnSpPr>
          <p:cNvPr id="250" name="line-230">
            <a:extLst>
              <a:ext uri="{FF2B5EF4-FFF2-40B4-BE49-F238E27FC236}">
                <a16:creationId xmlns:a16="http://schemas.microsoft.com/office/drawing/2014/main" id="{A090DBC3-2E98-4AF7-B770-8476F9CEF07C}"/>
              </a:ext>
            </a:extLst>
          </p:cNvPr>
          <p:cNvCxnSpPr/>
          <p:nvPr/>
        </p:nvCxnSpPr>
        <p:spPr>
          <a:xfrm>
            <a:off x="6753424" y="6499721"/>
            <a:ext cx="0" cy="151975"/>
          </a:xfrm>
          <a:prstGeom prst="straightConnector1">
            <a:avLst/>
          </a:prstGeom>
          <a:ln w="16988">
            <a:solidFill>
              <a:srgbClr val="7845A9"/>
            </a:solidFill>
            <a:prstDash val="solid"/>
            <a:tailEnd type="triangle" w="med" len="med"/>
          </a:ln>
        </p:spPr>
      </p:cxnSp>
      <p:sp>
        <p:nvSpPr>
          <p:cNvPr id="251" name="object-231">
            <a:extLst>
              <a:ext uri="{FF2B5EF4-FFF2-40B4-BE49-F238E27FC236}">
                <a16:creationId xmlns:a16="http://schemas.microsoft.com/office/drawing/2014/main" id="{68C74684-C6E7-4AA1-8F29-2E19999A28AC}"/>
              </a:ext>
            </a:extLst>
          </p:cNvPr>
          <p:cNvSpPr>
            <a:spLocks noGrp="1"/>
          </p:cNvSpPr>
          <p:nvPr/>
        </p:nvSpPr>
        <p:spPr>
          <a:xfrm>
            <a:off x="6824059" y="6469550"/>
            <a:ext cx="305486" cy="197612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902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Cre</a:t>
            </a:r>
          </a:p>
        </p:txBody>
      </p:sp>
      <p:cxnSp>
        <p:nvCxnSpPr>
          <p:cNvPr id="252" name="line-232">
            <a:extLst>
              <a:ext uri="{FF2B5EF4-FFF2-40B4-BE49-F238E27FC236}">
                <a16:creationId xmlns:a16="http://schemas.microsoft.com/office/drawing/2014/main" id="{143E628B-E29B-4443-A473-6F1E3BFBC558}"/>
              </a:ext>
            </a:extLst>
          </p:cNvPr>
          <p:cNvCxnSpPr/>
          <p:nvPr/>
        </p:nvCxnSpPr>
        <p:spPr>
          <a:xfrm>
            <a:off x="6143219" y="6847794"/>
            <a:ext cx="483078" cy="0"/>
          </a:xfrm>
          <a:prstGeom prst="straightConnector1">
            <a:avLst/>
          </a:prstGeom>
          <a:ln w="21236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53" name="path-233">
            <a:extLst>
              <a:ext uri="{FF2B5EF4-FFF2-40B4-BE49-F238E27FC236}">
                <a16:creationId xmlns:a16="http://schemas.microsoft.com/office/drawing/2014/main" id="{36330B54-3FE4-4847-B030-C44F6D508D46}"/>
              </a:ext>
            </a:extLst>
          </p:cNvPr>
          <p:cNvSpPr>
            <a:spLocks noGrp="1"/>
          </p:cNvSpPr>
          <p:nvPr/>
        </p:nvSpPr>
        <p:spPr>
          <a:xfrm>
            <a:off x="6324827" y="6788964"/>
            <a:ext cx="83540" cy="117658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15572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object-234">
            <a:extLst>
              <a:ext uri="{FF2B5EF4-FFF2-40B4-BE49-F238E27FC236}">
                <a16:creationId xmlns:a16="http://schemas.microsoft.com/office/drawing/2014/main" id="{760CE614-10CF-4CBA-8FEF-B5F82FE7F837}"/>
              </a:ext>
            </a:extLst>
          </p:cNvPr>
          <p:cNvSpPr>
            <a:spLocks noGrp="1"/>
          </p:cNvSpPr>
          <p:nvPr/>
        </p:nvSpPr>
        <p:spPr>
          <a:xfrm>
            <a:off x="6669884" y="6774257"/>
            <a:ext cx="116230" cy="147073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pPr>
            <a:r>
              <a:rPr sz="902" b="0">
                <a:solidFill>
                  <a:srgbClr val="3F5361"/>
                </a:solidFill>
                <a:latin typeface="Futura"/>
                <a:ea typeface="Futura"/>
                <a:cs typeface="Futura"/>
              </a:rPr>
              <a:t>+</a:t>
            </a:r>
          </a:p>
        </p:txBody>
      </p:sp>
      <p:sp>
        <p:nvSpPr>
          <p:cNvPr id="255" name="object-235">
            <a:extLst>
              <a:ext uri="{FF2B5EF4-FFF2-40B4-BE49-F238E27FC236}">
                <a16:creationId xmlns:a16="http://schemas.microsoft.com/office/drawing/2014/main" id="{C8D04945-FF7D-4420-AC60-93E5ED612755}"/>
              </a:ext>
            </a:extLst>
          </p:cNvPr>
          <p:cNvSpPr>
            <a:spLocks noGrp="1"/>
          </p:cNvSpPr>
          <p:nvPr/>
        </p:nvSpPr>
        <p:spPr>
          <a:xfrm>
            <a:off x="6866020" y="6686014"/>
            <a:ext cx="457653" cy="372584"/>
          </a:xfrm>
          <a:prstGeom prst="ellipse">
            <a:avLst/>
          </a:prstGeom>
          <a:noFill/>
          <a:ln w="17697">
            <a:solidFill>
              <a:srgbClr val="687D8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path-236">
            <a:extLst>
              <a:ext uri="{FF2B5EF4-FFF2-40B4-BE49-F238E27FC236}">
                <a16:creationId xmlns:a16="http://schemas.microsoft.com/office/drawing/2014/main" id="{F6256D16-0665-4A11-90E9-234946F2940D}"/>
              </a:ext>
            </a:extLst>
          </p:cNvPr>
          <p:cNvSpPr>
            <a:spLocks noGrp="1"/>
          </p:cNvSpPr>
          <p:nvPr/>
        </p:nvSpPr>
        <p:spPr>
          <a:xfrm>
            <a:off x="7051261" y="6651697"/>
            <a:ext cx="72644" cy="73537"/>
          </a:xfrm>
          <a:custGeom>
            <a:avLst/>
            <a:gdLst/>
            <a:ahLst/>
            <a:cxnLst/>
            <a:rect l="0" t="0" r="0" b="0"/>
            <a:pathLst>
              <a:path w="190500" h="142875">
                <a:moveTo>
                  <a:pt x="0" y="0"/>
                </a:moveTo>
                <a:lnTo>
                  <a:pt x="190500" y="71438"/>
                </a:lnTo>
                <a:lnTo>
                  <a:pt x="0" y="142875"/>
                </a:lnTo>
                <a:close/>
              </a:path>
            </a:pathLst>
          </a:custGeom>
          <a:solidFill>
            <a:srgbClr val="7845A9"/>
          </a:solidFill>
          <a:ln w="15572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object-237">
            <a:extLst>
              <a:ext uri="{FF2B5EF4-FFF2-40B4-BE49-F238E27FC236}">
                <a16:creationId xmlns:a16="http://schemas.microsoft.com/office/drawing/2014/main" id="{649C4425-A02E-4AA0-9900-FB7B5B0E4C2C}"/>
              </a:ext>
            </a:extLst>
          </p:cNvPr>
          <p:cNvSpPr>
            <a:spLocks noGrp="1"/>
          </p:cNvSpPr>
          <p:nvPr/>
        </p:nvSpPr>
        <p:spPr>
          <a:xfrm>
            <a:off x="6895079" y="6793866"/>
            <a:ext cx="399538" cy="156878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4158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object-238">
            <a:extLst>
              <a:ext uri="{FF2B5EF4-FFF2-40B4-BE49-F238E27FC236}">
                <a16:creationId xmlns:a16="http://schemas.microsoft.com/office/drawing/2014/main" id="{8DE9D858-FC33-4024-8E32-9348F3E45CE0}"/>
              </a:ext>
            </a:extLst>
          </p:cNvPr>
          <p:cNvSpPr>
            <a:spLocks noGrp="1"/>
          </p:cNvSpPr>
          <p:nvPr/>
        </p:nvSpPr>
        <p:spPr>
          <a:xfrm>
            <a:off x="6878462" y="6773499"/>
            <a:ext cx="432771" cy="197612"/>
          </a:xfrm>
          <a:prstGeom prst="rect">
            <a:avLst/>
          </a:prstGeom>
          <a:noFill/>
          <a:ln w="1274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902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2045" name="Experiment I 2045"/>
          <p:cNvSpPr/>
          <p:nvPr/>
        </p:nvSpPr>
        <p:spPr>
          <a:xfrm>
            <a:off x="8375400" y="3372727"/>
            <a:ext cx="2036571" cy="203636"/>
          </a:xfrm>
          <a:prstGeom prst="roundRect">
            <a:avLst>
              <a:gd name="adj" fmla="val 31250"/>
            </a:avLst>
          </a:prstGeom>
          <a:solidFill>
            <a:srgbClr val="F1DAE4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</a:t>
            </a:r>
          </a:p>
        </p:txBody>
      </p:sp>
      <p:sp>
        <p:nvSpPr>
          <p:cNvPr id="2046" name="Electroporation 2046"/>
          <p:cNvSpPr/>
          <p:nvPr/>
        </p:nvSpPr>
        <p:spPr>
          <a:xfrm>
            <a:off x="8375400" y="3627273"/>
            <a:ext cx="2036571" cy="178182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Electroporation</a:t>
            </a:r>
          </a:p>
        </p:txBody>
      </p:sp>
      <p:sp>
        <p:nvSpPr>
          <p:cNvPr id="901" name="roundRect 901"/>
          <p:cNvSpPr/>
          <p:nvPr/>
        </p:nvSpPr>
        <p:spPr>
          <a:xfrm>
            <a:off x="8732511" y="3869091"/>
            <a:ext cx="631245" cy="522303"/>
          </a:xfrm>
          <a:prstGeom prst="roundRect">
            <a:avLst>
              <a:gd name="adj" fmla="val 12500"/>
            </a:avLst>
          </a:prstGeom>
          <a:solidFill>
            <a:srgbClr val="E7EDF3"/>
          </a:solidFill>
          <a:ln w="9718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2" name="roundRect 902"/>
          <p:cNvSpPr/>
          <p:nvPr/>
        </p:nvSpPr>
        <p:spPr>
          <a:xfrm>
            <a:off x="8803254" y="3939820"/>
            <a:ext cx="489759" cy="223067"/>
          </a:xfrm>
          <a:prstGeom prst="roundRect">
            <a:avLst>
              <a:gd name="adj" fmla="val 14634"/>
            </a:avLst>
          </a:prstGeom>
          <a:solidFill>
            <a:srgbClr val="30495D"/>
          </a:solidFill>
          <a:ln w="8746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3" name="line 903"/>
          <p:cNvSpPr/>
          <p:nvPr/>
        </p:nvSpPr>
        <p:spPr>
          <a:xfrm>
            <a:off x="8868555" y="4086717"/>
            <a:ext cx="92510" cy="0"/>
          </a:xfrm>
          <a:prstGeom prst="line">
            <a:avLst/>
          </a:prstGeom>
          <a:noFill/>
          <a:ln w="9718">
            <a:solidFill>
              <a:srgbClr val="82D5B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4" name="line 904"/>
          <p:cNvSpPr/>
          <p:nvPr/>
        </p:nvSpPr>
        <p:spPr>
          <a:xfrm>
            <a:off x="8961065" y="4010548"/>
            <a:ext cx="0" cy="76169"/>
          </a:xfrm>
          <a:prstGeom prst="line">
            <a:avLst/>
          </a:prstGeom>
          <a:noFill/>
          <a:ln w="9718">
            <a:solidFill>
              <a:srgbClr val="82D5B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5" name="line 905"/>
          <p:cNvSpPr/>
          <p:nvPr/>
        </p:nvSpPr>
        <p:spPr>
          <a:xfrm>
            <a:off x="8961065" y="4010548"/>
            <a:ext cx="114277" cy="0"/>
          </a:xfrm>
          <a:prstGeom prst="line">
            <a:avLst/>
          </a:prstGeom>
          <a:noFill/>
          <a:ln w="9718">
            <a:solidFill>
              <a:srgbClr val="82D5B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6" name="line 906"/>
          <p:cNvSpPr/>
          <p:nvPr/>
        </p:nvSpPr>
        <p:spPr>
          <a:xfrm>
            <a:off x="9075342" y="4010548"/>
            <a:ext cx="0" cy="76169"/>
          </a:xfrm>
          <a:prstGeom prst="line">
            <a:avLst/>
          </a:prstGeom>
          <a:noFill/>
          <a:ln w="9718">
            <a:solidFill>
              <a:srgbClr val="82D5B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7" name="line 907"/>
          <p:cNvSpPr/>
          <p:nvPr/>
        </p:nvSpPr>
        <p:spPr>
          <a:xfrm>
            <a:off x="9075342" y="4086717"/>
            <a:ext cx="152369" cy="0"/>
          </a:xfrm>
          <a:prstGeom prst="line">
            <a:avLst/>
          </a:prstGeom>
          <a:noFill/>
          <a:ln w="9718">
            <a:solidFill>
              <a:srgbClr val="82D5B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8" name="roundRect 908"/>
          <p:cNvSpPr/>
          <p:nvPr/>
        </p:nvSpPr>
        <p:spPr>
          <a:xfrm>
            <a:off x="8830463" y="4228174"/>
            <a:ext cx="141486" cy="48966"/>
          </a:xfrm>
          <a:prstGeom prst="roundRect">
            <a:avLst>
              <a:gd name="adj" fmla="val 33333"/>
            </a:avLst>
          </a:prstGeom>
          <a:solidFill>
            <a:srgbClr val="A5B9CB"/>
          </a:solidFill>
          <a:ln w="8746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9" name="ellipse 909"/>
          <p:cNvSpPr/>
          <p:nvPr/>
        </p:nvSpPr>
        <p:spPr>
          <a:xfrm>
            <a:off x="9140644" y="4217294"/>
            <a:ext cx="97952" cy="97932"/>
          </a:xfrm>
          <a:prstGeom prst="ellipse">
            <a:avLst/>
          </a:prstGeom>
          <a:solidFill>
            <a:srgbClr val="FFFFFF"/>
          </a:solidFill>
          <a:ln w="7774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0" name="line 910"/>
          <p:cNvSpPr/>
          <p:nvPr/>
        </p:nvSpPr>
        <p:spPr>
          <a:xfrm>
            <a:off x="9363756" y="4271700"/>
            <a:ext cx="81627" cy="0"/>
          </a:xfrm>
          <a:prstGeom prst="line">
            <a:avLst/>
          </a:prstGeom>
          <a:noFill/>
          <a:ln w="10689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1" name="line 911"/>
          <p:cNvSpPr/>
          <p:nvPr/>
        </p:nvSpPr>
        <p:spPr>
          <a:xfrm>
            <a:off x="9445382" y="4146565"/>
            <a:ext cx="0" cy="125135"/>
          </a:xfrm>
          <a:prstGeom prst="line">
            <a:avLst/>
          </a:prstGeom>
          <a:noFill/>
          <a:ln w="10689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2" name="line 912"/>
          <p:cNvSpPr/>
          <p:nvPr/>
        </p:nvSpPr>
        <p:spPr>
          <a:xfrm>
            <a:off x="9445382" y="4146565"/>
            <a:ext cx="81627" cy="0"/>
          </a:xfrm>
          <a:prstGeom prst="line">
            <a:avLst/>
          </a:prstGeom>
          <a:noFill/>
          <a:ln w="10689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3" name="roundRect 913"/>
          <p:cNvSpPr/>
          <p:nvPr/>
        </p:nvSpPr>
        <p:spPr>
          <a:xfrm>
            <a:off x="9527009" y="3945260"/>
            <a:ext cx="43534" cy="402609"/>
          </a:xfrm>
          <a:prstGeom prst="roundRect">
            <a:avLst>
              <a:gd name="adj" fmla="val 37500"/>
            </a:avLst>
          </a:prstGeom>
          <a:solidFill>
            <a:srgbClr val="C7D6E2"/>
          </a:solidFill>
          <a:ln w="6802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4" name="roundRect 914"/>
          <p:cNvSpPr/>
          <p:nvPr/>
        </p:nvSpPr>
        <p:spPr>
          <a:xfrm>
            <a:off x="9973234" y="3945260"/>
            <a:ext cx="43534" cy="402609"/>
          </a:xfrm>
          <a:prstGeom prst="roundRect">
            <a:avLst>
              <a:gd name="adj" fmla="val 37500"/>
            </a:avLst>
          </a:prstGeom>
          <a:solidFill>
            <a:srgbClr val="C7D6E2"/>
          </a:solidFill>
          <a:ln w="6802">
            <a:solidFill>
              <a:srgbClr val="607A9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5" name="ellipse 915"/>
          <p:cNvSpPr/>
          <p:nvPr/>
        </p:nvSpPr>
        <p:spPr>
          <a:xfrm>
            <a:off x="9614077" y="4005108"/>
            <a:ext cx="315622" cy="266592"/>
          </a:xfrm>
          <a:prstGeom prst="ellipse">
            <a:avLst/>
          </a:prstGeom>
          <a:solidFill>
            <a:srgbClr val="F6DCE6"/>
          </a:solidFill>
          <a:ln w="8746">
            <a:solidFill>
              <a:srgbClr val="A4486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6" name="ellipse 916"/>
          <p:cNvSpPr/>
          <p:nvPr/>
        </p:nvSpPr>
        <p:spPr>
          <a:xfrm>
            <a:off x="9712029" y="4092158"/>
            <a:ext cx="119719" cy="97932"/>
          </a:xfrm>
          <a:prstGeom prst="ellipse">
            <a:avLst/>
          </a:prstGeom>
          <a:solidFill>
            <a:srgbClr val="C3B4DA"/>
          </a:solidFill>
          <a:ln w="5830">
            <a:solidFill>
              <a:srgbClr val="8974A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7" name="line 2047"/>
          <p:cNvSpPr/>
          <p:nvPr/>
        </p:nvSpPr>
        <p:spPr>
          <a:xfrm>
            <a:off x="8426314" y="4632727"/>
            <a:ext cx="1934743" cy="0"/>
          </a:xfrm>
          <a:prstGeom prst="line">
            <a:avLst/>
          </a:prstGeom>
          <a:noFill/>
          <a:ln w="7637">
            <a:solidFill>
              <a:srgbClr val="E6CC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8" name="Experiment II 2048"/>
          <p:cNvSpPr/>
          <p:nvPr/>
        </p:nvSpPr>
        <p:spPr>
          <a:xfrm>
            <a:off x="8375400" y="4677273"/>
            <a:ext cx="2036571" cy="203636"/>
          </a:xfrm>
          <a:prstGeom prst="roundRect">
            <a:avLst>
              <a:gd name="adj" fmla="val 31250"/>
            </a:avLst>
          </a:prstGeom>
          <a:solidFill>
            <a:srgbClr val="F1DAE4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II</a:t>
            </a:r>
          </a:p>
        </p:txBody>
      </p:sp>
      <p:sp>
        <p:nvSpPr>
          <p:cNvPr id="2049" name="BODIPY 493/503 2049"/>
          <p:cNvSpPr/>
          <p:nvPr/>
        </p:nvSpPr>
        <p:spPr>
          <a:xfrm>
            <a:off x="8375400" y="4931818"/>
            <a:ext cx="2036571" cy="178182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BODIPY 493/503</a:t>
            </a:r>
          </a:p>
        </p:txBody>
      </p:sp>
      <p:sp>
        <p:nvSpPr>
          <p:cNvPr id="718" name="ellipse 718"/>
          <p:cNvSpPr/>
          <p:nvPr/>
        </p:nvSpPr>
        <p:spPr>
          <a:xfrm>
            <a:off x="9013166" y="5173636"/>
            <a:ext cx="741772" cy="529730"/>
          </a:xfrm>
          <a:prstGeom prst="ellipse">
            <a:avLst/>
          </a:prstGeom>
          <a:solidFill>
            <a:srgbClr val="F4E8F2"/>
          </a:solidFill>
          <a:ln w="8747">
            <a:solidFill>
              <a:srgbClr val="A4486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9" name="ellipse 719"/>
          <p:cNvSpPr/>
          <p:nvPr/>
        </p:nvSpPr>
        <p:spPr>
          <a:xfrm>
            <a:off x="9258818" y="5337371"/>
            <a:ext cx="226385" cy="187813"/>
          </a:xfrm>
          <a:prstGeom prst="ellipse">
            <a:avLst/>
          </a:prstGeom>
          <a:solidFill>
            <a:srgbClr val="7098DB"/>
          </a:solidFill>
          <a:ln w="6998">
            <a:solidFill>
              <a:srgbClr val="446DB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0" name="ellipse 720"/>
          <p:cNvSpPr/>
          <p:nvPr/>
        </p:nvSpPr>
        <p:spPr>
          <a:xfrm>
            <a:off x="9133584" y="5289213"/>
            <a:ext cx="48167" cy="48157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1" name="ellipse 721"/>
          <p:cNvSpPr/>
          <p:nvPr/>
        </p:nvSpPr>
        <p:spPr>
          <a:xfrm>
            <a:off x="9229917" y="5236241"/>
            <a:ext cx="38534" cy="38526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2" name="ellipse 722"/>
          <p:cNvSpPr/>
          <p:nvPr/>
        </p:nvSpPr>
        <p:spPr>
          <a:xfrm>
            <a:off x="9528554" y="5298845"/>
            <a:ext cx="57800" cy="57788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3" name="ellipse 723"/>
          <p:cNvSpPr/>
          <p:nvPr/>
        </p:nvSpPr>
        <p:spPr>
          <a:xfrm>
            <a:off x="9620071" y="5428870"/>
            <a:ext cx="43351" cy="43342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4" name="ellipse 724"/>
          <p:cNvSpPr/>
          <p:nvPr/>
        </p:nvSpPr>
        <p:spPr>
          <a:xfrm>
            <a:off x="9090233" y="5452948"/>
            <a:ext cx="52984" cy="52974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5" name="ellipse 725"/>
          <p:cNvSpPr/>
          <p:nvPr/>
        </p:nvSpPr>
        <p:spPr>
          <a:xfrm>
            <a:off x="9196200" y="5568526"/>
            <a:ext cx="38534" cy="38526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6" name="ellipse 726"/>
          <p:cNvSpPr/>
          <p:nvPr/>
        </p:nvSpPr>
        <p:spPr>
          <a:xfrm>
            <a:off x="9485203" y="5573342"/>
            <a:ext cx="48167" cy="48157"/>
          </a:xfrm>
          <a:prstGeom prst="ellipse">
            <a:avLst/>
          </a:prstGeom>
          <a:solidFill>
            <a:srgbClr val="65BD79"/>
          </a:solidFill>
          <a:ln w="4373">
            <a:solidFill>
              <a:srgbClr val="388F5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0" name="line 2050"/>
          <p:cNvSpPr/>
          <p:nvPr/>
        </p:nvSpPr>
        <p:spPr>
          <a:xfrm>
            <a:off x="8426314" y="5937273"/>
            <a:ext cx="1934743" cy="0"/>
          </a:xfrm>
          <a:prstGeom prst="line">
            <a:avLst/>
          </a:prstGeom>
          <a:noFill/>
          <a:ln w="7637">
            <a:solidFill>
              <a:srgbClr val="E6CC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1" name="Experiment III 2051"/>
          <p:cNvSpPr/>
          <p:nvPr/>
        </p:nvSpPr>
        <p:spPr>
          <a:xfrm>
            <a:off x="8375400" y="5981818"/>
            <a:ext cx="2036571" cy="203636"/>
          </a:xfrm>
          <a:prstGeom prst="roundRect">
            <a:avLst>
              <a:gd name="adj" fmla="val 31250"/>
            </a:avLst>
          </a:prstGeom>
          <a:solidFill>
            <a:srgbClr val="F1DAE4"/>
          </a:solidFill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III</a:t>
            </a:r>
          </a:p>
        </p:txBody>
      </p:sp>
      <p:sp>
        <p:nvSpPr>
          <p:cNvPr id="2052" name="Aβ Internalization 2052"/>
          <p:cNvSpPr/>
          <p:nvPr/>
        </p:nvSpPr>
        <p:spPr>
          <a:xfrm>
            <a:off x="8375400" y="6236364"/>
            <a:ext cx="2036571" cy="178182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2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Aβ Internalization</a:t>
            </a:r>
          </a:p>
        </p:txBody>
      </p:sp>
      <p:sp>
        <p:nvSpPr>
          <p:cNvPr id="728" name="roundRect 728"/>
          <p:cNvSpPr/>
          <p:nvPr/>
        </p:nvSpPr>
        <p:spPr>
          <a:xfrm>
            <a:off x="8810677" y="6483708"/>
            <a:ext cx="419987" cy="425426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8933">
            <a:solidFill>
              <a:srgbClr val="8E6B8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9" name="roundRect 729"/>
          <p:cNvSpPr/>
          <p:nvPr/>
        </p:nvSpPr>
        <p:spPr>
          <a:xfrm>
            <a:off x="8849361" y="6677083"/>
            <a:ext cx="342621" cy="187851"/>
          </a:xfrm>
          <a:prstGeom prst="roundRect">
            <a:avLst>
              <a:gd name="adj" fmla="val 11765"/>
            </a:avLst>
          </a:prstGeom>
          <a:solidFill>
            <a:srgbClr val="F2CADB"/>
          </a:solidFill>
          <a:ln w="893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0" name="ellipse 730"/>
          <p:cNvSpPr/>
          <p:nvPr/>
        </p:nvSpPr>
        <p:spPr>
          <a:xfrm>
            <a:off x="8904622" y="6737858"/>
            <a:ext cx="33157" cy="33150"/>
          </a:xfrm>
          <a:prstGeom prst="ellipse">
            <a:avLst/>
          </a:prstGeom>
          <a:solidFill>
            <a:srgbClr val="A44869"/>
          </a:solidFill>
          <a:ln w="893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1" name="ellipse 731"/>
          <p:cNvSpPr/>
          <p:nvPr/>
        </p:nvSpPr>
        <p:spPr>
          <a:xfrm>
            <a:off x="9037250" y="6787583"/>
            <a:ext cx="33157" cy="33150"/>
          </a:xfrm>
          <a:prstGeom prst="ellipse">
            <a:avLst/>
          </a:prstGeom>
          <a:solidFill>
            <a:srgbClr val="A44869"/>
          </a:solidFill>
          <a:ln w="893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2" name="ellipse 732"/>
          <p:cNvSpPr/>
          <p:nvPr/>
        </p:nvSpPr>
        <p:spPr>
          <a:xfrm>
            <a:off x="9098037" y="6721283"/>
            <a:ext cx="33157" cy="33150"/>
          </a:xfrm>
          <a:prstGeom prst="ellipse">
            <a:avLst/>
          </a:prstGeom>
          <a:solidFill>
            <a:srgbClr val="A44869"/>
          </a:solidFill>
          <a:ln w="893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3" name="ellipse 733"/>
          <p:cNvSpPr/>
          <p:nvPr/>
        </p:nvSpPr>
        <p:spPr>
          <a:xfrm>
            <a:off x="8959883" y="6815208"/>
            <a:ext cx="33157" cy="33150"/>
          </a:xfrm>
          <a:prstGeom prst="ellipse">
            <a:avLst/>
          </a:prstGeom>
          <a:solidFill>
            <a:srgbClr val="A44869"/>
          </a:solidFill>
          <a:ln w="8933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4" name="line 734"/>
          <p:cNvSpPr/>
          <p:nvPr/>
        </p:nvSpPr>
        <p:spPr>
          <a:xfrm>
            <a:off x="9302504" y="6682607"/>
            <a:ext cx="182363" cy="0"/>
          </a:xfrm>
          <a:prstGeom prst="line">
            <a:avLst/>
          </a:prstGeom>
          <a:noFill/>
          <a:ln w="10917">
            <a:solidFill>
              <a:srgbClr val="A44869"/>
            </a:solidFill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5" name="roundRect 735"/>
          <p:cNvSpPr/>
          <p:nvPr/>
        </p:nvSpPr>
        <p:spPr>
          <a:xfrm>
            <a:off x="9551181" y="6478182"/>
            <a:ext cx="519457" cy="436477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8933">
            <a:solidFill>
              <a:srgbClr val="8E6B8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6" name="ellipse 736"/>
          <p:cNvSpPr/>
          <p:nvPr/>
        </p:nvSpPr>
        <p:spPr>
          <a:xfrm>
            <a:off x="9600916" y="652790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7" name="ellipse 737"/>
          <p:cNvSpPr/>
          <p:nvPr/>
        </p:nvSpPr>
        <p:spPr>
          <a:xfrm>
            <a:off x="9689335" y="652790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8" name="ellipse 738"/>
          <p:cNvSpPr/>
          <p:nvPr/>
        </p:nvSpPr>
        <p:spPr>
          <a:xfrm>
            <a:off x="9777752" y="652790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9" name="ellipse 739"/>
          <p:cNvSpPr/>
          <p:nvPr/>
        </p:nvSpPr>
        <p:spPr>
          <a:xfrm>
            <a:off x="9866171" y="652790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0" name="ellipse 740"/>
          <p:cNvSpPr/>
          <p:nvPr/>
        </p:nvSpPr>
        <p:spPr>
          <a:xfrm>
            <a:off x="9954589" y="652790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1" name="ellipse 741"/>
          <p:cNvSpPr/>
          <p:nvPr/>
        </p:nvSpPr>
        <p:spPr>
          <a:xfrm>
            <a:off x="9600916" y="662183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2" name="ellipse 742"/>
          <p:cNvSpPr/>
          <p:nvPr/>
        </p:nvSpPr>
        <p:spPr>
          <a:xfrm>
            <a:off x="9689335" y="662183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3" name="ellipse 743"/>
          <p:cNvSpPr/>
          <p:nvPr/>
        </p:nvSpPr>
        <p:spPr>
          <a:xfrm>
            <a:off x="9777752" y="662183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4" name="ellipse 744"/>
          <p:cNvSpPr/>
          <p:nvPr/>
        </p:nvSpPr>
        <p:spPr>
          <a:xfrm>
            <a:off x="9866171" y="662183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5" name="ellipse 745"/>
          <p:cNvSpPr/>
          <p:nvPr/>
        </p:nvSpPr>
        <p:spPr>
          <a:xfrm>
            <a:off x="9954589" y="662183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6" name="ellipse 746"/>
          <p:cNvSpPr/>
          <p:nvPr/>
        </p:nvSpPr>
        <p:spPr>
          <a:xfrm>
            <a:off x="9600916" y="671575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7" name="ellipse 747"/>
          <p:cNvSpPr/>
          <p:nvPr/>
        </p:nvSpPr>
        <p:spPr>
          <a:xfrm>
            <a:off x="9689335" y="671575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8" name="ellipse 748"/>
          <p:cNvSpPr/>
          <p:nvPr/>
        </p:nvSpPr>
        <p:spPr>
          <a:xfrm>
            <a:off x="9777752" y="671575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9" name="ellipse 749"/>
          <p:cNvSpPr/>
          <p:nvPr/>
        </p:nvSpPr>
        <p:spPr>
          <a:xfrm>
            <a:off x="9866171" y="671575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0" name="ellipse 750"/>
          <p:cNvSpPr/>
          <p:nvPr/>
        </p:nvSpPr>
        <p:spPr>
          <a:xfrm>
            <a:off x="9954589" y="6715758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1" name="ellipse 751"/>
          <p:cNvSpPr/>
          <p:nvPr/>
        </p:nvSpPr>
        <p:spPr>
          <a:xfrm>
            <a:off x="9600916" y="680968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2" name="ellipse 752"/>
          <p:cNvSpPr/>
          <p:nvPr/>
        </p:nvSpPr>
        <p:spPr>
          <a:xfrm>
            <a:off x="9689335" y="680968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ellipse 753"/>
          <p:cNvSpPr/>
          <p:nvPr/>
        </p:nvSpPr>
        <p:spPr>
          <a:xfrm>
            <a:off x="9777752" y="680968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4" name="ellipse 754"/>
          <p:cNvSpPr/>
          <p:nvPr/>
        </p:nvSpPr>
        <p:spPr>
          <a:xfrm>
            <a:off x="9866171" y="680968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5" name="ellipse 755"/>
          <p:cNvSpPr/>
          <p:nvPr/>
        </p:nvSpPr>
        <p:spPr>
          <a:xfrm>
            <a:off x="9954589" y="6809683"/>
            <a:ext cx="55261" cy="55250"/>
          </a:xfrm>
          <a:prstGeom prst="ellipse">
            <a:avLst/>
          </a:prstGeom>
          <a:solidFill>
            <a:srgbClr val="F3DCE7"/>
          </a:solidFill>
          <a:ln w="4467">
            <a:solidFill>
              <a:srgbClr val="BA7C95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100" name="AAV capsid 1">
            <a:extLst>
              <a:ext uri="{FF2B5EF4-FFF2-40B4-BE49-F238E27FC236}">
                <a16:creationId xmlns:a16="http://schemas.microsoft.com/office/drawing/2014/main" id="{4BC4B715-8A3E-4004-8568-A04B7CC0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78486" y="1431964"/>
            <a:ext cx="610971" cy="610971"/>
          </a:xfrm>
          <a:prstGeom prst="rect">
            <a:avLst/>
          </a:prstGeom>
        </p:spPr>
      </p:pic>
      <p:pic>
        <p:nvPicPr>
          <p:cNvPr id="3101" name="AAV capsid 2">
            <a:extLst>
              <a:ext uri="{FF2B5EF4-FFF2-40B4-BE49-F238E27FC236}">
                <a16:creationId xmlns:a16="http://schemas.microsoft.com/office/drawing/2014/main" id="{4BC4B715-8A3E-4004-8568-A04B7CC0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392165" y="1718357"/>
            <a:ext cx="610971" cy="610971"/>
          </a:xfrm>
          <a:prstGeom prst="rect">
            <a:avLst/>
          </a:prstGeom>
        </p:spPr>
      </p:pic>
      <p:pic>
        <p:nvPicPr>
          <p:cNvPr id="3102" name="AAV capsid 3">
            <a:extLst>
              <a:ext uri="{FF2B5EF4-FFF2-40B4-BE49-F238E27FC236}">
                <a16:creationId xmlns:a16="http://schemas.microsoft.com/office/drawing/2014/main" id="{4BC4B715-8A3E-4004-8568-A04B7CC088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8000"/>
          </a:blip>
          <a:stretch/>
        </p:blipFill>
        <p:spPr>
          <a:xfrm>
            <a:off x="3863122" y="1323771"/>
            <a:ext cx="1081929" cy="1081929"/>
          </a:xfrm>
          <a:prstGeom prst="rect">
            <a:avLst/>
          </a:prstGeom>
        </p:spPr>
      </p:pic>
      <p:sp>
        <p:nvSpPr>
          <p:cNvPr id="3001" name="line 3001"/>
          <p:cNvSpPr/>
          <p:nvPr/>
        </p:nvSpPr>
        <p:spPr>
          <a:xfrm>
            <a:off x="3971315" y="1864736"/>
            <a:ext cx="865543" cy="0"/>
          </a:xfrm>
          <a:prstGeom prst="line">
            <a:avLst/>
          </a:prstGeom>
          <a:noFill/>
          <a:ln w="11456">
            <a:solidFill>
              <a:srgbClr val="2C66A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2" name="roundRect 3002"/>
          <p:cNvSpPr/>
          <p:nvPr/>
        </p:nvSpPr>
        <p:spPr>
          <a:xfrm>
            <a:off x="3971315" y="1782000"/>
            <a:ext cx="210021" cy="165471"/>
          </a:xfrm>
          <a:prstGeom prst="roundRect">
            <a:avLst>
              <a:gd name="adj" fmla="val 19231"/>
            </a:avLst>
          </a:prstGeom>
          <a:solidFill>
            <a:srgbClr val="F7FBFF"/>
          </a:solidFill>
          <a:ln w="7001">
            <a:solidFill>
              <a:srgbClr val="2C66A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3" name="ITR 3003"/>
          <p:cNvSpPr/>
          <p:nvPr/>
        </p:nvSpPr>
        <p:spPr>
          <a:xfrm>
            <a:off x="3971315" y="1782000"/>
            <a:ext cx="210021" cy="165471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0">
                <a:solidFill>
                  <a:srgbClr val="2C66AF"/>
                </a:solidFill>
                <a:latin typeface="Futura"/>
                <a:ea typeface="Futura"/>
                <a:cs typeface="Futura"/>
              </a:rPr>
              <a:t>ITR</a:t>
            </a:r>
          </a:p>
        </p:txBody>
      </p:sp>
      <p:sp>
        <p:nvSpPr>
          <p:cNvPr id="3004" name="roundRect 3004"/>
          <p:cNvSpPr/>
          <p:nvPr/>
        </p:nvSpPr>
        <p:spPr>
          <a:xfrm>
            <a:off x="4206793" y="1782000"/>
            <a:ext cx="369129" cy="165471"/>
          </a:xfrm>
          <a:prstGeom prst="roundRect">
            <a:avLst>
              <a:gd name="adj" fmla="val 19231"/>
            </a:avLst>
          </a:prstGeom>
          <a:solidFill>
            <a:srgbClr val="F7FBFF"/>
          </a:solidFill>
          <a:ln w="7001">
            <a:solidFill>
              <a:srgbClr val="2C66A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5" name="ORCA 3005"/>
          <p:cNvSpPr/>
          <p:nvPr/>
        </p:nvSpPr>
        <p:spPr>
          <a:xfrm>
            <a:off x="4206793" y="1782000"/>
            <a:ext cx="369129" cy="165471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0">
                <a:solidFill>
                  <a:srgbClr val="2C66AF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3006" name="roundRect 3006"/>
          <p:cNvSpPr/>
          <p:nvPr/>
        </p:nvSpPr>
        <p:spPr>
          <a:xfrm>
            <a:off x="4601379" y="1782000"/>
            <a:ext cx="210021" cy="165471"/>
          </a:xfrm>
          <a:prstGeom prst="roundRect">
            <a:avLst>
              <a:gd name="adj" fmla="val 19231"/>
            </a:avLst>
          </a:prstGeom>
          <a:solidFill>
            <a:srgbClr val="F7FBFF"/>
          </a:solidFill>
          <a:ln w="7001">
            <a:solidFill>
              <a:srgbClr val="2C66AF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" name="Portrait connector 406">
            <a:extLst>
              <a:ext uri="{FF2B5EF4-FFF2-40B4-BE49-F238E27FC236}">
                <a16:creationId xmlns:a16="http://schemas.microsoft.com/office/drawing/2014/main" id="{E5F524C3-73DC-332C-3B97-5F2086C8D95B}"/>
              </a:ext>
            </a:extLst>
          </p:cNvPr>
          <p:cNvCxnSpPr>
            <a:cxnSpLocks/>
          </p:cNvCxnSpPr>
          <p:nvPr/>
        </p:nvCxnSpPr>
        <p:spPr>
          <a:xfrm>
            <a:off x="5610118" y="4142060"/>
            <a:ext cx="1836096" cy="0"/>
          </a:xfrm>
          <a:prstGeom prst="straightConnector1">
            <a:avLst/>
          </a:prstGeom>
          <a:ln w="19153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3007" name="ITR 3007"/>
          <p:cNvSpPr/>
          <p:nvPr/>
        </p:nvSpPr>
        <p:spPr>
          <a:xfrm>
            <a:off x="4601379" y="1782000"/>
            <a:ext cx="210021" cy="165471"/>
          </a:xfrm>
          <a:prstGeom prst="rect">
            <a:avLst/>
          </a:prstGeom>
          <a:noFill/>
          <a:ln w="11456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02" b="0">
                <a:solidFill>
                  <a:srgbClr val="2C66AF"/>
                </a:solidFill>
                <a:latin typeface="Futura"/>
                <a:ea typeface="Futura"/>
                <a:cs typeface="Futura"/>
              </a:rPr>
              <a:t>ITR</a:t>
            </a:r>
          </a:p>
        </p:txBody>
      </p:sp>
      <p:sp>
        <p:nvSpPr>
          <p:cNvPr id="4005" name="rect 4005"/>
          <p:cNvSpPr/>
          <p:nvPr/>
        </p:nvSpPr>
        <p:spPr>
          <a:xfrm>
            <a:off x="5676943" y="4633200"/>
            <a:ext cx="184564" cy="171836"/>
          </a:xfrm>
          <a:custGeom>
            <a:avLst/>
            <a:gdLst/>
            <a:ahLst/>
            <a:cxnLst/>
            <a:rect l="0" t="0" r="r" b="b"/>
            <a:pathLst>
              <a:path w="2900" h="2700">
                <a:moveTo>
                  <a:pt x="0" y="2600"/>
                </a:moveTo>
                <a:cubicBezTo>
                  <a:pt x="700" y="2600"/>
                  <a:pt x="650" y="250"/>
                  <a:pt x="1450" y="150"/>
                </a:cubicBezTo>
                <a:cubicBezTo>
                  <a:pt x="2250" y="250"/>
                  <a:pt x="2200" y="2600"/>
                  <a:pt x="2900" y="2600"/>
                </a:cubicBezTo>
                <a:close/>
              </a:path>
            </a:pathLst>
          </a:custGeom>
          <a:solidFill>
            <a:srgbClr val="3C80D5">
              <a:alpha val="25000"/>
            </a:srgbClr>
          </a:solidFill>
          <a:ln w="9546">
            <a:solidFill>
              <a:srgbClr val="3C80D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6" name="rect 4006"/>
          <p:cNvSpPr/>
          <p:nvPr/>
        </p:nvSpPr>
        <p:spPr>
          <a:xfrm>
            <a:off x="5918786" y="4633200"/>
            <a:ext cx="184564" cy="171836"/>
          </a:xfrm>
          <a:custGeom>
            <a:avLst/>
            <a:gdLst/>
            <a:ahLst/>
            <a:cxnLst/>
            <a:rect l="0" t="0" r="r" b="b"/>
            <a:pathLst>
              <a:path w="2900" h="2700">
                <a:moveTo>
                  <a:pt x="0" y="2600"/>
                </a:moveTo>
                <a:cubicBezTo>
                  <a:pt x="700" y="2600"/>
                  <a:pt x="650" y="250"/>
                  <a:pt x="1450" y="150"/>
                </a:cubicBezTo>
                <a:cubicBezTo>
                  <a:pt x="2250" y="250"/>
                  <a:pt x="2200" y="2600"/>
                  <a:pt x="2900" y="2600"/>
                </a:cubicBezTo>
                <a:close/>
              </a:path>
            </a:pathLst>
          </a:custGeom>
          <a:solidFill>
            <a:srgbClr val="D85670">
              <a:alpha val="25000"/>
            </a:srgbClr>
          </a:solidFill>
          <a:ln w="9546">
            <a:solidFill>
              <a:srgbClr val="D8567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7" name="rect 4007"/>
          <p:cNvSpPr/>
          <p:nvPr/>
        </p:nvSpPr>
        <p:spPr>
          <a:xfrm>
            <a:off x="6160629" y="4633200"/>
            <a:ext cx="184564" cy="171836"/>
          </a:xfrm>
          <a:custGeom>
            <a:avLst/>
            <a:gdLst/>
            <a:ahLst/>
            <a:cxnLst/>
            <a:rect l="0" t="0" r="r" b="b"/>
            <a:pathLst>
              <a:path w="2900" h="2700">
                <a:moveTo>
                  <a:pt x="0" y="2600"/>
                </a:moveTo>
                <a:cubicBezTo>
                  <a:pt x="700" y="2600"/>
                  <a:pt x="650" y="250"/>
                  <a:pt x="1450" y="150"/>
                </a:cubicBezTo>
                <a:cubicBezTo>
                  <a:pt x="2250" y="250"/>
                  <a:pt x="2200" y="2600"/>
                  <a:pt x="2900" y="2600"/>
                </a:cubicBezTo>
                <a:close/>
              </a:path>
            </a:pathLst>
          </a:custGeom>
          <a:solidFill>
            <a:srgbClr val="30A56A">
              <a:alpha val="25000"/>
            </a:srgbClr>
          </a:solidFill>
          <a:ln w="9546">
            <a:solidFill>
              <a:srgbClr val="30A56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0" name="BFP component">
            <a:extLst>
              <a:ext uri="{FF2B5EF4-FFF2-40B4-BE49-F238E27FC236}">
                <a16:creationId xmlns:a16="http://schemas.microsoft.com/office/drawing/2014/main" id="{69A0EA10-3C32-4B7A-BC48-E48AFEEB2257}"/>
              </a:ext>
            </a:extLst>
          </p:cNvPr>
          <p:cNvSpPr>
            <a:spLocks noGrp="1"/>
          </p:cNvSpPr>
          <p:nvPr/>
        </p:nvSpPr>
        <p:spPr>
          <a:xfrm>
            <a:off x="5669937" y="4034060"/>
            <a:ext cx="676290" cy="216000"/>
          </a:xfrm>
          <a:prstGeom prst="roundRect">
            <a:avLst>
              <a:gd name="adj" fmla="val 22222"/>
            </a:avLst>
          </a:prstGeom>
          <a:solidFill>
            <a:srgbClr val="DCE9FC"/>
          </a:solidFill>
          <a:ln w="14684">
            <a:solidFill>
              <a:srgbClr val="3779C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1" name="BFP label">
            <a:extLst>
              <a:ext uri="{FF2B5EF4-FFF2-40B4-BE49-F238E27FC236}">
                <a16:creationId xmlns:a16="http://schemas.microsoft.com/office/drawing/2014/main" id="{2CC0D623-2A14-459E-8601-E57591651B59}"/>
              </a:ext>
            </a:extLst>
          </p:cNvPr>
          <p:cNvSpPr>
            <a:spLocks noGrp="1"/>
          </p:cNvSpPr>
          <p:nvPr/>
        </p:nvSpPr>
        <p:spPr>
          <a:xfrm>
            <a:off x="5669937" y="4034060"/>
            <a:ext cx="676290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pPr>
            <a:r>
              <a:rPr sz="902" b="0" dirty="0">
                <a:solidFill>
                  <a:srgbClr val="3779C3"/>
                </a:solidFill>
                <a:latin typeface="Futura"/>
                <a:ea typeface="Futura"/>
                <a:cs typeface="Futura"/>
              </a:rPr>
              <a:t>BFP</a:t>
            </a:r>
          </a:p>
        </p:txBody>
      </p:sp>
      <p:sp>
        <p:nvSpPr>
          <p:cNvPr id="5102" name="ORCA component">
            <a:extLst>
              <a:ext uri="{FF2B5EF4-FFF2-40B4-BE49-F238E27FC236}">
                <a16:creationId xmlns:a16="http://schemas.microsoft.com/office/drawing/2014/main" id="{EC8C40A9-744C-4C1E-BD75-BBE458622C3A}"/>
              </a:ext>
            </a:extLst>
          </p:cNvPr>
          <p:cNvSpPr>
            <a:spLocks noGrp="1"/>
          </p:cNvSpPr>
          <p:nvPr/>
        </p:nvSpPr>
        <p:spPr>
          <a:xfrm>
            <a:off x="6400800" y="4034060"/>
            <a:ext cx="775445" cy="216000"/>
          </a:xfrm>
          <a:prstGeom prst="roundRect">
            <a:avLst>
              <a:gd name="adj" fmla="val 22222"/>
            </a:avLst>
          </a:prstGeom>
          <a:solidFill>
            <a:srgbClr val="D7EEF6"/>
          </a:solidFill>
          <a:ln w="14684">
            <a:solidFill>
              <a:srgbClr val="0788B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3" name="ORCA label">
            <a:extLst>
              <a:ext uri="{FF2B5EF4-FFF2-40B4-BE49-F238E27FC236}">
                <a16:creationId xmlns:a16="http://schemas.microsoft.com/office/drawing/2014/main" id="{D6F36DDA-D14B-4E36-B4E8-443D85F510EE}"/>
              </a:ext>
            </a:extLst>
          </p:cNvPr>
          <p:cNvSpPr>
            <a:spLocks noGrp="1"/>
          </p:cNvSpPr>
          <p:nvPr/>
        </p:nvSpPr>
        <p:spPr>
          <a:xfrm>
            <a:off x="6400800" y="4034060"/>
            <a:ext cx="775445" cy="216000"/>
          </a:xfrm>
          <a:prstGeom prst="rect">
            <a:avLst/>
          </a:prstGeom>
          <a:noFill/>
          <a:ln w="11492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defPPr>
            <a:lvl1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1pPr>
            <a:lvl2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2pPr>
            <a:lvl3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3pPr>
            <a:lvl4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4pPr>
            <a:lvl5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5pPr>
            <a:lvl6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6pPr>
            <a:lvl7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7pPr>
            <a:lvl8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8pPr>
            <a:lvl9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902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pPr>
            <a:r>
              <a:rPr sz="902" b="0" dirty="0">
                <a:solidFill>
                  <a:srgbClr val="0788B5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5002" name="line 5002"/>
          <p:cNvSpPr/>
          <p:nvPr/>
        </p:nvSpPr>
        <p:spPr>
          <a:xfrm>
            <a:off x="6606129" y="4275517"/>
            <a:ext cx="0" cy="57279"/>
          </a:xfrm>
          <a:prstGeom prst="line">
            <a:avLst/>
          </a:prstGeom>
          <a:noFill/>
          <a:ln w="8910">
            <a:solidFill>
              <a:srgbClr val="BC5B0C"/>
            </a:solidFill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1" name="line 6001"/>
          <p:cNvSpPr/>
          <p:nvPr/>
        </p:nvSpPr>
        <p:spPr>
          <a:xfrm>
            <a:off x="2342057" y="2545714"/>
            <a:ext cx="229114" cy="0"/>
          </a:xfrm>
          <a:prstGeom prst="line">
            <a:avLst/>
          </a:prstGeom>
          <a:noFill/>
          <a:ln w="11456">
            <a:solidFill>
              <a:srgbClr val="7D91A6"/>
            </a:solidFill>
          </a:ln>
        </p:spPr>
      </p:sp>
      <p:sp>
        <p:nvSpPr>
          <p:cNvPr id="6002" name="ellipse 6002"/>
          <p:cNvSpPr/>
          <p:nvPr/>
        </p:nvSpPr>
        <p:spPr>
          <a:xfrm>
            <a:off x="2319782" y="2523439"/>
            <a:ext cx="44550" cy="44550"/>
          </a:xfrm>
          <a:prstGeom prst="ellipse">
            <a:avLst/>
          </a:prstGeom>
          <a:solidFill>
            <a:srgbClr val="7D91A6"/>
          </a:solidFill>
          <a:ln w="11456">
            <a:noFill/>
          </a:ln>
        </p:spPr>
      </p:sp>
      <p:sp>
        <p:nvSpPr>
          <p:cNvPr id="6003" name="ellipse 6003"/>
          <p:cNvSpPr/>
          <p:nvPr/>
        </p:nvSpPr>
        <p:spPr>
          <a:xfrm>
            <a:off x="2548896" y="2523439"/>
            <a:ext cx="44550" cy="44550"/>
          </a:xfrm>
          <a:prstGeom prst="ellipse">
            <a:avLst/>
          </a:prstGeom>
          <a:solidFill>
            <a:srgbClr val="7D91A6"/>
          </a:solidFill>
          <a:ln w="11456">
            <a:noFill/>
          </a:ln>
        </p:spPr>
      </p:sp>
      <p:sp>
        <p:nvSpPr>
          <p:cNvPr id="6004" name="line 6004"/>
          <p:cNvSpPr/>
          <p:nvPr/>
        </p:nvSpPr>
        <p:spPr>
          <a:xfrm>
            <a:off x="7993543" y="5282357"/>
            <a:ext cx="254571" cy="0"/>
          </a:xfrm>
          <a:prstGeom prst="line">
            <a:avLst/>
          </a:prstGeom>
          <a:noFill/>
          <a:ln w="11456">
            <a:solidFill>
              <a:srgbClr val="7D91A6"/>
            </a:solidFill>
          </a:ln>
        </p:spPr>
      </p:sp>
      <p:sp>
        <p:nvSpPr>
          <p:cNvPr id="6005" name="ellipse 6005"/>
          <p:cNvSpPr/>
          <p:nvPr/>
        </p:nvSpPr>
        <p:spPr>
          <a:xfrm>
            <a:off x="7971268" y="5260082"/>
            <a:ext cx="44550" cy="44550"/>
          </a:xfrm>
          <a:prstGeom prst="ellipse">
            <a:avLst/>
          </a:prstGeom>
          <a:solidFill>
            <a:srgbClr val="7D91A6"/>
          </a:solidFill>
          <a:ln w="11456">
            <a:noFill/>
          </a:ln>
        </p:spPr>
      </p:sp>
      <p:sp>
        <p:nvSpPr>
          <p:cNvPr id="6006" name="ellipse 6006"/>
          <p:cNvSpPr/>
          <p:nvPr/>
        </p:nvSpPr>
        <p:spPr>
          <a:xfrm>
            <a:off x="8225839" y="5260082"/>
            <a:ext cx="44550" cy="44550"/>
          </a:xfrm>
          <a:prstGeom prst="ellipse">
            <a:avLst/>
          </a:prstGeom>
          <a:solidFill>
            <a:srgbClr val="7D91A6"/>
          </a:solidFill>
          <a:ln w="11456">
            <a:noFill/>
          </a:ln>
        </p:spPr>
      </p:sp>
    </p:spTree>
    <p:extLst>
      <p:ext uri="{BB962C8B-B14F-4D97-AF65-F5344CB8AC3E}">
        <p14:creationId xmlns:p14="http://schemas.microsoft.com/office/powerpoint/2010/main" val="4929543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115</Words>
  <Application>Microsoft Macintosh PowerPoint</Application>
  <DocSecurity>0</DocSecurity>
  <PresentationFormat>自定义</PresentationFormat>
  <Paragraphs>81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Aptos</vt:lpstr>
      <vt:lpstr>Futura</vt:lpstr>
      <vt:lpstr>Georgia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Hansen Zhang</cp:lastModifiedBy>
  <cp:revision>3</cp:revision>
  <dcterms:created xsi:type="dcterms:W3CDTF">2026-10-18T10:11:12Z</dcterms:created>
  <dcterms:modified xsi:type="dcterms:W3CDTF">2026-10-18T19:15:11Z</dcterms:modified>
</cp:coreProperties>
</file>