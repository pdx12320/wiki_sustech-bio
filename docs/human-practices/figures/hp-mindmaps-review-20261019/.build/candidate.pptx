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6c34d593b44fd1" /><Relationship Type="http://schemas.openxmlformats.org/officeDocument/2006/relationships/extended-properties" Target="/docProps/app.xml" Id="Rb3e35effa2c548d7" /><Relationship Type="http://schemas.openxmlformats.org/officeDocument/2006/relationships/officeDocument" Target="/ppt/presentation.xml" Id="R179057f3a0504ed6" /></Relationships>
</file>

<file path=ppt/presentation.xml><?xml version="1.0" encoding="utf-8"?>
<p:presentation xmlns:p="http://schemas.openxmlformats.org/presentationml/2006/main">
  <p:sldMasterIdLst>
    <p:sldMasterId xmlns:r="http://schemas.openxmlformats.org/officeDocument/2006/relationships" id="2147483648" r:id="Racb73f30225d4b7e"/>
  </p:sldMasterIdLst>
  <p:notesMasterIdLst>
    <p:notesMasterId xmlns:r="http://schemas.openxmlformats.org/officeDocument/2006/relationships" r:id="R04d118fd9d5b44e2"/>
  </p:notesMasterIdLst>
  <p:sldIdLst>
    <p:sldId xmlns:r="http://schemas.openxmlformats.org/officeDocument/2006/relationships" id="256" r:id="Rebbd0d8e345646a1"/>
    <p:sldId xmlns:r="http://schemas.openxmlformats.org/officeDocument/2006/relationships" id="257" r:id="Rf9f55b3e940541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ca512757a042e6" /><Relationship Type="http://schemas.openxmlformats.org/officeDocument/2006/relationships/slideMaster" Target="/ppt/slideMasters/slideMaster1.xml" Id="Racb73f30225d4b7e" /><Relationship Type="http://schemas.openxmlformats.org/officeDocument/2006/relationships/notesMaster" Target="/ppt/notesMasters/notesMaster1.xml" Id="R04d118fd9d5b44e2" /><Relationship Type="http://schemas.openxmlformats.org/officeDocument/2006/relationships/presProps" Target="/ppt/presProps.xml" Id="Rccb861d040dc460f" /><Relationship Type="http://schemas.openxmlformats.org/officeDocument/2006/relationships/tableStyles" Target="/ppt/tableStyles.xml" Id="R5f0c60a52ecc4405" /><Relationship Type="http://schemas.openxmlformats.org/officeDocument/2006/relationships/slide" Target="/ppt/slides/slide1.xml" Id="Rebbd0d8e345646a1" /><Relationship Type="http://schemas.openxmlformats.org/officeDocument/2006/relationships/slide" Target="/ppt/slides/slide2.xml" Id="Rf9f55b3e9405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dc7d9716b4c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94abf5ba6148fd" /><Relationship Type="http://schemas.openxmlformats.org/officeDocument/2006/relationships/notesMaster" Target="/ppt/notesMasters/notesMaster1.xml" Id="R8241275ce2e742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94661cc8b24d7b" /><Relationship Type="http://schemas.openxmlformats.org/officeDocument/2006/relationships/notesMaster" Target="/ppt/notesMasters/notesMaster1.xml" Id="R26d8822d4a174e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Figure 10, assets/human-practices/images/shahe-volunteer-activity-coordination-notes.png; Figure 22, assets/human-practices/images/shahe-needs-assessment-and-workbook-feedback.png. These are synthesized team interview/fieldwork summaries, not verbatim quotations or population-wide findings. Time constraints and staff coordination: Figure 10 staff interview panel and Figure 22 care difficulties panel. Trust and participation: Figure 10 willingness panel, Figure 22 trust and health-related participation panel. Group before individual, advance questions and adapting to health: Figure 10. Caregiver viewpoint is an editorial grouping of those source points. The first source also suggests about two days between visits; this operational detail is omitted to keep the main map short.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Figure 22, assets/human-practices/images/shahe-needs-assessment-and-workbook-feedback.png, especially older-adult information habits, workbook changes and AI use. Larger type summarizes the reported problem of small print. More pictures, fewer words, space for notes and production budget come directly from the workbook panel. Everyday health questions reflect health-knowledge needs and note-taking in that panel, also described in docs/human-practices/human-practices.md. Familiar short-video platforms and primarily voice-based AI interactions come from the same source. The source is a Shahe Elderly Service Center fieldwork summary; it does not establish that the institution is an elderly university. “Older learners” avoids changing the institution’s identity. These are feedback and design directions, not demonstrated educational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d598e8090246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a093c695e947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081bac13604d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cec2c62b6148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b2918954af4f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71fc6df1234e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BFA05B-773D-4F0F-BF47-F7CBF2B582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9522FD-2C7F-4899-BAE9-E8AD4E860F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5AED51-2531-4340-BC3B-EF5711D6CE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509866-03F2-4B9C-B9A5-161D2FC998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8078C6-1982-44D4-9543-8E8D8347C1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45A138-40FD-4FA8-AA52-A667E28536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5C1508-2A3A-4B96-9F2A-3705B38BE0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6C9E39-3A09-4BC1-9255-F81D27344A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74EC1D-091E-4267-B20B-F488DA5C55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FE29B6-BB7B-4F21-8893-595C12075F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70beb6b8b04275" /><Relationship Type="http://schemas.openxmlformats.org/officeDocument/2006/relationships/slideLayout" Target="/ppt/slideLayouts/slideLayout1.xml" Id="R3d39c8c499bb46f5" /><Relationship Type="http://schemas.openxmlformats.org/officeDocument/2006/relationships/slideLayout" Target="/ppt/slideLayouts/slideLayout2.xml" Id="R0244c3763d6646e2" /><Relationship Type="http://schemas.openxmlformats.org/officeDocument/2006/relationships/slideLayout" Target="/ppt/slideLayouts/slideLayout3.xml" Id="R5fd732a6995d4b10" /><Relationship Type="http://schemas.openxmlformats.org/officeDocument/2006/relationships/slideLayout" Target="/ppt/slideLayouts/slideLayout4.xml" Id="Redf919c4877b479f" /><Relationship Type="http://schemas.openxmlformats.org/officeDocument/2006/relationships/slideLayout" Target="/ppt/slideLayouts/slideLayout5.xml" Id="R9f83acc417194aab" /><Relationship Type="http://schemas.openxmlformats.org/officeDocument/2006/relationships/slideLayout" Target="/ppt/slideLayouts/slideLayout6.xml" Id="R7533c9997fb048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9c8c499bb46f5"/>
    <p:sldLayoutId xmlns:r="http://schemas.openxmlformats.org/officeDocument/2006/relationships" id="2147483650" r:id="R0244c3763d6646e2"/>
    <p:sldLayoutId xmlns:r="http://schemas.openxmlformats.org/officeDocument/2006/relationships" id="2147483651" r:id="R5fd732a6995d4b10"/>
    <p:sldLayoutId xmlns:r="http://schemas.openxmlformats.org/officeDocument/2006/relationships" id="2147483652" r:id="Redf919c4877b479f"/>
    <p:sldLayoutId xmlns:r="http://schemas.openxmlformats.org/officeDocument/2006/relationships" id="2147483653" r:id="R9f83acc417194aab"/>
    <p:sldLayoutId xmlns:r="http://schemas.openxmlformats.org/officeDocument/2006/relationships" id="2147483654" r:id="R7533c9997fb048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29756438834d84" /><Relationship Type="http://schemas.openxmlformats.org/officeDocument/2006/relationships/notesSlide" Target="/ppt/notesSlides/notesSlide1.xml" Id="Rbbcaec7b386d4f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db2f9c6554197" /><Relationship Type="http://schemas.openxmlformats.org/officeDocument/2006/relationships/notesSlide" Target="/ppt/notesSlides/notesSlide2.xml" Id="R899c432acca546c1" /></Relationships>
</file>

<file path=ppt/slides/slide1.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998B5CB9-67BC-4D70-A244-0923BDE55176}"/>
              </a:ext>
            </a:extLst>
          </p:cNvPr>
          <p:cNvCxnSpPr>
            <a:stCxn xmlns:a="http://schemas.openxmlformats.org/drawingml/2006/main" id="2" idx="6"/>
            <a:endCxn xmlns:a="http://schemas.openxmlformats.org/drawingml/2006/main" id="19" idx="1"/>
          </p:cNvCxnSpPr>
          <p:nvPr/>
        </p:nvCxnSpPr>
        <p:spPr>
          <a:xfrm xmlns:a="http://schemas.openxmlformats.org/drawingml/2006/main" rot="16200000" flipH="1">
            <a:off x="7224713" y="3643313"/>
            <a:ext cx="120967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15" name="">
            <a:extLst xmlns:a="http://schemas.openxmlformats.org/drawingml/2006/main">
              <a:ext uri="{FF2B5EF4-FFF2-40B4-BE49-F238E27FC236}">
                <a16:creationId xmlns:a16="http://schemas.microsoft.com/office/drawing/2014/main" id="{2A3A03F8-D56F-47C5-AD24-36B622CF89E3}"/>
              </a:ext>
            </a:extLst>
          </p:cNvPr>
          <p:cNvCxnSpPr>
            <a:stCxn xmlns:a="http://schemas.openxmlformats.org/drawingml/2006/main" id="2" idx="2"/>
            <a:endCxn xmlns:a="http://schemas.openxmlformats.org/drawingml/2006/main" id="14" idx="3"/>
          </p:cNvCxnSpPr>
          <p:nvPr/>
        </p:nvCxnSpPr>
        <p:spPr>
          <a:xfrm xmlns:a="http://schemas.openxmlformats.org/drawingml/2006/main" rot="5400000">
            <a:off x="3757613" y="3643313"/>
            <a:ext cx="1209675" cy="952500"/>
          </a:xfrm>
          <a:prstGeom xmlns:a="http://schemas.openxmlformats.org/drawingml/2006/main" prst="curvedConnector3">
            <a:avLst>
              <a:gd name="adj1" fmla="val 50000"/>
            </a:avLst>
          </a:prstGeom>
          <a:ln xmlns:a="http://schemas.openxmlformats.org/drawingml/2006/main" w="21908">
            <a:solidFill>
              <a:srgbClr val="F58F9C"/>
            </a:solidFill>
            <a:prstDash val="solid"/>
          </a:ln>
        </p:spPr>
      </p:cxnSp>
      <p:cxnSp>
        <p:nvCxnSpPr>
          <p:cNvPr id="10" name="">
            <a:extLst xmlns:a="http://schemas.openxmlformats.org/drawingml/2006/main">
              <a:ext uri="{FF2B5EF4-FFF2-40B4-BE49-F238E27FC236}">
                <a16:creationId xmlns:a16="http://schemas.microsoft.com/office/drawing/2014/main" id="{7025F65D-994A-4AED-9DA4-56A5FE1E6F30}"/>
              </a:ext>
            </a:extLst>
          </p:cNvPr>
          <p:cNvCxnSpPr>
            <a:stCxn xmlns:a="http://schemas.openxmlformats.org/drawingml/2006/main" id="2" idx="6"/>
            <a:endCxn xmlns:a="http://schemas.openxmlformats.org/drawingml/2006/main" id="9" idx="1"/>
          </p:cNvCxnSpPr>
          <p:nvPr/>
        </p:nvCxnSpPr>
        <p:spPr>
          <a:xfrm xmlns:a="http://schemas.openxmlformats.org/drawingml/2006/main" rot="5400000">
            <a:off x="70056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5" name="">
            <a:extLst xmlns:a="http://schemas.openxmlformats.org/drawingml/2006/main">
              <a:ext uri="{FF2B5EF4-FFF2-40B4-BE49-F238E27FC236}">
                <a16:creationId xmlns:a16="http://schemas.microsoft.com/office/drawing/2014/main" id="{CC98F179-0EAE-475C-89D7-FDACC0689F5C}"/>
              </a:ext>
            </a:extLst>
          </p:cNvPr>
          <p:cNvCxnSpPr>
            <a:stCxn xmlns:a="http://schemas.openxmlformats.org/drawingml/2006/main" id="2" idx="2"/>
            <a:endCxn xmlns:a="http://schemas.openxmlformats.org/drawingml/2006/main" id="4" idx="3"/>
          </p:cNvCxnSpPr>
          <p:nvPr/>
        </p:nvCxnSpPr>
        <p:spPr>
          <a:xfrm xmlns:a="http://schemas.openxmlformats.org/drawingml/2006/main" rot="16200000" flipH="1">
            <a:off x="35385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sp>
        <p:nvSpPr>
          <p:cNvPr id="24" name="Diagram title">
            <a:extLst xmlns:a="http://schemas.openxmlformats.org/drawingml/2006/main">
              <a:ext uri="{FF2B5EF4-FFF2-40B4-BE49-F238E27FC236}">
                <a16:creationId xmlns:a16="http://schemas.microsoft.com/office/drawing/2014/main" id="{2205BB70-F12C-42B3-B68E-E7EF07D02C2D}"/>
              </a:ext>
            </a:extLst>
          </p:cNvPr>
          <p:cNvSpPr>
            <a:spLocks xmlns:a="http://schemas.openxmlformats.org/drawingml/2006/main" noGrp="1"/>
          </p:cNvSpPr>
          <p:nvPr/>
        </p:nvSpPr>
        <p:spPr>
          <a:xfrm xmlns:a="http://schemas.openxmlformats.org/drawingml/2006/main">
            <a:off x="609600" y="381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a:solidFill>
                  <a:srgbClr val="2E267C"/>
                </a:solidFill>
                <a:latin typeface="Georgia"/>
                <a:ea typeface="Georgia"/>
                <a:cs typeface="Georgia"/>
              </a:defRPr>
            </a:defPPr>
            <a:lvl1pPr algn="l">
              <a:defRPr sz="3450">
                <a:solidFill>
                  <a:srgbClr val="2E267C"/>
                </a:solidFill>
                <a:latin typeface="Georgia"/>
                <a:ea typeface="Georgia"/>
                <a:cs typeface="Georgia"/>
              </a:defRPr>
            </a:lvl1pPr>
            <a:lvl2pPr algn="l">
              <a:defRPr sz="3450">
                <a:solidFill>
                  <a:srgbClr val="2E267C"/>
                </a:solidFill>
                <a:latin typeface="Georgia"/>
                <a:ea typeface="Georgia"/>
                <a:cs typeface="Georgia"/>
              </a:defRPr>
            </a:lvl2pPr>
            <a:lvl3pPr algn="l">
              <a:defRPr sz="3450">
                <a:solidFill>
                  <a:srgbClr val="2E267C"/>
                </a:solidFill>
                <a:latin typeface="Georgia"/>
                <a:ea typeface="Georgia"/>
                <a:cs typeface="Georgia"/>
              </a:defRPr>
            </a:lvl3pPr>
            <a:lvl4pPr algn="l">
              <a:defRPr sz="3450">
                <a:solidFill>
                  <a:srgbClr val="2E267C"/>
                </a:solidFill>
                <a:latin typeface="Georgia"/>
                <a:ea typeface="Georgia"/>
                <a:cs typeface="Georgia"/>
              </a:defRPr>
            </a:lvl4pPr>
            <a:lvl5pPr algn="l">
              <a:defRPr sz="3450">
                <a:solidFill>
                  <a:srgbClr val="2E267C"/>
                </a:solidFill>
                <a:latin typeface="Georgia"/>
                <a:ea typeface="Georgia"/>
                <a:cs typeface="Georgia"/>
              </a:defRPr>
            </a:lvl5pPr>
            <a:lvl6pPr algn="l">
              <a:defRPr sz="3450">
                <a:solidFill>
                  <a:srgbClr val="2E267C"/>
                </a:solidFill>
                <a:latin typeface="Georgia"/>
                <a:ea typeface="Georgia"/>
                <a:cs typeface="Georgia"/>
              </a:defRPr>
            </a:lvl6pPr>
            <a:lvl7pPr algn="l">
              <a:defRPr sz="3450">
                <a:solidFill>
                  <a:srgbClr val="2E267C"/>
                </a:solidFill>
                <a:latin typeface="Georgia"/>
                <a:ea typeface="Georgia"/>
                <a:cs typeface="Georgia"/>
              </a:defRPr>
            </a:lvl7pPr>
            <a:lvl8pPr algn="l">
              <a:defRPr sz="3450">
                <a:solidFill>
                  <a:srgbClr val="2E267C"/>
                </a:solidFill>
                <a:latin typeface="Georgia"/>
                <a:ea typeface="Georgia"/>
                <a:cs typeface="Georgia"/>
              </a:defRPr>
            </a:lvl8pPr>
            <a:lvl9pPr algn="l">
              <a:defRPr sz="3450">
                <a:solidFill>
                  <a:srgbClr val="2E267C"/>
                </a:solidFill>
                <a:latin typeface="Georgia"/>
                <a:ea typeface="Georgia"/>
                <a:cs typeface="Georgia"/>
              </a:defRPr>
            </a:lvl9pPr>
          </a:lstStyle>
          <a:p xmlns:a="http://schemas.openxmlformats.org/drawingml/2006/main">
            <a:pPr algn="l">
              <a:defRPr sz="3450">
                <a:solidFill>
                  <a:srgbClr val="2E267C"/>
                </a:solidFill>
                <a:latin typeface="Georgia"/>
                <a:ea typeface="Georgia"/>
                <a:cs typeface="Georgia"/>
              </a:defRPr>
            </a:pPr>
            <a:r>
              <a:rPr sz="3450">
                <a:solidFill>
                  <a:srgbClr val="2E267C"/>
                </a:solidFill>
                <a:latin typeface="Georgia"/>
                <a:ea typeface="Georgia"/>
                <a:cs typeface="Georgia"/>
              </a:rPr>
              <a:t>Caregivers’ perspective</a:t>
            </a:r>
          </a:p>
        </p:txBody>
      </p:sp>
      <p:sp>
        <p:nvSpPr>
          <p:cNvPr id="2" name="Central topic">
            <a:extLst xmlns:a="http://schemas.openxmlformats.org/drawingml/2006/main">
              <a:ext uri="{FF2B5EF4-FFF2-40B4-BE49-F238E27FC236}">
                <a16:creationId xmlns:a16="http://schemas.microsoft.com/office/drawing/2014/main" id="{81C64651-B479-4B14-B2CF-A69D0B1560D6}"/>
              </a:ext>
            </a:extLst>
          </p:cNvPr>
          <p:cNvSpPr>
            <a:spLocks xmlns:a="http://schemas.openxmlformats.org/drawingml/2006/main" noGrp="1"/>
          </p:cNvSpPr>
          <p:nvPr/>
        </p:nvSpPr>
        <p:spPr>
          <a:xfrm xmlns:a="http://schemas.openxmlformats.org/drawingml/2006/main">
            <a:off x="4838700" y="2609850"/>
            <a:ext cx="2514600" cy="1809750"/>
          </a:xfrm>
          <a:prstGeom xmlns:a="http://schemas.openxmlformats.org/drawingml/2006/main" prst="ellipse">
            <a:avLst/>
          </a:prstGeom>
          <a:solidFill xmlns:a="http://schemas.openxmlformats.org/drawingml/2006/main">
            <a:srgbClr val="E9E8FF"/>
          </a:solidFill>
          <a:ln xmlns:a="http://schemas.openxmlformats.org/drawingml/2006/main" w="16193">
            <a:solidFill>
              <a:srgbClr val="9D9CF4"/>
            </a:solidFill>
          </a:ln>
        </p:spPr>
        <p:txBody>
          <a:bodyPr xmlns:a="http://schemas.openxmlformats.org/drawingml/2006/main"/>
          <a:lstStyle xmlns:a="http://schemas.openxmlformats.org/drawingml/2006/main">
            <a:defPPr>
              <a:defRPr sz="2175">
                <a:latin typeface="Futura"/>
                <a:ea typeface="Futura"/>
                <a:cs typeface="Futura"/>
              </a:defRPr>
            </a:defPPr>
            <a:lvl1pPr>
              <a:defRPr sz="2175">
                <a:latin typeface="Futura"/>
                <a:ea typeface="Futura"/>
                <a:cs typeface="Futura"/>
              </a:defRPr>
            </a:lvl1pPr>
            <a:lvl2pPr>
              <a:defRPr sz="2175">
                <a:latin typeface="Futura"/>
                <a:ea typeface="Futura"/>
                <a:cs typeface="Futura"/>
              </a:defRPr>
            </a:lvl2pPr>
            <a:lvl3pPr>
              <a:defRPr sz="2175">
                <a:latin typeface="Futura"/>
                <a:ea typeface="Futura"/>
                <a:cs typeface="Futura"/>
              </a:defRPr>
            </a:lvl3pPr>
            <a:lvl4pPr>
              <a:defRPr sz="2175">
                <a:latin typeface="Futura"/>
                <a:ea typeface="Futura"/>
                <a:cs typeface="Futura"/>
              </a:defRPr>
            </a:lvl4pPr>
            <a:lvl5pPr>
              <a:defRPr sz="2175">
                <a:latin typeface="Futura"/>
                <a:ea typeface="Futura"/>
                <a:cs typeface="Futura"/>
              </a:defRPr>
            </a:lvl5pPr>
            <a:lvl6pPr>
              <a:defRPr sz="2175">
                <a:latin typeface="Futura"/>
                <a:ea typeface="Futura"/>
                <a:cs typeface="Futura"/>
              </a:defRPr>
            </a:lvl6pPr>
            <a:lvl7pPr>
              <a:defRPr sz="2175">
                <a:latin typeface="Futura"/>
                <a:ea typeface="Futura"/>
                <a:cs typeface="Futura"/>
              </a:defRPr>
            </a:lvl7pPr>
            <a:lvl8pPr>
              <a:defRPr sz="2175">
                <a:latin typeface="Futura"/>
                <a:ea typeface="Futura"/>
                <a:cs typeface="Futura"/>
              </a:defRPr>
            </a:lvl8pPr>
            <a:lvl9pPr>
              <a:defRPr sz="2175">
                <a:latin typeface="Futura"/>
                <a:ea typeface="Futura"/>
                <a:cs typeface="Futura"/>
              </a:defRPr>
            </a:lvl9pPr>
          </a:lstStyle>
          <a:p xmlns:a="http://schemas.openxmlformats.org/drawingml/2006/main"/>
        </p:txBody>
      </p:sp>
      <p:sp>
        <p:nvSpPr>
          <p:cNvPr id="3" name="Central topic text">
            <a:extLst xmlns:a="http://schemas.openxmlformats.org/drawingml/2006/main">
              <a:ext uri="{FF2B5EF4-FFF2-40B4-BE49-F238E27FC236}">
                <a16:creationId xmlns:a16="http://schemas.microsoft.com/office/drawing/2014/main" id="{69911B50-D9FF-4FFF-A701-A69539DA2746}"/>
              </a:ext>
            </a:extLst>
          </p:cNvPr>
          <p:cNvSpPr>
            <a:spLocks xmlns:a="http://schemas.openxmlformats.org/drawingml/2006/main" noGrp="1"/>
          </p:cNvSpPr>
          <p:nvPr/>
        </p:nvSpPr>
        <p:spPr>
          <a:xfrm xmlns:a="http://schemas.openxmlformats.org/drawingml/2006/main">
            <a:off x="5057775" y="3076575"/>
            <a:ext cx="2076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a:solidFill>
                  <a:srgbClr val="2E267C"/>
                </a:solidFill>
                <a:latin typeface="Georgia"/>
                <a:ea typeface="Georgia"/>
                <a:cs typeface="Georgia"/>
              </a:defRPr>
            </a:defPPr>
            <a:lvl1pPr algn="ctr">
              <a:defRPr sz="2175">
                <a:solidFill>
                  <a:srgbClr val="2E267C"/>
                </a:solidFill>
                <a:latin typeface="Georgia"/>
                <a:ea typeface="Georgia"/>
                <a:cs typeface="Georgia"/>
              </a:defRPr>
            </a:lvl1pPr>
            <a:lvl2pPr algn="ctr">
              <a:defRPr sz="2175">
                <a:solidFill>
                  <a:srgbClr val="2E267C"/>
                </a:solidFill>
                <a:latin typeface="Georgia"/>
                <a:ea typeface="Georgia"/>
                <a:cs typeface="Georgia"/>
              </a:defRPr>
            </a:lvl2pPr>
            <a:lvl3pPr algn="ctr">
              <a:defRPr sz="2175">
                <a:solidFill>
                  <a:srgbClr val="2E267C"/>
                </a:solidFill>
                <a:latin typeface="Georgia"/>
                <a:ea typeface="Georgia"/>
                <a:cs typeface="Georgia"/>
              </a:defRPr>
            </a:lvl3pPr>
            <a:lvl4pPr algn="ctr">
              <a:defRPr sz="2175">
                <a:solidFill>
                  <a:srgbClr val="2E267C"/>
                </a:solidFill>
                <a:latin typeface="Georgia"/>
                <a:ea typeface="Georgia"/>
                <a:cs typeface="Georgia"/>
              </a:defRPr>
            </a:lvl4pPr>
            <a:lvl5pPr algn="ctr">
              <a:defRPr sz="2175">
                <a:solidFill>
                  <a:srgbClr val="2E267C"/>
                </a:solidFill>
                <a:latin typeface="Georgia"/>
                <a:ea typeface="Georgia"/>
                <a:cs typeface="Georgia"/>
              </a:defRPr>
            </a:lvl5pPr>
            <a:lvl6pPr algn="ctr">
              <a:defRPr sz="2175">
                <a:solidFill>
                  <a:srgbClr val="2E267C"/>
                </a:solidFill>
                <a:latin typeface="Georgia"/>
                <a:ea typeface="Georgia"/>
                <a:cs typeface="Georgia"/>
              </a:defRPr>
            </a:lvl6pPr>
            <a:lvl7pPr algn="ctr">
              <a:defRPr sz="2175">
                <a:solidFill>
                  <a:srgbClr val="2E267C"/>
                </a:solidFill>
                <a:latin typeface="Georgia"/>
                <a:ea typeface="Georgia"/>
                <a:cs typeface="Georgia"/>
              </a:defRPr>
            </a:lvl7pPr>
            <a:lvl8pPr algn="ctr">
              <a:defRPr sz="2175">
                <a:solidFill>
                  <a:srgbClr val="2E267C"/>
                </a:solidFill>
                <a:latin typeface="Georgia"/>
                <a:ea typeface="Georgia"/>
                <a:cs typeface="Georgia"/>
              </a:defRPr>
            </a:lvl8pPr>
            <a:lvl9pPr algn="ctr">
              <a:defRPr sz="2175">
                <a:solidFill>
                  <a:srgbClr val="2E267C"/>
                </a:solidFill>
                <a:latin typeface="Georgia"/>
                <a:ea typeface="Georgia"/>
                <a:cs typeface="Georgia"/>
              </a:defRPr>
            </a:lvl9pPr>
          </a:lstStyle>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Care that fits</a:t>
            </a:r>
          </a:p>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daily life</a:t>
            </a:r>
          </a:p>
        </p:txBody>
      </p:sp>
      <p:sp>
        <p:nvSpPr>
          <p:cNvPr id="4" name="Branch 1">
            <a:extLst xmlns:a="http://schemas.openxmlformats.org/drawingml/2006/main">
              <a:ext uri="{FF2B5EF4-FFF2-40B4-BE49-F238E27FC236}">
                <a16:creationId xmlns:a16="http://schemas.microsoft.com/office/drawing/2014/main" id="{4D42598F-4467-4023-BADA-A6C0D3F8E167}"/>
              </a:ext>
            </a:extLst>
          </p:cNvPr>
          <p:cNvSpPr>
            <a:spLocks xmlns:a="http://schemas.openxmlformats.org/drawingml/2006/main" noGrp="1"/>
          </p:cNvSpPr>
          <p:nvPr/>
        </p:nvSpPr>
        <p:spPr>
          <a:xfrm xmlns:a="http://schemas.openxmlformats.org/drawingml/2006/main">
            <a:off x="619125"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Time to care</a:t>
            </a:r>
          </a:p>
        </p:txBody>
      </p:sp>
      <p:sp>
        <p:nvSpPr>
          <p:cNvPr id="6" name="Branch underline 1">
            <a:extLst xmlns:a="http://schemas.openxmlformats.org/drawingml/2006/main">
              <a:ext uri="{FF2B5EF4-FFF2-40B4-BE49-F238E27FC236}">
                <a16:creationId xmlns:a16="http://schemas.microsoft.com/office/drawing/2014/main" id="{9DF77845-DABA-4E5A-AF09-DB847E6FE58E}"/>
              </a:ext>
            </a:extLst>
          </p:cNvPr>
          <p:cNvSpPr>
            <a:spLocks xmlns:a="http://schemas.openxmlformats.org/drawingml/2006/main" noGrp="1"/>
          </p:cNvSpPr>
          <p:nvPr/>
        </p:nvSpPr>
        <p:spPr>
          <a:xfrm xmlns:a="http://schemas.openxmlformats.org/drawingml/2006/main">
            <a:off x="619125" y="21050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7" name="Branch 1 detail 1">
            <a:extLst xmlns:a="http://schemas.openxmlformats.org/drawingml/2006/main">
              <a:ext uri="{FF2B5EF4-FFF2-40B4-BE49-F238E27FC236}">
                <a16:creationId xmlns:a16="http://schemas.microsoft.com/office/drawing/2014/main" id="{FA016A31-99B7-4840-87F7-CE4872E9FE80}"/>
              </a:ext>
            </a:extLst>
          </p:cNvPr>
          <p:cNvSpPr>
            <a:spLocks xmlns:a="http://schemas.openxmlformats.org/drawingml/2006/main" noGrp="1"/>
          </p:cNvSpPr>
          <p:nvPr/>
        </p:nvSpPr>
        <p:spPr>
          <a:xfrm xmlns:a="http://schemas.openxmlformats.org/drawingml/2006/main">
            <a:off x="619125"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Busy frontline schedules</a:t>
            </a:r>
          </a:p>
        </p:txBody>
      </p:sp>
      <p:sp>
        <p:nvSpPr>
          <p:cNvPr id="8" name="Branch 1 detail 2">
            <a:extLst xmlns:a="http://schemas.openxmlformats.org/drawingml/2006/main">
              <a:ext uri="{FF2B5EF4-FFF2-40B4-BE49-F238E27FC236}">
                <a16:creationId xmlns:a16="http://schemas.microsoft.com/office/drawing/2014/main" id="{1668BDA2-7E76-49E2-A36C-676E44F50089}"/>
              </a:ext>
            </a:extLst>
          </p:cNvPr>
          <p:cNvSpPr>
            <a:spLocks xmlns:a="http://schemas.openxmlformats.org/drawingml/2006/main" noGrp="1"/>
          </p:cNvSpPr>
          <p:nvPr/>
        </p:nvSpPr>
        <p:spPr>
          <a:xfrm xmlns:a="http://schemas.openxmlformats.org/drawingml/2006/main">
            <a:off x="619125"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Coordinate staff interviews</a:t>
            </a:r>
          </a:p>
        </p:txBody>
      </p:sp>
      <p:sp>
        <p:nvSpPr>
          <p:cNvPr id="9" name="Branch 2">
            <a:extLst xmlns:a="http://schemas.openxmlformats.org/drawingml/2006/main">
              <a:ext uri="{FF2B5EF4-FFF2-40B4-BE49-F238E27FC236}">
                <a16:creationId xmlns:a16="http://schemas.microsoft.com/office/drawing/2014/main" id="{5B453512-8FEA-40B6-A7FE-6FB3AA32346C}"/>
              </a:ext>
            </a:extLst>
          </p:cNvPr>
          <p:cNvSpPr>
            <a:spLocks xmlns:a="http://schemas.openxmlformats.org/drawingml/2006/main" noGrp="1"/>
          </p:cNvSpPr>
          <p:nvPr/>
        </p:nvSpPr>
        <p:spPr>
          <a:xfrm xmlns:a="http://schemas.openxmlformats.org/drawingml/2006/main">
            <a:off x="8305800"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Trust and choice</a:t>
            </a:r>
          </a:p>
        </p:txBody>
      </p:sp>
      <p:sp>
        <p:nvSpPr>
          <p:cNvPr id="11" name="Branch underline 2">
            <a:extLst xmlns:a="http://schemas.openxmlformats.org/drawingml/2006/main">
              <a:ext uri="{FF2B5EF4-FFF2-40B4-BE49-F238E27FC236}">
                <a16:creationId xmlns:a16="http://schemas.microsoft.com/office/drawing/2014/main" id="{2629730B-4FFD-4C0B-B587-9A4CC8394E0C}"/>
              </a:ext>
            </a:extLst>
          </p:cNvPr>
          <p:cNvSpPr>
            <a:spLocks xmlns:a="http://schemas.openxmlformats.org/drawingml/2006/main" noGrp="1"/>
          </p:cNvSpPr>
          <p:nvPr/>
        </p:nvSpPr>
        <p:spPr>
          <a:xfrm xmlns:a="http://schemas.openxmlformats.org/drawingml/2006/main">
            <a:off x="8305800" y="21050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2" name="Branch 2 detail 1">
            <a:extLst xmlns:a="http://schemas.openxmlformats.org/drawingml/2006/main">
              <a:ext uri="{FF2B5EF4-FFF2-40B4-BE49-F238E27FC236}">
                <a16:creationId xmlns:a16="http://schemas.microsoft.com/office/drawing/2014/main" id="{6FF8AF05-60CF-48B0-8366-12D7EA23AF5A}"/>
              </a:ext>
            </a:extLst>
          </p:cNvPr>
          <p:cNvSpPr>
            <a:spLocks xmlns:a="http://schemas.openxmlformats.org/drawingml/2006/main" noGrp="1"/>
          </p:cNvSpPr>
          <p:nvPr/>
        </p:nvSpPr>
        <p:spPr>
          <a:xfrm xmlns:a="http://schemas.openxmlformats.org/drawingml/2006/main">
            <a:off x="8305800"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Trust shapes advice</a:t>
            </a:r>
          </a:p>
        </p:txBody>
      </p:sp>
      <p:sp>
        <p:nvSpPr>
          <p:cNvPr id="13" name="Branch 2 detail 2">
            <a:extLst xmlns:a="http://schemas.openxmlformats.org/drawingml/2006/main">
              <a:ext uri="{FF2B5EF4-FFF2-40B4-BE49-F238E27FC236}">
                <a16:creationId xmlns:a16="http://schemas.microsoft.com/office/drawing/2014/main" id="{12543B69-F83A-433D-A2F7-E75E8176C949}"/>
              </a:ext>
            </a:extLst>
          </p:cNvPr>
          <p:cNvSpPr>
            <a:spLocks xmlns:a="http://schemas.openxmlformats.org/drawingml/2006/main" noGrp="1"/>
          </p:cNvSpPr>
          <p:nvPr/>
        </p:nvSpPr>
        <p:spPr>
          <a:xfrm xmlns:a="http://schemas.openxmlformats.org/drawingml/2006/main">
            <a:off x="8305800"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Willingness to take part varies</a:t>
            </a:r>
          </a:p>
        </p:txBody>
      </p:sp>
      <p:sp>
        <p:nvSpPr>
          <p:cNvPr id="14" name="Branch 3">
            <a:extLst xmlns:a="http://schemas.openxmlformats.org/drawingml/2006/main">
              <a:ext uri="{FF2B5EF4-FFF2-40B4-BE49-F238E27FC236}">
                <a16:creationId xmlns:a16="http://schemas.microsoft.com/office/drawing/2014/main" id="{F6A36E36-3AAE-4B74-9B4B-ED36D0D7D685}"/>
              </a:ext>
            </a:extLst>
          </p:cNvPr>
          <p:cNvSpPr>
            <a:spLocks xmlns:a="http://schemas.openxmlformats.org/drawingml/2006/main" noGrp="1"/>
          </p:cNvSpPr>
          <p:nvPr/>
        </p:nvSpPr>
        <p:spPr>
          <a:xfrm xmlns:a="http://schemas.openxmlformats.org/drawingml/2006/main">
            <a:off x="619125"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A gentle start</a:t>
            </a:r>
          </a:p>
        </p:txBody>
      </p:sp>
      <p:sp>
        <p:nvSpPr>
          <p:cNvPr id="16" name="Branch underline 3">
            <a:extLst xmlns:a="http://schemas.openxmlformats.org/drawingml/2006/main">
              <a:ext uri="{FF2B5EF4-FFF2-40B4-BE49-F238E27FC236}">
                <a16:creationId xmlns:a16="http://schemas.microsoft.com/office/drawing/2014/main" id="{77277CC8-71B4-4B4C-9D5F-8D4B32145086}"/>
              </a:ext>
            </a:extLst>
          </p:cNvPr>
          <p:cNvSpPr>
            <a:spLocks xmlns:a="http://schemas.openxmlformats.org/drawingml/2006/main" noGrp="1"/>
          </p:cNvSpPr>
          <p:nvPr/>
        </p:nvSpPr>
        <p:spPr>
          <a:xfrm xmlns:a="http://schemas.openxmlformats.org/drawingml/2006/main">
            <a:off x="619125" y="49625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7" name="Branch 3 detail 1">
            <a:extLst xmlns:a="http://schemas.openxmlformats.org/drawingml/2006/main">
              <a:ext uri="{FF2B5EF4-FFF2-40B4-BE49-F238E27FC236}">
                <a16:creationId xmlns:a16="http://schemas.microsoft.com/office/drawing/2014/main" id="{9F598E51-5478-4E0C-AE66-99F2917CECB6}"/>
              </a:ext>
            </a:extLst>
          </p:cNvPr>
          <p:cNvSpPr>
            <a:spLocks xmlns:a="http://schemas.openxmlformats.org/drawingml/2006/main" noGrp="1"/>
          </p:cNvSpPr>
          <p:nvPr/>
        </p:nvSpPr>
        <p:spPr>
          <a:xfrm xmlns:a="http://schemas.openxmlformats.org/drawingml/2006/main">
            <a:off x="619125"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Group activities first</a:t>
            </a:r>
          </a:p>
        </p:txBody>
      </p:sp>
      <p:sp>
        <p:nvSpPr>
          <p:cNvPr id="18" name="Branch 3 detail 2">
            <a:extLst xmlns:a="http://schemas.openxmlformats.org/drawingml/2006/main">
              <a:ext uri="{FF2B5EF4-FFF2-40B4-BE49-F238E27FC236}">
                <a16:creationId xmlns:a16="http://schemas.microsoft.com/office/drawing/2014/main" id="{64589BB5-EE31-409D-87E4-934BABA15BBD}"/>
              </a:ext>
            </a:extLst>
          </p:cNvPr>
          <p:cNvSpPr>
            <a:spLocks xmlns:a="http://schemas.openxmlformats.org/drawingml/2006/main" noGrp="1"/>
          </p:cNvSpPr>
          <p:nvPr/>
        </p:nvSpPr>
        <p:spPr>
          <a:xfrm xmlns:a="http://schemas.openxmlformats.org/drawingml/2006/main">
            <a:off x="619125"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One-to-one contact later</a:t>
            </a:r>
          </a:p>
        </p:txBody>
      </p:sp>
      <p:sp>
        <p:nvSpPr>
          <p:cNvPr id="19" name="Branch 4">
            <a:extLst xmlns:a="http://schemas.openxmlformats.org/drawingml/2006/main">
              <a:ext uri="{FF2B5EF4-FFF2-40B4-BE49-F238E27FC236}">
                <a16:creationId xmlns:a16="http://schemas.microsoft.com/office/drawing/2014/main" id="{5E0E0533-21C8-4251-9142-B0EFF4EF266B}"/>
              </a:ext>
            </a:extLst>
          </p:cNvPr>
          <p:cNvSpPr>
            <a:spLocks xmlns:a="http://schemas.openxmlformats.org/drawingml/2006/main" noGrp="1"/>
          </p:cNvSpPr>
          <p:nvPr/>
        </p:nvSpPr>
        <p:spPr>
          <a:xfrm xmlns:a="http://schemas.openxmlformats.org/drawingml/2006/main">
            <a:off x="8305800"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Planning together</a:t>
            </a:r>
          </a:p>
        </p:txBody>
      </p:sp>
      <p:sp>
        <p:nvSpPr>
          <p:cNvPr id="21" name="Branch underline 4">
            <a:extLst xmlns:a="http://schemas.openxmlformats.org/drawingml/2006/main">
              <a:ext uri="{FF2B5EF4-FFF2-40B4-BE49-F238E27FC236}">
                <a16:creationId xmlns:a16="http://schemas.microsoft.com/office/drawing/2014/main" id="{6FDAECA6-5C86-4412-B33F-FFCFA2211BA6}"/>
              </a:ext>
            </a:extLst>
          </p:cNvPr>
          <p:cNvSpPr>
            <a:spLocks xmlns:a="http://schemas.openxmlformats.org/drawingml/2006/main" noGrp="1"/>
          </p:cNvSpPr>
          <p:nvPr/>
        </p:nvSpPr>
        <p:spPr>
          <a:xfrm xmlns:a="http://schemas.openxmlformats.org/drawingml/2006/main">
            <a:off x="8305800" y="49625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22" name="Branch 4 detail 1">
            <a:extLst xmlns:a="http://schemas.openxmlformats.org/drawingml/2006/main">
              <a:ext uri="{FF2B5EF4-FFF2-40B4-BE49-F238E27FC236}">
                <a16:creationId xmlns:a16="http://schemas.microsoft.com/office/drawing/2014/main" id="{F7B097BB-A4FC-4C97-BB1F-3081B87DDB0C}"/>
              </a:ext>
            </a:extLst>
          </p:cNvPr>
          <p:cNvSpPr>
            <a:spLocks xmlns:a="http://schemas.openxmlformats.org/drawingml/2006/main" noGrp="1"/>
          </p:cNvSpPr>
          <p:nvPr/>
        </p:nvSpPr>
        <p:spPr>
          <a:xfrm xmlns:a="http://schemas.openxmlformats.org/drawingml/2006/main">
            <a:off x="8305800"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Share questions in advance</a:t>
            </a:r>
          </a:p>
        </p:txBody>
      </p:sp>
      <p:sp>
        <p:nvSpPr>
          <p:cNvPr id="23" name="Branch 4 detail 2">
            <a:extLst xmlns:a="http://schemas.openxmlformats.org/drawingml/2006/main">
              <a:ext uri="{FF2B5EF4-FFF2-40B4-BE49-F238E27FC236}">
                <a16:creationId xmlns:a16="http://schemas.microsoft.com/office/drawing/2014/main" id="{C0E6DF78-59BB-4169-B491-23188B6E5889}"/>
              </a:ext>
            </a:extLst>
          </p:cNvPr>
          <p:cNvSpPr>
            <a:spLocks xmlns:a="http://schemas.openxmlformats.org/drawingml/2006/main" noGrp="1"/>
          </p:cNvSpPr>
          <p:nvPr/>
        </p:nvSpPr>
        <p:spPr>
          <a:xfrm xmlns:a="http://schemas.openxmlformats.org/drawingml/2006/main">
            <a:off x="8305800"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Adapt to health and availability</a:t>
            </a:r>
          </a:p>
        </p:txBody>
      </p:sp>
    </p:spTree>
    <p:extLst>
      <p:ext uri="{BB962C8B-B14F-4D97-AF65-F5344CB8AC3E}">
        <p14:creationId xmlns:p14="http://schemas.microsoft.com/office/powerpoint/2010/main" val="426747807"/>
      </p:ext>
    </p:extLst>
  </p:cSld>
</p:sld>
</file>

<file path=ppt/slides/slide2.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6B269FAD-BF36-42B3-BDC8-0CE834A37DC7}"/>
              </a:ext>
            </a:extLst>
          </p:cNvPr>
          <p:cNvCxnSpPr>
            <a:stCxn xmlns:a="http://schemas.openxmlformats.org/drawingml/2006/main" id="2" idx="6"/>
            <a:endCxn xmlns:a="http://schemas.openxmlformats.org/drawingml/2006/main" id="19" idx="1"/>
          </p:cNvCxnSpPr>
          <p:nvPr/>
        </p:nvCxnSpPr>
        <p:spPr>
          <a:xfrm xmlns:a="http://schemas.openxmlformats.org/drawingml/2006/main" rot="16200000" flipH="1">
            <a:off x="7224713" y="3643313"/>
            <a:ext cx="120967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15" name="">
            <a:extLst xmlns:a="http://schemas.openxmlformats.org/drawingml/2006/main">
              <a:ext uri="{FF2B5EF4-FFF2-40B4-BE49-F238E27FC236}">
                <a16:creationId xmlns:a16="http://schemas.microsoft.com/office/drawing/2014/main" id="{12096D94-FB0D-47C8-AC43-031EF0556DF4}"/>
              </a:ext>
            </a:extLst>
          </p:cNvPr>
          <p:cNvCxnSpPr>
            <a:stCxn xmlns:a="http://schemas.openxmlformats.org/drawingml/2006/main" id="2" idx="2"/>
            <a:endCxn xmlns:a="http://schemas.openxmlformats.org/drawingml/2006/main" id="14" idx="3"/>
          </p:cNvCxnSpPr>
          <p:nvPr/>
        </p:nvCxnSpPr>
        <p:spPr>
          <a:xfrm xmlns:a="http://schemas.openxmlformats.org/drawingml/2006/main" rot="5400000">
            <a:off x="3757613" y="3643313"/>
            <a:ext cx="1209675" cy="952500"/>
          </a:xfrm>
          <a:prstGeom xmlns:a="http://schemas.openxmlformats.org/drawingml/2006/main" prst="curvedConnector3">
            <a:avLst>
              <a:gd name="adj1" fmla="val 50000"/>
            </a:avLst>
          </a:prstGeom>
          <a:ln xmlns:a="http://schemas.openxmlformats.org/drawingml/2006/main" w="21908">
            <a:solidFill>
              <a:srgbClr val="F58F9C"/>
            </a:solidFill>
            <a:prstDash val="solid"/>
          </a:ln>
        </p:spPr>
      </p:cxnSp>
      <p:cxnSp>
        <p:nvCxnSpPr>
          <p:cNvPr id="10" name="">
            <a:extLst xmlns:a="http://schemas.openxmlformats.org/drawingml/2006/main">
              <a:ext uri="{FF2B5EF4-FFF2-40B4-BE49-F238E27FC236}">
                <a16:creationId xmlns:a16="http://schemas.microsoft.com/office/drawing/2014/main" id="{8FA1E936-5691-480E-BD59-6F8F4A7A1F5C}"/>
              </a:ext>
            </a:extLst>
          </p:cNvPr>
          <p:cNvCxnSpPr>
            <a:stCxn xmlns:a="http://schemas.openxmlformats.org/drawingml/2006/main" id="2" idx="6"/>
            <a:endCxn xmlns:a="http://schemas.openxmlformats.org/drawingml/2006/main" id="9" idx="1"/>
          </p:cNvCxnSpPr>
          <p:nvPr/>
        </p:nvCxnSpPr>
        <p:spPr>
          <a:xfrm xmlns:a="http://schemas.openxmlformats.org/drawingml/2006/main" rot="5400000">
            <a:off x="70056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5" name="">
            <a:extLst xmlns:a="http://schemas.openxmlformats.org/drawingml/2006/main">
              <a:ext uri="{FF2B5EF4-FFF2-40B4-BE49-F238E27FC236}">
                <a16:creationId xmlns:a16="http://schemas.microsoft.com/office/drawing/2014/main" id="{0A00FDEA-62E1-4457-B061-C8CDA6D876AE}"/>
              </a:ext>
            </a:extLst>
          </p:cNvPr>
          <p:cNvCxnSpPr>
            <a:stCxn xmlns:a="http://schemas.openxmlformats.org/drawingml/2006/main" id="2" idx="2"/>
            <a:endCxn xmlns:a="http://schemas.openxmlformats.org/drawingml/2006/main" id="4" idx="3"/>
          </p:cNvCxnSpPr>
          <p:nvPr/>
        </p:nvCxnSpPr>
        <p:spPr>
          <a:xfrm xmlns:a="http://schemas.openxmlformats.org/drawingml/2006/main" rot="16200000" flipH="1">
            <a:off x="35385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sp>
        <p:nvSpPr>
          <p:cNvPr id="24" name="Diagram title">
            <a:extLst xmlns:a="http://schemas.openxmlformats.org/drawingml/2006/main">
              <a:ext uri="{FF2B5EF4-FFF2-40B4-BE49-F238E27FC236}">
                <a16:creationId xmlns:a16="http://schemas.microsoft.com/office/drawing/2014/main" id="{9D1E7027-8AB7-47F8-B2CD-D16DB48B3C11}"/>
              </a:ext>
            </a:extLst>
          </p:cNvPr>
          <p:cNvSpPr>
            <a:spLocks xmlns:a="http://schemas.openxmlformats.org/drawingml/2006/main" noGrp="1"/>
          </p:cNvSpPr>
          <p:nvPr/>
        </p:nvSpPr>
        <p:spPr>
          <a:xfrm xmlns:a="http://schemas.openxmlformats.org/drawingml/2006/main">
            <a:off x="609600" y="381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a:solidFill>
                  <a:srgbClr val="2E267C"/>
                </a:solidFill>
                <a:latin typeface="Georgia"/>
                <a:ea typeface="Georgia"/>
                <a:cs typeface="Georgia"/>
              </a:defRPr>
            </a:defPPr>
            <a:lvl1pPr algn="l">
              <a:defRPr sz="3450">
                <a:solidFill>
                  <a:srgbClr val="2E267C"/>
                </a:solidFill>
                <a:latin typeface="Georgia"/>
                <a:ea typeface="Georgia"/>
                <a:cs typeface="Georgia"/>
              </a:defRPr>
            </a:lvl1pPr>
            <a:lvl2pPr algn="l">
              <a:defRPr sz="3450">
                <a:solidFill>
                  <a:srgbClr val="2E267C"/>
                </a:solidFill>
                <a:latin typeface="Georgia"/>
                <a:ea typeface="Georgia"/>
                <a:cs typeface="Georgia"/>
              </a:defRPr>
            </a:lvl2pPr>
            <a:lvl3pPr algn="l">
              <a:defRPr sz="3450">
                <a:solidFill>
                  <a:srgbClr val="2E267C"/>
                </a:solidFill>
                <a:latin typeface="Georgia"/>
                <a:ea typeface="Georgia"/>
                <a:cs typeface="Georgia"/>
              </a:defRPr>
            </a:lvl3pPr>
            <a:lvl4pPr algn="l">
              <a:defRPr sz="3450">
                <a:solidFill>
                  <a:srgbClr val="2E267C"/>
                </a:solidFill>
                <a:latin typeface="Georgia"/>
                <a:ea typeface="Georgia"/>
                <a:cs typeface="Georgia"/>
              </a:defRPr>
            </a:lvl4pPr>
            <a:lvl5pPr algn="l">
              <a:defRPr sz="3450">
                <a:solidFill>
                  <a:srgbClr val="2E267C"/>
                </a:solidFill>
                <a:latin typeface="Georgia"/>
                <a:ea typeface="Georgia"/>
                <a:cs typeface="Georgia"/>
              </a:defRPr>
            </a:lvl5pPr>
            <a:lvl6pPr algn="l">
              <a:defRPr sz="3450">
                <a:solidFill>
                  <a:srgbClr val="2E267C"/>
                </a:solidFill>
                <a:latin typeface="Georgia"/>
                <a:ea typeface="Georgia"/>
                <a:cs typeface="Georgia"/>
              </a:defRPr>
            </a:lvl6pPr>
            <a:lvl7pPr algn="l">
              <a:defRPr sz="3450">
                <a:solidFill>
                  <a:srgbClr val="2E267C"/>
                </a:solidFill>
                <a:latin typeface="Georgia"/>
                <a:ea typeface="Georgia"/>
                <a:cs typeface="Georgia"/>
              </a:defRPr>
            </a:lvl7pPr>
            <a:lvl8pPr algn="l">
              <a:defRPr sz="3450">
                <a:solidFill>
                  <a:srgbClr val="2E267C"/>
                </a:solidFill>
                <a:latin typeface="Georgia"/>
                <a:ea typeface="Georgia"/>
                <a:cs typeface="Georgia"/>
              </a:defRPr>
            </a:lvl8pPr>
            <a:lvl9pPr algn="l">
              <a:defRPr sz="3450">
                <a:solidFill>
                  <a:srgbClr val="2E267C"/>
                </a:solidFill>
                <a:latin typeface="Georgia"/>
                <a:ea typeface="Georgia"/>
                <a:cs typeface="Georgia"/>
              </a:defRPr>
            </a:lvl9pPr>
          </a:lstStyle>
          <a:p xmlns:a="http://schemas.openxmlformats.org/drawingml/2006/main">
            <a:pPr algn="l">
              <a:defRPr sz="3450">
                <a:solidFill>
                  <a:srgbClr val="2E267C"/>
                </a:solidFill>
                <a:latin typeface="Georgia"/>
                <a:ea typeface="Georgia"/>
                <a:cs typeface="Georgia"/>
              </a:defRPr>
            </a:pPr>
            <a:r>
              <a:rPr sz="3450">
                <a:solidFill>
                  <a:srgbClr val="2E267C"/>
                </a:solidFill>
                <a:latin typeface="Georgia"/>
                <a:ea typeface="Georgia"/>
                <a:cs typeface="Georgia"/>
              </a:rPr>
              <a:t>Feedback from older learners</a:t>
            </a:r>
          </a:p>
        </p:txBody>
      </p:sp>
      <p:sp>
        <p:nvSpPr>
          <p:cNvPr id="2" name="Central topic">
            <a:extLst xmlns:a="http://schemas.openxmlformats.org/drawingml/2006/main">
              <a:ext uri="{FF2B5EF4-FFF2-40B4-BE49-F238E27FC236}">
                <a16:creationId xmlns:a16="http://schemas.microsoft.com/office/drawing/2014/main" id="{4493B180-12F5-470D-9DC5-285B377190AE}"/>
              </a:ext>
            </a:extLst>
          </p:cNvPr>
          <p:cNvSpPr>
            <a:spLocks xmlns:a="http://schemas.openxmlformats.org/drawingml/2006/main" noGrp="1"/>
          </p:cNvSpPr>
          <p:nvPr/>
        </p:nvSpPr>
        <p:spPr>
          <a:xfrm xmlns:a="http://schemas.openxmlformats.org/drawingml/2006/main">
            <a:off x="4838700" y="2609850"/>
            <a:ext cx="2514600" cy="1809750"/>
          </a:xfrm>
          <a:prstGeom xmlns:a="http://schemas.openxmlformats.org/drawingml/2006/main" prst="ellipse">
            <a:avLst/>
          </a:prstGeom>
          <a:solidFill xmlns:a="http://schemas.openxmlformats.org/drawingml/2006/main">
            <a:srgbClr val="E9E8FF"/>
          </a:solidFill>
          <a:ln xmlns:a="http://schemas.openxmlformats.org/drawingml/2006/main" w="16193">
            <a:solidFill>
              <a:srgbClr val="9D9CF4"/>
            </a:solidFill>
          </a:ln>
        </p:spPr>
        <p:txBody>
          <a:bodyPr xmlns:a="http://schemas.openxmlformats.org/drawingml/2006/main"/>
          <a:lstStyle xmlns:a="http://schemas.openxmlformats.org/drawingml/2006/main">
            <a:defPPr>
              <a:defRPr sz="2175">
                <a:latin typeface="Futura"/>
                <a:ea typeface="Futura"/>
                <a:cs typeface="Futura"/>
              </a:defRPr>
            </a:defPPr>
            <a:lvl1pPr>
              <a:defRPr sz="2175">
                <a:latin typeface="Futura"/>
                <a:ea typeface="Futura"/>
                <a:cs typeface="Futura"/>
              </a:defRPr>
            </a:lvl1pPr>
            <a:lvl2pPr>
              <a:defRPr sz="2175">
                <a:latin typeface="Futura"/>
                <a:ea typeface="Futura"/>
                <a:cs typeface="Futura"/>
              </a:defRPr>
            </a:lvl2pPr>
            <a:lvl3pPr>
              <a:defRPr sz="2175">
                <a:latin typeface="Futura"/>
                <a:ea typeface="Futura"/>
                <a:cs typeface="Futura"/>
              </a:defRPr>
            </a:lvl3pPr>
            <a:lvl4pPr>
              <a:defRPr sz="2175">
                <a:latin typeface="Futura"/>
                <a:ea typeface="Futura"/>
                <a:cs typeface="Futura"/>
              </a:defRPr>
            </a:lvl4pPr>
            <a:lvl5pPr>
              <a:defRPr sz="2175">
                <a:latin typeface="Futura"/>
                <a:ea typeface="Futura"/>
                <a:cs typeface="Futura"/>
              </a:defRPr>
            </a:lvl5pPr>
            <a:lvl6pPr>
              <a:defRPr sz="2175">
                <a:latin typeface="Futura"/>
                <a:ea typeface="Futura"/>
                <a:cs typeface="Futura"/>
              </a:defRPr>
            </a:lvl6pPr>
            <a:lvl7pPr>
              <a:defRPr sz="2175">
                <a:latin typeface="Futura"/>
                <a:ea typeface="Futura"/>
                <a:cs typeface="Futura"/>
              </a:defRPr>
            </a:lvl7pPr>
            <a:lvl8pPr>
              <a:defRPr sz="2175">
                <a:latin typeface="Futura"/>
                <a:ea typeface="Futura"/>
                <a:cs typeface="Futura"/>
              </a:defRPr>
            </a:lvl8pPr>
            <a:lvl9pPr>
              <a:defRPr sz="2175">
                <a:latin typeface="Futura"/>
                <a:ea typeface="Futura"/>
                <a:cs typeface="Futura"/>
              </a:defRPr>
            </a:lvl9pPr>
          </a:lstStyle>
          <a:p xmlns:a="http://schemas.openxmlformats.org/drawingml/2006/main"/>
        </p:txBody>
      </p:sp>
      <p:sp>
        <p:nvSpPr>
          <p:cNvPr id="3" name="Central topic text">
            <a:extLst xmlns:a="http://schemas.openxmlformats.org/drawingml/2006/main">
              <a:ext uri="{FF2B5EF4-FFF2-40B4-BE49-F238E27FC236}">
                <a16:creationId xmlns:a16="http://schemas.microsoft.com/office/drawing/2014/main" id="{D0FD8C44-2F43-48DB-8A18-FD0509E49024}"/>
              </a:ext>
            </a:extLst>
          </p:cNvPr>
          <p:cNvSpPr>
            <a:spLocks xmlns:a="http://schemas.openxmlformats.org/drawingml/2006/main" noGrp="1"/>
          </p:cNvSpPr>
          <p:nvPr/>
        </p:nvSpPr>
        <p:spPr>
          <a:xfrm xmlns:a="http://schemas.openxmlformats.org/drawingml/2006/main">
            <a:off x="5057775" y="3076575"/>
            <a:ext cx="2076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a:solidFill>
                  <a:srgbClr val="2E267C"/>
                </a:solidFill>
                <a:latin typeface="Georgia"/>
                <a:ea typeface="Georgia"/>
                <a:cs typeface="Georgia"/>
              </a:defRPr>
            </a:defPPr>
            <a:lvl1pPr algn="ctr">
              <a:defRPr sz="2175">
                <a:solidFill>
                  <a:srgbClr val="2E267C"/>
                </a:solidFill>
                <a:latin typeface="Georgia"/>
                <a:ea typeface="Georgia"/>
                <a:cs typeface="Georgia"/>
              </a:defRPr>
            </a:lvl1pPr>
            <a:lvl2pPr algn="ctr">
              <a:defRPr sz="2175">
                <a:solidFill>
                  <a:srgbClr val="2E267C"/>
                </a:solidFill>
                <a:latin typeface="Georgia"/>
                <a:ea typeface="Georgia"/>
                <a:cs typeface="Georgia"/>
              </a:defRPr>
            </a:lvl2pPr>
            <a:lvl3pPr algn="ctr">
              <a:defRPr sz="2175">
                <a:solidFill>
                  <a:srgbClr val="2E267C"/>
                </a:solidFill>
                <a:latin typeface="Georgia"/>
                <a:ea typeface="Georgia"/>
                <a:cs typeface="Georgia"/>
              </a:defRPr>
            </a:lvl3pPr>
            <a:lvl4pPr algn="ctr">
              <a:defRPr sz="2175">
                <a:solidFill>
                  <a:srgbClr val="2E267C"/>
                </a:solidFill>
                <a:latin typeface="Georgia"/>
                <a:ea typeface="Georgia"/>
                <a:cs typeface="Georgia"/>
              </a:defRPr>
            </a:lvl4pPr>
            <a:lvl5pPr algn="ctr">
              <a:defRPr sz="2175">
                <a:solidFill>
                  <a:srgbClr val="2E267C"/>
                </a:solidFill>
                <a:latin typeface="Georgia"/>
                <a:ea typeface="Georgia"/>
                <a:cs typeface="Georgia"/>
              </a:defRPr>
            </a:lvl5pPr>
            <a:lvl6pPr algn="ctr">
              <a:defRPr sz="2175">
                <a:solidFill>
                  <a:srgbClr val="2E267C"/>
                </a:solidFill>
                <a:latin typeface="Georgia"/>
                <a:ea typeface="Georgia"/>
                <a:cs typeface="Georgia"/>
              </a:defRPr>
            </a:lvl6pPr>
            <a:lvl7pPr algn="ctr">
              <a:defRPr sz="2175">
                <a:solidFill>
                  <a:srgbClr val="2E267C"/>
                </a:solidFill>
                <a:latin typeface="Georgia"/>
                <a:ea typeface="Georgia"/>
                <a:cs typeface="Georgia"/>
              </a:defRPr>
            </a:lvl7pPr>
            <a:lvl8pPr algn="ctr">
              <a:defRPr sz="2175">
                <a:solidFill>
                  <a:srgbClr val="2E267C"/>
                </a:solidFill>
                <a:latin typeface="Georgia"/>
                <a:ea typeface="Georgia"/>
                <a:cs typeface="Georgia"/>
              </a:defRPr>
            </a:lvl8pPr>
            <a:lvl9pPr algn="ctr">
              <a:defRPr sz="2175">
                <a:solidFill>
                  <a:srgbClr val="2E267C"/>
                </a:solidFill>
                <a:latin typeface="Georgia"/>
                <a:ea typeface="Georgia"/>
                <a:cs typeface="Georgia"/>
              </a:defRPr>
            </a:lvl9pPr>
          </a:lstStyle>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A handbook</a:t>
            </a:r>
          </a:p>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they can use</a:t>
            </a:r>
          </a:p>
        </p:txBody>
      </p:sp>
      <p:sp>
        <p:nvSpPr>
          <p:cNvPr id="4" name="Branch 1">
            <a:extLst xmlns:a="http://schemas.openxmlformats.org/drawingml/2006/main">
              <a:ext uri="{FF2B5EF4-FFF2-40B4-BE49-F238E27FC236}">
                <a16:creationId xmlns:a16="http://schemas.microsoft.com/office/drawing/2014/main" id="{538EE848-5CA7-4692-AADB-8FB90A9B6FD7}"/>
              </a:ext>
            </a:extLst>
          </p:cNvPr>
          <p:cNvSpPr>
            <a:spLocks xmlns:a="http://schemas.openxmlformats.org/drawingml/2006/main" noGrp="1"/>
          </p:cNvSpPr>
          <p:nvPr/>
        </p:nvSpPr>
        <p:spPr>
          <a:xfrm xmlns:a="http://schemas.openxmlformats.org/drawingml/2006/main">
            <a:off x="619125"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Easier to read</a:t>
            </a:r>
          </a:p>
        </p:txBody>
      </p:sp>
      <p:sp>
        <p:nvSpPr>
          <p:cNvPr id="6" name="Branch underline 1">
            <a:extLst xmlns:a="http://schemas.openxmlformats.org/drawingml/2006/main">
              <a:ext uri="{FF2B5EF4-FFF2-40B4-BE49-F238E27FC236}">
                <a16:creationId xmlns:a16="http://schemas.microsoft.com/office/drawing/2014/main" id="{808F1538-F658-45B5-A019-158B296A8230}"/>
              </a:ext>
            </a:extLst>
          </p:cNvPr>
          <p:cNvSpPr>
            <a:spLocks xmlns:a="http://schemas.openxmlformats.org/drawingml/2006/main" noGrp="1"/>
          </p:cNvSpPr>
          <p:nvPr/>
        </p:nvSpPr>
        <p:spPr>
          <a:xfrm xmlns:a="http://schemas.openxmlformats.org/drawingml/2006/main">
            <a:off x="619125" y="21050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7" name="Branch 1 detail 1">
            <a:extLst xmlns:a="http://schemas.openxmlformats.org/drawingml/2006/main">
              <a:ext uri="{FF2B5EF4-FFF2-40B4-BE49-F238E27FC236}">
                <a16:creationId xmlns:a16="http://schemas.microsoft.com/office/drawing/2014/main" id="{DEC34AB9-D52E-4D9B-8EE2-924A4E898C8F}"/>
              </a:ext>
            </a:extLst>
          </p:cNvPr>
          <p:cNvSpPr>
            <a:spLocks xmlns:a="http://schemas.openxmlformats.org/drawingml/2006/main" noGrp="1"/>
          </p:cNvSpPr>
          <p:nvPr/>
        </p:nvSpPr>
        <p:spPr>
          <a:xfrm xmlns:a="http://schemas.openxmlformats.org/drawingml/2006/main">
            <a:off x="619125"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Larger type</a:t>
            </a:r>
          </a:p>
        </p:txBody>
      </p:sp>
      <p:sp>
        <p:nvSpPr>
          <p:cNvPr id="8" name="Branch 1 detail 2">
            <a:extLst xmlns:a="http://schemas.openxmlformats.org/drawingml/2006/main">
              <a:ext uri="{FF2B5EF4-FFF2-40B4-BE49-F238E27FC236}">
                <a16:creationId xmlns:a16="http://schemas.microsoft.com/office/drawing/2014/main" id="{5E8C8732-3AFD-4B98-A4E5-5F629F88C6DC}"/>
              </a:ext>
            </a:extLst>
          </p:cNvPr>
          <p:cNvSpPr>
            <a:spLocks xmlns:a="http://schemas.openxmlformats.org/drawingml/2006/main" noGrp="1"/>
          </p:cNvSpPr>
          <p:nvPr/>
        </p:nvSpPr>
        <p:spPr>
          <a:xfrm xmlns:a="http://schemas.openxmlformats.org/drawingml/2006/main">
            <a:off x="619125"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More pictures, less text</a:t>
            </a:r>
          </a:p>
        </p:txBody>
      </p:sp>
      <p:sp>
        <p:nvSpPr>
          <p:cNvPr id="9" name="Branch 2">
            <a:extLst xmlns:a="http://schemas.openxmlformats.org/drawingml/2006/main">
              <a:ext uri="{FF2B5EF4-FFF2-40B4-BE49-F238E27FC236}">
                <a16:creationId xmlns:a16="http://schemas.microsoft.com/office/drawing/2014/main" id="{FC5B9002-7D46-4472-B3C6-94F4AE836394}"/>
              </a:ext>
            </a:extLst>
          </p:cNvPr>
          <p:cNvSpPr>
            <a:spLocks xmlns:a="http://schemas.openxmlformats.org/drawingml/2006/main" noGrp="1"/>
          </p:cNvSpPr>
          <p:nvPr/>
        </p:nvSpPr>
        <p:spPr>
          <a:xfrm xmlns:a="http://schemas.openxmlformats.org/drawingml/2006/main">
            <a:off x="8305800"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Room to write</a:t>
            </a:r>
          </a:p>
        </p:txBody>
      </p:sp>
      <p:sp>
        <p:nvSpPr>
          <p:cNvPr id="11" name="Branch underline 2">
            <a:extLst xmlns:a="http://schemas.openxmlformats.org/drawingml/2006/main">
              <a:ext uri="{FF2B5EF4-FFF2-40B4-BE49-F238E27FC236}">
                <a16:creationId xmlns:a16="http://schemas.microsoft.com/office/drawing/2014/main" id="{79444558-647A-4AA5-8EC9-5BE6858EB290}"/>
              </a:ext>
            </a:extLst>
          </p:cNvPr>
          <p:cNvSpPr>
            <a:spLocks xmlns:a="http://schemas.openxmlformats.org/drawingml/2006/main" noGrp="1"/>
          </p:cNvSpPr>
          <p:nvPr/>
        </p:nvSpPr>
        <p:spPr>
          <a:xfrm xmlns:a="http://schemas.openxmlformats.org/drawingml/2006/main">
            <a:off x="8305800" y="21050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2" name="Branch 2 detail 1">
            <a:extLst xmlns:a="http://schemas.openxmlformats.org/drawingml/2006/main">
              <a:ext uri="{FF2B5EF4-FFF2-40B4-BE49-F238E27FC236}">
                <a16:creationId xmlns:a16="http://schemas.microsoft.com/office/drawing/2014/main" id="{618FDFEE-6BE4-4F8E-8147-076318F0EE68}"/>
              </a:ext>
            </a:extLst>
          </p:cNvPr>
          <p:cNvSpPr>
            <a:spLocks xmlns:a="http://schemas.openxmlformats.org/drawingml/2006/main" noGrp="1"/>
          </p:cNvSpPr>
          <p:nvPr/>
        </p:nvSpPr>
        <p:spPr>
          <a:xfrm xmlns:a="http://schemas.openxmlformats.org/drawingml/2006/main">
            <a:off x="8305800"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Space for personal notes</a:t>
            </a:r>
          </a:p>
        </p:txBody>
      </p:sp>
      <p:sp>
        <p:nvSpPr>
          <p:cNvPr id="13" name="Branch 2 detail 2">
            <a:extLst xmlns:a="http://schemas.openxmlformats.org/drawingml/2006/main">
              <a:ext uri="{FF2B5EF4-FFF2-40B4-BE49-F238E27FC236}">
                <a16:creationId xmlns:a16="http://schemas.microsoft.com/office/drawing/2014/main" id="{4F37AFBB-AE49-4F47-ADC1-52EAF2C2384B}"/>
              </a:ext>
            </a:extLst>
          </p:cNvPr>
          <p:cNvSpPr>
            <a:spLocks xmlns:a="http://schemas.openxmlformats.org/drawingml/2006/main" noGrp="1"/>
          </p:cNvSpPr>
          <p:nvPr/>
        </p:nvSpPr>
        <p:spPr>
          <a:xfrm xmlns:a="http://schemas.openxmlformats.org/drawingml/2006/main">
            <a:off x="8305800"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Everyday health questions</a:t>
            </a:r>
          </a:p>
        </p:txBody>
      </p:sp>
      <p:sp>
        <p:nvSpPr>
          <p:cNvPr id="14" name="Branch 3">
            <a:extLst xmlns:a="http://schemas.openxmlformats.org/drawingml/2006/main">
              <a:ext uri="{FF2B5EF4-FFF2-40B4-BE49-F238E27FC236}">
                <a16:creationId xmlns:a16="http://schemas.microsoft.com/office/drawing/2014/main" id="{1B0F83D2-4829-4603-9F92-C7373D483132}"/>
              </a:ext>
            </a:extLst>
          </p:cNvPr>
          <p:cNvSpPr>
            <a:spLocks xmlns:a="http://schemas.openxmlformats.org/drawingml/2006/main" noGrp="1"/>
          </p:cNvSpPr>
          <p:nvPr/>
        </p:nvSpPr>
        <p:spPr>
          <a:xfrm xmlns:a="http://schemas.openxmlformats.org/drawingml/2006/main">
            <a:off x="619125"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Familiar formats</a:t>
            </a:r>
          </a:p>
        </p:txBody>
      </p:sp>
      <p:sp>
        <p:nvSpPr>
          <p:cNvPr id="16" name="Branch underline 3">
            <a:extLst xmlns:a="http://schemas.openxmlformats.org/drawingml/2006/main">
              <a:ext uri="{FF2B5EF4-FFF2-40B4-BE49-F238E27FC236}">
                <a16:creationId xmlns:a16="http://schemas.microsoft.com/office/drawing/2014/main" id="{53A7C8F6-E7B9-472F-80F1-7C19E0089D03}"/>
              </a:ext>
            </a:extLst>
          </p:cNvPr>
          <p:cNvSpPr>
            <a:spLocks xmlns:a="http://schemas.openxmlformats.org/drawingml/2006/main" noGrp="1"/>
          </p:cNvSpPr>
          <p:nvPr/>
        </p:nvSpPr>
        <p:spPr>
          <a:xfrm xmlns:a="http://schemas.openxmlformats.org/drawingml/2006/main">
            <a:off x="619125" y="49625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7" name="Branch 3 detail 1">
            <a:extLst xmlns:a="http://schemas.openxmlformats.org/drawingml/2006/main">
              <a:ext uri="{FF2B5EF4-FFF2-40B4-BE49-F238E27FC236}">
                <a16:creationId xmlns:a16="http://schemas.microsoft.com/office/drawing/2014/main" id="{4A2E6573-15F6-426A-8598-304202813CF1}"/>
              </a:ext>
            </a:extLst>
          </p:cNvPr>
          <p:cNvSpPr>
            <a:spLocks xmlns:a="http://schemas.openxmlformats.org/drawingml/2006/main" noGrp="1"/>
          </p:cNvSpPr>
          <p:nvPr/>
        </p:nvSpPr>
        <p:spPr>
          <a:xfrm xmlns:a="http://schemas.openxmlformats.org/drawingml/2006/main">
            <a:off x="619125"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Short videos on familiar apps</a:t>
            </a:r>
          </a:p>
        </p:txBody>
      </p:sp>
      <p:sp>
        <p:nvSpPr>
          <p:cNvPr id="18" name="Branch 3 detail 2">
            <a:extLst xmlns:a="http://schemas.openxmlformats.org/drawingml/2006/main">
              <a:ext uri="{FF2B5EF4-FFF2-40B4-BE49-F238E27FC236}">
                <a16:creationId xmlns:a16="http://schemas.microsoft.com/office/drawing/2014/main" id="{BE5F5F4B-CBC0-4E51-AA0B-7D1F29326F70}"/>
              </a:ext>
            </a:extLst>
          </p:cNvPr>
          <p:cNvSpPr>
            <a:spLocks xmlns:a="http://schemas.openxmlformats.org/drawingml/2006/main" noGrp="1"/>
          </p:cNvSpPr>
          <p:nvPr/>
        </p:nvSpPr>
        <p:spPr>
          <a:xfrm xmlns:a="http://schemas.openxmlformats.org/drawingml/2006/main">
            <a:off x="619125"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Voice interaction for AI tools</a:t>
            </a:r>
          </a:p>
        </p:txBody>
      </p:sp>
      <p:sp>
        <p:nvSpPr>
          <p:cNvPr id="19" name="Branch 4">
            <a:extLst xmlns:a="http://schemas.openxmlformats.org/drawingml/2006/main">
              <a:ext uri="{FF2B5EF4-FFF2-40B4-BE49-F238E27FC236}">
                <a16:creationId xmlns:a16="http://schemas.microsoft.com/office/drawing/2014/main" id="{7BF8559B-78CA-4588-BBB7-88915FFF107C}"/>
              </a:ext>
            </a:extLst>
          </p:cNvPr>
          <p:cNvSpPr>
            <a:spLocks xmlns:a="http://schemas.openxmlformats.org/drawingml/2006/main" noGrp="1"/>
          </p:cNvSpPr>
          <p:nvPr/>
        </p:nvSpPr>
        <p:spPr>
          <a:xfrm xmlns:a="http://schemas.openxmlformats.org/drawingml/2006/main">
            <a:off x="8305800"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Affordable to produce</a:t>
            </a:r>
          </a:p>
        </p:txBody>
      </p:sp>
      <p:sp>
        <p:nvSpPr>
          <p:cNvPr id="21" name="Branch underline 4">
            <a:extLst xmlns:a="http://schemas.openxmlformats.org/drawingml/2006/main">
              <a:ext uri="{FF2B5EF4-FFF2-40B4-BE49-F238E27FC236}">
                <a16:creationId xmlns:a16="http://schemas.microsoft.com/office/drawing/2014/main" id="{09558ADF-23D8-4696-B15E-54F0FEFF8ACE}"/>
              </a:ext>
            </a:extLst>
          </p:cNvPr>
          <p:cNvSpPr>
            <a:spLocks xmlns:a="http://schemas.openxmlformats.org/drawingml/2006/main" noGrp="1"/>
          </p:cNvSpPr>
          <p:nvPr/>
        </p:nvSpPr>
        <p:spPr>
          <a:xfrm xmlns:a="http://schemas.openxmlformats.org/drawingml/2006/main">
            <a:off x="8305800" y="49625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22" name="Branch 4 detail 1">
            <a:extLst xmlns:a="http://schemas.openxmlformats.org/drawingml/2006/main">
              <a:ext uri="{FF2B5EF4-FFF2-40B4-BE49-F238E27FC236}">
                <a16:creationId xmlns:a16="http://schemas.microsoft.com/office/drawing/2014/main" id="{5B2480DE-043D-4BCB-A43D-12B27CC2329D}"/>
              </a:ext>
            </a:extLst>
          </p:cNvPr>
          <p:cNvSpPr>
            <a:spLocks xmlns:a="http://schemas.openxmlformats.org/drawingml/2006/main" noGrp="1"/>
          </p:cNvSpPr>
          <p:nvPr/>
        </p:nvSpPr>
        <p:spPr>
          <a:xfrm xmlns:a="http://schemas.openxmlformats.org/drawingml/2006/main">
            <a:off x="8305800"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First edition over budget</a:t>
            </a:r>
          </a:p>
        </p:txBody>
      </p:sp>
      <p:sp>
        <p:nvSpPr>
          <p:cNvPr id="23" name="Branch 4 detail 2">
            <a:extLst xmlns:a="http://schemas.openxmlformats.org/drawingml/2006/main">
              <a:ext uri="{FF2B5EF4-FFF2-40B4-BE49-F238E27FC236}">
                <a16:creationId xmlns:a16="http://schemas.microsoft.com/office/drawing/2014/main" id="{E743BE8C-834B-4A10-B5E6-7C96BE54AB47}"/>
              </a:ext>
            </a:extLst>
          </p:cNvPr>
          <p:cNvSpPr>
            <a:spLocks xmlns:a="http://schemas.openxmlformats.org/drawingml/2006/main" noGrp="1"/>
          </p:cNvSpPr>
          <p:nvPr/>
        </p:nvSpPr>
        <p:spPr>
          <a:xfrm xmlns:a="http://schemas.openxmlformats.org/drawingml/2006/main">
            <a:off x="8305800"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Simpler illustrated pages</a:t>
            </a:r>
          </a:p>
        </p:txBody>
      </p:sp>
    </p:spTree>
    <p:extLst>
      <p:ext uri="{BB962C8B-B14F-4D97-AF65-F5344CB8AC3E}">
        <p14:creationId xmlns:p14="http://schemas.microsoft.com/office/powerpoint/2010/main" val="1645229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2026-10-18T20:40:14.3610000Z</dcterms:created>
  <dcterms:modified xsi:type="dcterms:W3CDTF">2026-10-18T20:40:14.3610000Z</dcterms:modified>
</coreProperties>
</file>